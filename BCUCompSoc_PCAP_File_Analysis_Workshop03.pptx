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9ba52d4-dc45-5ad1-78e6-8fa953f70bd7}">
          <p14:sldIdLst>
            <p14:sldId id="256"/>
          </p14:sldIdLst>
        </p14:section>
        <p14:section name="Outcomes" id="{a18fc269-8cc7-5745-9153-0bece99aa704}">
          <p14:sldIdLst>
            <p14:sldId id="257"/>
          </p14:sldIdLst>
        </p14:section>
        <p14:section name="Preparation" id="{9b1c7a2f-0bf8-b5b1-62ab-25fdc7aac3ae}">
          <p14:sldIdLst>
            <p14:sldId id="258"/>
            <p14:sldId id="259"/>
          </p14:sldIdLst>
        </p14:section>
        <p14:section name="Build" id="{38895725-f300-d7c3-5287-83ffc1e66d91}">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Workshop 03. Last time we read a capture by hand in Wireshark; today we build a tool that does the reading for us and shows the results on a web dashboard. You can work in a group or on your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scenario. Two learning outcomes: build the tool (about an hour) and keep improving it as a team with GitHub (about 45 minutes). Extra credit for anyone who merges in their Workshop 1 recon scanner. Everything you need is in the workshop guide linked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needs a GitHub account; a school email gets the Student Developer Pack with free Codespaces hours. We recommend the browser route: nothing to install, and Codespaces already includes Git and Python. If you prefer your own machine, the command line route is fully written up in the guide (install Git and Python, set your name and email, add an SSH key). The code is the same either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person, the organiser, sets up the group repo entirely on the GitHub website: new repository, upload the workshop files, then invite the team from Settings, Collaborators. Teammates accept the invite and open a Codespace. Then agree who builds which file. Seven jobs: five detectors, the analyzer that joins them, and the web page. If everyone sticks to their own file, Git never has a conflict.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whole tool in one line: upload a capture, the ready-made reader turns it into packets, your five detectors look for threats, the analyzer joins them and scores the risk, and the web page shows it all. The web page can be built straight away because it uses demo data until the analyzer works. Test often with check.py, share with Commit and Sync Changes in Codespaces. You're done when check.py is all OK and attack-demo.pcap shows 8 alerts with a risk score of 100. Good luck, and have fun!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CU Title">
    <p:bg>
      <p:bgPr>
        <a:solidFill>
          <a:srgbClr val="0A1222"/>
        </a:solidFill>
      </p:bgPr>
    </p:bg>
    <p:spTree>
      <p:nvGrpSpPr>
        <p:cNvPr id="1" name=""/>
        <p:cNvGrpSpPr/>
        <p:nvPr/>
      </p:nvGrpSpPr>
      <p:grpSpPr>
        <a:xfrm>
          <a:off x="0" y="0"/>
          <a:ext cx="0" cy="0"/>
          <a:chOff x="0" y="0"/>
          <a:chExt cx="0" cy="0"/>
        </a:xfrm>
      </p:grpSpPr>
      <p:pic>
        <p:nvPicPr>
          <p:cNvPr id="2" name="Image 0" descr="/tmp/claude-0/-home-claude/9dae9694-6885-51b0-b2fa-cfe8a25a1d9c/scratchpad/deck/logo.png">    </p:cNvPr>
          <p:cNvPicPr>
            <a:picLocks noChangeAspect="1"/>
          </p:cNvPicPr>
          <p:nvPr/>
        </p:nvPicPr>
        <p:blipFill>
          <a:blip r:embed="rId1"/>
          <a:stretch>
            <a:fillRect/>
          </a:stretch>
        </p:blipFill>
        <p:spPr>
          <a:xfrm>
            <a:off x="548640" y="502920"/>
            <a:ext cx="2450592" cy="6400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CU Content">
    <p:bg>
      <p:bgPr>
        <a:solidFill>
          <a:srgbClr val="0A1222"/>
        </a:solidFill>
      </p:bgPr>
    </p:bg>
    <p:spTree>
      <p:nvGrpSpPr>
        <p:cNvPr id="1" name=""/>
        <p:cNvGrpSpPr/>
        <p:nvPr/>
      </p:nvGrpSpPr>
      <p:grpSpPr>
        <a:xfrm>
          <a:off x="0" y="0"/>
          <a:ext cx="0" cy="0"/>
          <a:chOff x="0" y="0"/>
          <a:chExt cx="0" cy="0"/>
        </a:xfrm>
      </p:grpSpPr>
      <p:pic>
        <p:nvPicPr>
          <p:cNvPr id="2" name="Image 0" descr="/tmp/claude-0/-home-claude/9dae9694-6885-51b0-b2fa-cfe8a25a1d9c/scratchpad/deck/logo.png">    </p:cNvPr>
          <p:cNvPicPr>
            <a:picLocks noChangeAspect="1"/>
          </p:cNvPicPr>
          <p:nvPr/>
        </p:nvPicPr>
        <p:blipFill>
          <a:blip r:embed="rId1"/>
          <a:stretch>
            <a:fillRect/>
          </a:stretch>
        </p:blipFill>
        <p:spPr>
          <a:xfrm>
            <a:off x="10170871" y="384048"/>
            <a:ext cx="1472184" cy="384048"/>
          </a:xfrm>
          <a:prstGeom prst="rect">
            <a:avLst/>
          </a:prstGeom>
        </p:spPr>
      </p:pic>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bg2"/>
                </a:solidFill>
                <a:latin typeface="Calibri" pitchFamily="34" charset="0"/>
                <a:ea typeface="Calibri" pitchFamily="34" charset="-122"/>
                <a:cs typeface="Calibri" pitchFamily="34" charset="-120"/>
              </a:rPr>
              <a:t>BCUCompSoc  ·  Cybersecurity Workshop 03  ·  PCAP File Analysis</a:t>
            </a:r>
            <a:endParaRPr lang="en-US" sz="1000" dirty="0"/>
          </a:p>
        </p:txBody>
      </p:sp>
      <p:sp>
        <p:nvSpPr>
          <p:cNvPr id="4" name="Text 1"/>
          <p:cNvSpPr/>
          <p:nvPr>
            <p:ph idx="102" type="title" hasCustomPrompt="1"/>
          </p:nvPr>
        </p:nvSpPr>
        <p:spPr>
          <a:xfrm>
            <a:off x="548640" y="658368"/>
            <a:ext cx="9418320" cy="685800"/>
          </a:xfrm>
          <a:prstGeom prst="rect">
            <a:avLst/>
          </a:prstGeom>
          <a:noFill/>
          <a:ln/>
        </p:spPr>
        <p:txBody>
          <a:bodyPr wrap="square" rtlCol="0"/>
          <a:lstStyle>
            <a:lvl1pPr algn="l" indent="0" marL="0">
              <a:buNone/>
              <a:defRPr lang="en-US" sz="3400" b="1" dirty="0">
                <a:solidFill>
                  <a:schemeClr val="bg1"/>
                </a:solidFill>
                <a:latin typeface="Calibri" pitchFamily="34" charset="0"/>
                <a:ea typeface="Calibri" pitchFamily="34" charset="-122"/>
                <a:cs typeface="Calibri"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latin typeface="Courier New"/>
                <a:ea typeface="Courier New"/>
                <a:cs typeface="Courier New"/>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latin typeface="Courier New"/>
                <a:ea typeface="Courier New"/>
                <a:cs typeface="Courier New"/>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6" Type="http://schemas.openxmlformats.org/officeDocument/2006/relationships/hyperlink" Target="https://github.com/DEEFIBAO/Workshop-3---PCAP-file-analysis/blob/main/README.md" TargetMode="External"/><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5" Type="http://schemas.openxmlformats.org/officeDocument/2006/relationships/hyperlink" Target="https://github.com/DEEFIBAO/Workshop-3---PCAP-file-analysis/blob/main/README.md" TargetMode="External"/><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600200"/>
            <a:ext cx="6217920" cy="32004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CYBERSECURITY WORKSHOP SERIES  ·  03</a:t>
            </a:r>
            <a:endParaRPr lang="en-US" sz="1400" dirty="0"/>
          </a:p>
        </p:txBody>
      </p:sp>
      <p:sp>
        <p:nvSpPr>
          <p:cNvPr id="3" name="Deck title"/>
          <p:cNvSpPr txBox="1"/>
          <p:nvPr/>
        </p:nvSpPr>
        <p:spPr>
          <a:xfrm>
            <a:off x="548640" y="2011680"/>
            <a:ext cx="6583680" cy="914400"/>
          </a:xfrm>
          <a:prstGeom prst="rect">
            <a:avLst/>
          </a:prstGeom>
          <a:noFill/>
          <a:ln/>
        </p:spPr>
        <p:txBody>
          <a:bodyPr wrap="square" lIns="0" tIns="0" rIns="0" bIns="0" rtlCol="0" anchor="t"/>
          <a:lstStyle/>
          <a:p>
            <a:pPr indent="0" marL="0">
              <a:buNone/>
            </a:pPr>
            <a:r>
              <a:rPr lang="en-US" sz="5200" b="1" dirty="0">
                <a:solidFill>
                  <a:schemeClr val="bg1"/>
                </a:solidFill>
              </a:rPr>
              <a:t>PCAP File Analysis</a:t>
            </a:r>
            <a:endParaRPr lang="en-US" sz="5200" dirty="0"/>
          </a:p>
        </p:txBody>
      </p:sp>
      <p:sp>
        <p:nvSpPr>
          <p:cNvPr id="4" name="Text 2"/>
          <p:cNvSpPr txBox="1"/>
          <p:nvPr/>
        </p:nvSpPr>
        <p:spPr>
          <a:xfrm>
            <a:off x="548640" y="3017520"/>
            <a:ext cx="6035040" cy="868680"/>
          </a:xfrm>
          <a:prstGeom prst="rect">
            <a:avLst/>
          </a:prstGeom>
          <a:noFill/>
          <a:ln/>
        </p:spPr>
        <p:txBody>
          <a:bodyPr wrap="square" lIns="0" tIns="0" rIns="0" bIns="0" rtlCol="0" anchor="t"/>
          <a:lstStyle/>
          <a:p>
            <a:pPr indent="0" marL="0">
              <a:buNone/>
            </a:pPr>
            <a:r>
              <a:rPr lang="en-US" sz="2000" dirty="0">
                <a:solidFill>
                  <a:schemeClr val="bg2"/>
                </a:solidFill>
              </a:rPr>
              <a:t>Build a tool that reads packet captures, finds the attacks and shows them on a web dashboard</a:t>
            </a:r>
            <a:endParaRPr lang="en-US" sz="2000" dirty="0"/>
          </a:p>
        </p:txBody>
      </p:sp>
      <p:sp>
        <p:nvSpPr>
          <p:cNvPr id="5" name="Presenter"/>
          <p:cNvSpPr/>
          <p:nvPr/>
        </p:nvSpPr>
        <p:spPr>
          <a:xfrm>
            <a:off x="548640" y="4343400"/>
            <a:ext cx="4206240" cy="1051560"/>
          </a:xfrm>
          <a:prstGeom prst="roundRect">
            <a:avLst>
              <a:gd name="adj" fmla="val 6957"/>
            </a:avLst>
          </a:prstGeom>
          <a:solidFill>
            <a:schemeClr val="tx2"/>
          </a:solidFill>
          <a:ln w="12700">
            <a:solidFill>
              <a:schemeClr val="accent3"/>
            </a:solidFill>
            <a:prstDash val="solid"/>
          </a:ln>
        </p:spPr>
      </p:sp>
      <p:sp>
        <p:nvSpPr>
          <p:cNvPr id="6" name="Text 4"/>
          <p:cNvSpPr txBox="1"/>
          <p:nvPr/>
        </p:nvSpPr>
        <p:spPr>
          <a:xfrm>
            <a:off x="822960" y="4498848"/>
            <a:ext cx="2743200" cy="274320"/>
          </a:xfrm>
          <a:prstGeom prst="rect">
            <a:avLst/>
          </a:prstGeom>
          <a:noFill/>
          <a:ln/>
        </p:spPr>
        <p:txBody>
          <a:bodyPr wrap="square" lIns="0" tIns="0" rIns="0" bIns="0" rtlCol="0" anchor="t"/>
          <a:lstStyle/>
          <a:p>
            <a:pPr indent="0" marL="0">
              <a:buNone/>
            </a:pPr>
            <a:r>
              <a:rPr lang="en-US" sz="1200" b="1" dirty="0">
                <a:solidFill>
                  <a:schemeClr val="accent2"/>
                </a:solidFill>
                <a:latin typeface="Courier New" pitchFamily="34" charset="0"/>
                <a:ea typeface="Courier New" pitchFamily="34" charset="-122"/>
                <a:cs typeface="Courier New" pitchFamily="34" charset="-120"/>
              </a:rPr>
              <a:t>LED BY</a:t>
            </a:r>
            <a:endParaRPr lang="en-US" sz="1200" dirty="0"/>
          </a:p>
        </p:txBody>
      </p:sp>
      <p:sp>
        <p:nvSpPr>
          <p:cNvPr id="7" name="Text 5"/>
          <p:cNvSpPr txBox="1"/>
          <p:nvPr/>
        </p:nvSpPr>
        <p:spPr>
          <a:xfrm>
            <a:off x="822960" y="4800600"/>
            <a:ext cx="3749040" cy="411480"/>
          </a:xfrm>
          <a:prstGeom prst="rect">
            <a:avLst/>
          </a:prstGeom>
          <a:noFill/>
          <a:ln/>
        </p:spPr>
        <p:txBody>
          <a:bodyPr wrap="square" lIns="0" tIns="0" rIns="0" bIns="0" rtlCol="0" anchor="t"/>
          <a:lstStyle/>
          <a:p>
            <a:pPr indent="0" marL="0">
              <a:buNone/>
            </a:pPr>
            <a:r>
              <a:rPr lang="en-US" sz="2200" b="1" dirty="0">
                <a:solidFill>
                  <a:schemeClr val="bg1"/>
                </a:solidFill>
              </a:rPr>
              <a:t>Daeron W  ·  BCUSCA</a:t>
            </a:r>
            <a:endParaRPr lang="en-US" sz="2200" dirty="0"/>
          </a:p>
        </p:txBody>
      </p:sp>
      <p:sp>
        <p:nvSpPr>
          <p:cNvPr id="8" name="Tag Collaborative or solo"/>
          <p:cNvSpPr/>
          <p:nvPr/>
        </p:nvSpPr>
        <p:spPr>
          <a:xfrm>
            <a:off x="4983480" y="4617720"/>
            <a:ext cx="2194560" cy="502920"/>
          </a:xfrm>
          <a:prstGeom prst="roundRect">
            <a:avLst>
              <a:gd name="adj" fmla="val 14545"/>
            </a:avLst>
          </a:prstGeom>
          <a:solidFill>
            <a:schemeClr val="accent3"/>
          </a:solidFill>
          <a:ln w="12700">
            <a:solidFill>
              <a:schemeClr val="accent3"/>
            </a:solidFill>
            <a:prstDash val="solid"/>
          </a:ln>
        </p:spPr>
      </p:sp>
      <p:sp>
        <p:nvSpPr>
          <p:cNvPr id="9" name="Text 7"/>
          <p:cNvSpPr txBox="1"/>
          <p:nvPr/>
        </p:nvSpPr>
        <p:spPr>
          <a:xfrm>
            <a:off x="4983480" y="4617720"/>
            <a:ext cx="2194560" cy="502920"/>
          </a:xfrm>
          <a:prstGeom prst="rect">
            <a:avLst/>
          </a:prstGeom>
          <a:noFill/>
          <a:ln/>
        </p:spPr>
        <p:txBody>
          <a:bodyPr wrap="square" lIns="0" tIns="0" rIns="0" bIns="0" rtlCol="0" anchor="ctr"/>
          <a:lstStyle/>
          <a:p>
            <a:pPr algn="ctr" indent="0" marL="0">
              <a:buNone/>
            </a:pPr>
            <a:r>
              <a:rPr lang="en-US" sz="1400" dirty="0">
                <a:solidFill>
                  <a:schemeClr val="bg1"/>
                </a:solidFill>
              </a:rPr>
              <a:t>Collaborative or solo</a:t>
            </a:r>
            <a:endParaRPr lang="en-US" sz="1400" dirty="0"/>
          </a:p>
        </p:txBody>
      </p:sp>
      <p:sp>
        <p:nvSpPr>
          <p:cNvPr id="10" name="Shape 8"/>
          <p:cNvSpPr/>
          <p:nvPr/>
        </p:nvSpPr>
        <p:spPr>
          <a:xfrm>
            <a:off x="8503920" y="914400"/>
            <a:ext cx="1005840" cy="1005840"/>
          </a:xfrm>
          <a:prstGeom prst="ellipse">
            <a:avLst/>
          </a:prstGeom>
          <a:solidFill>
            <a:schemeClr val="accent1"/>
          </a:solidFill>
          <a:ln w="12700">
            <a:solidFill>
              <a:schemeClr val="accent1"/>
            </a:solidFill>
            <a:prstDash val="solid"/>
          </a:ln>
        </p:spPr>
      </p:sp>
      <p:pic>
        <p:nvPicPr>
          <p:cNvPr id="11" name="Image 0" descr="preencoded.png">    </p:cNvPr>
          <p:cNvPicPr>
            <a:picLocks noChangeAspect="1"/>
          </p:cNvPicPr>
          <p:nvPr/>
        </p:nvPicPr>
        <p:blipFill>
          <a:blip r:embed="rId1"/>
          <a:stretch>
            <a:fillRect/>
          </a:stretch>
        </p:blipFill>
        <p:spPr>
          <a:xfrm>
            <a:off x="8775497" y="1185977"/>
            <a:ext cx="462686" cy="462686"/>
          </a:xfrm>
          <a:prstGeom prst="rect">
            <a:avLst/>
          </a:prstGeom>
        </p:spPr>
      </p:pic>
      <p:sp>
        <p:nvSpPr>
          <p:cNvPr id="12" name="Text 9"/>
          <p:cNvSpPr txBox="1"/>
          <p:nvPr/>
        </p:nvSpPr>
        <p:spPr>
          <a:xfrm>
            <a:off x="9738360" y="1078992"/>
            <a:ext cx="2560320" cy="384048"/>
          </a:xfrm>
          <a:prstGeom prst="rect">
            <a:avLst/>
          </a:prstGeom>
          <a:noFill/>
          <a:ln/>
        </p:spPr>
        <p:txBody>
          <a:bodyPr wrap="square" lIns="0" tIns="0" rIns="0" bIns="0" rtlCol="0" anchor="t"/>
          <a:lstStyle/>
          <a:p>
            <a:pPr indent="0" marL="0">
              <a:buNone/>
            </a:pPr>
            <a:r>
              <a:rPr lang="en-US" sz="1900" b="1" dirty="0">
                <a:solidFill>
                  <a:schemeClr val="bg1"/>
                </a:solidFill>
              </a:rPr>
              <a:t>.pcap capture</a:t>
            </a:r>
            <a:endParaRPr lang="en-US" sz="1900" dirty="0"/>
          </a:p>
        </p:txBody>
      </p:sp>
      <p:sp>
        <p:nvSpPr>
          <p:cNvPr id="13" name="Text 10"/>
          <p:cNvSpPr txBox="1"/>
          <p:nvPr/>
        </p:nvSpPr>
        <p:spPr>
          <a:xfrm>
            <a:off x="9738360" y="1463040"/>
            <a:ext cx="2560320" cy="320040"/>
          </a:xfrm>
          <a:prstGeom prst="rect">
            <a:avLst/>
          </a:prstGeom>
          <a:noFill/>
          <a:ln/>
        </p:spPr>
        <p:txBody>
          <a:bodyPr wrap="square" lIns="0" tIns="0" rIns="0" bIns="0" rtlCol="0" anchor="t"/>
          <a:lstStyle/>
          <a:p>
            <a:pPr indent="0" marL="0">
              <a:buNone/>
            </a:pPr>
            <a:r>
              <a:rPr lang="en-US" sz="1500" dirty="0">
                <a:solidFill>
                  <a:schemeClr val="bg2"/>
                </a:solidFill>
              </a:rPr>
              <a:t>Network traffic in</a:t>
            </a:r>
            <a:endParaRPr lang="en-US" sz="1500" dirty="0"/>
          </a:p>
        </p:txBody>
      </p:sp>
      <p:sp>
        <p:nvSpPr>
          <p:cNvPr id="14" name="Shape 11"/>
          <p:cNvSpPr/>
          <p:nvPr/>
        </p:nvSpPr>
        <p:spPr>
          <a:xfrm>
            <a:off x="9006840" y="2011680"/>
            <a:ext cx="0" cy="411480"/>
          </a:xfrm>
          <a:prstGeom prst="line">
            <a:avLst/>
          </a:prstGeom>
          <a:noFill/>
          <a:ln w="19050">
            <a:solidFill>
              <a:schemeClr val="bg2"/>
            </a:solidFill>
            <a:prstDash val="dash"/>
            <a:tailEnd type="triangle"/>
          </a:ln>
        </p:spPr>
      </p:sp>
      <p:sp>
        <p:nvSpPr>
          <p:cNvPr id="15" name="Shape 12"/>
          <p:cNvSpPr/>
          <p:nvPr/>
        </p:nvSpPr>
        <p:spPr>
          <a:xfrm>
            <a:off x="8503920" y="2514600"/>
            <a:ext cx="1005840" cy="1005840"/>
          </a:xfrm>
          <a:prstGeom prst="ellipse">
            <a:avLst/>
          </a:prstGeom>
          <a:solidFill>
            <a:schemeClr val="accent1"/>
          </a:solidFill>
          <a:ln w="12700">
            <a:solidFill>
              <a:schemeClr val="accent1"/>
            </a:solidFill>
            <a:prstDash val="solid"/>
          </a:ln>
        </p:spPr>
      </p:sp>
      <p:pic>
        <p:nvPicPr>
          <p:cNvPr id="16" name="Image 1" descr="preencoded.png">    </p:cNvPr>
          <p:cNvPicPr>
            <a:picLocks noChangeAspect="1"/>
          </p:cNvPicPr>
          <p:nvPr/>
        </p:nvPicPr>
        <p:blipFill>
          <a:blip r:embed="rId2"/>
          <a:stretch>
            <a:fillRect/>
          </a:stretch>
        </p:blipFill>
        <p:spPr>
          <a:xfrm>
            <a:off x="8775497" y="2786177"/>
            <a:ext cx="462686" cy="462686"/>
          </a:xfrm>
          <a:prstGeom prst="rect">
            <a:avLst/>
          </a:prstGeom>
        </p:spPr>
      </p:pic>
      <p:sp>
        <p:nvSpPr>
          <p:cNvPr id="17" name="Text 13"/>
          <p:cNvSpPr txBox="1"/>
          <p:nvPr/>
        </p:nvSpPr>
        <p:spPr>
          <a:xfrm>
            <a:off x="9738360" y="2679192"/>
            <a:ext cx="2560320" cy="384048"/>
          </a:xfrm>
          <a:prstGeom prst="rect">
            <a:avLst/>
          </a:prstGeom>
          <a:noFill/>
          <a:ln/>
        </p:spPr>
        <p:txBody>
          <a:bodyPr wrap="square" lIns="0" tIns="0" rIns="0" bIns="0" rtlCol="0" anchor="t"/>
          <a:lstStyle/>
          <a:p>
            <a:pPr indent="0" marL="0">
              <a:buNone/>
            </a:pPr>
            <a:r>
              <a:rPr lang="en-US" sz="1900" b="1" dirty="0">
                <a:solidFill>
                  <a:schemeClr val="bg1"/>
                </a:solidFill>
              </a:rPr>
              <a:t>Python detectors</a:t>
            </a:r>
            <a:endParaRPr lang="en-US" sz="1900" dirty="0"/>
          </a:p>
        </p:txBody>
      </p:sp>
      <p:sp>
        <p:nvSpPr>
          <p:cNvPr id="18" name="Text 14"/>
          <p:cNvSpPr txBox="1"/>
          <p:nvPr/>
        </p:nvSpPr>
        <p:spPr>
          <a:xfrm>
            <a:off x="9738360" y="3063240"/>
            <a:ext cx="2560320" cy="320040"/>
          </a:xfrm>
          <a:prstGeom prst="rect">
            <a:avLst/>
          </a:prstGeom>
          <a:noFill/>
          <a:ln/>
        </p:spPr>
        <p:txBody>
          <a:bodyPr wrap="square" lIns="0" tIns="0" rIns="0" bIns="0" rtlCol="0" anchor="t"/>
          <a:lstStyle/>
          <a:p>
            <a:pPr indent="0" marL="0">
              <a:buNone/>
            </a:pPr>
            <a:r>
              <a:rPr lang="en-US" sz="1500" dirty="0">
                <a:solidFill>
                  <a:schemeClr val="bg2"/>
                </a:solidFill>
              </a:rPr>
              <a:t>Spot the threats</a:t>
            </a:r>
            <a:endParaRPr lang="en-US" sz="1500" dirty="0"/>
          </a:p>
        </p:txBody>
      </p:sp>
      <p:sp>
        <p:nvSpPr>
          <p:cNvPr id="19" name="Shape 15"/>
          <p:cNvSpPr/>
          <p:nvPr/>
        </p:nvSpPr>
        <p:spPr>
          <a:xfrm>
            <a:off x="9006840" y="3611880"/>
            <a:ext cx="0" cy="411480"/>
          </a:xfrm>
          <a:prstGeom prst="line">
            <a:avLst/>
          </a:prstGeom>
          <a:noFill/>
          <a:ln w="19050">
            <a:solidFill>
              <a:schemeClr val="bg2"/>
            </a:solidFill>
            <a:prstDash val="dash"/>
            <a:tailEnd type="triangle"/>
          </a:ln>
        </p:spPr>
      </p:sp>
      <p:sp>
        <p:nvSpPr>
          <p:cNvPr id="20" name="Shape 16"/>
          <p:cNvSpPr/>
          <p:nvPr/>
        </p:nvSpPr>
        <p:spPr>
          <a:xfrm>
            <a:off x="8503920" y="4114800"/>
            <a:ext cx="1005840" cy="1005840"/>
          </a:xfrm>
          <a:prstGeom prst="ellipse">
            <a:avLst/>
          </a:prstGeom>
          <a:solidFill>
            <a:schemeClr val="accent2"/>
          </a:solidFill>
          <a:ln w="12700">
            <a:solidFill>
              <a:schemeClr val="accent2"/>
            </a:solidFill>
            <a:prstDash val="solid"/>
          </a:ln>
        </p:spPr>
      </p:sp>
      <p:pic>
        <p:nvPicPr>
          <p:cNvPr id="21" name="Image 2" descr="preencoded.png">    </p:cNvPr>
          <p:cNvPicPr>
            <a:picLocks noChangeAspect="1"/>
          </p:cNvPicPr>
          <p:nvPr/>
        </p:nvPicPr>
        <p:blipFill>
          <a:blip r:embed="rId3"/>
          <a:stretch>
            <a:fillRect/>
          </a:stretch>
        </p:blipFill>
        <p:spPr>
          <a:xfrm>
            <a:off x="8775497" y="4386377"/>
            <a:ext cx="462686" cy="462686"/>
          </a:xfrm>
          <a:prstGeom prst="rect">
            <a:avLst/>
          </a:prstGeom>
        </p:spPr>
      </p:pic>
      <p:sp>
        <p:nvSpPr>
          <p:cNvPr id="22" name="Text 17"/>
          <p:cNvSpPr txBox="1"/>
          <p:nvPr/>
        </p:nvSpPr>
        <p:spPr>
          <a:xfrm>
            <a:off x="9738360" y="4279392"/>
            <a:ext cx="2560320" cy="384048"/>
          </a:xfrm>
          <a:prstGeom prst="rect">
            <a:avLst/>
          </a:prstGeom>
          <a:noFill/>
          <a:ln/>
        </p:spPr>
        <p:txBody>
          <a:bodyPr wrap="square" lIns="0" tIns="0" rIns="0" bIns="0" rtlCol="0" anchor="t"/>
          <a:lstStyle/>
          <a:p>
            <a:pPr indent="0" marL="0">
              <a:buNone/>
            </a:pPr>
            <a:r>
              <a:rPr lang="en-US" sz="1900" b="1" dirty="0">
                <a:solidFill>
                  <a:schemeClr val="bg1"/>
                </a:solidFill>
              </a:rPr>
              <a:t>Web dashboard</a:t>
            </a:r>
            <a:endParaRPr lang="en-US" sz="1900" dirty="0"/>
          </a:p>
        </p:txBody>
      </p:sp>
      <p:sp>
        <p:nvSpPr>
          <p:cNvPr id="23" name="Text 18"/>
          <p:cNvSpPr txBox="1"/>
          <p:nvPr/>
        </p:nvSpPr>
        <p:spPr>
          <a:xfrm>
            <a:off x="9738360" y="4663440"/>
            <a:ext cx="2560320" cy="320040"/>
          </a:xfrm>
          <a:prstGeom prst="rect">
            <a:avLst/>
          </a:prstGeom>
          <a:noFill/>
          <a:ln/>
        </p:spPr>
        <p:txBody>
          <a:bodyPr wrap="square" lIns="0" tIns="0" rIns="0" bIns="0" rtlCol="0" anchor="t"/>
          <a:lstStyle/>
          <a:p>
            <a:pPr indent="0" marL="0">
              <a:buNone/>
            </a:pPr>
            <a:r>
              <a:rPr lang="en-US" sz="1500" dirty="0">
                <a:solidFill>
                  <a:schemeClr val="bg2"/>
                </a:solidFill>
              </a:rPr>
              <a:t>Alerts + risk score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347472"/>
            <a:ext cx="8229600" cy="292608"/>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 01  LEARNING OUTCOMES</a:t>
            </a:r>
            <a:endParaRPr lang="en-US" sz="1300" dirty="0"/>
          </a:p>
        </p:txBody>
      </p:sp>
      <p:sp>
        <p:nvSpPr>
          <p:cNvPr id="3" name="Text 1"/>
          <p:cNvSpPr/>
          <p:nvPr>
            <p:ph idx="102" type="title" hasCustomPrompt="1"/>
          </p:nvPr>
        </p:nvSpPr>
        <p:spPr>
          <a:xfrm>
            <a:off x="548640" y="658368"/>
            <a:ext cx="9418320" cy="685800"/>
          </a:xfrm>
          <a:prstGeom prst="rect">
            <a:avLst/>
          </a:prstGeom>
          <a:noFill/>
          <a:ln/>
        </p:spPr>
        <p:txBody>
          <a:bodyPr wrap="square" lIns="0" tIns="0" rIns="0" bIns="0" rtlCol="0" anchor="ctr"/>
          <a:lstStyle/>
          <a:p>
            <a:pPr algn="l" indent="0" marL="0">
              <a:buNone/>
            </a:pPr>
            <a:r>
              <a:rPr lang="en-US" sz="3400" b="1" dirty="0">
                <a:solidFill>
                  <a:schemeClr val="bg1"/>
                </a:solidFill>
                <a:latin typeface="Calibri" pitchFamily="34" charset="0"/>
                <a:ea typeface="Calibri" pitchFamily="34" charset="-122"/>
                <a:cs typeface="Calibri" pitchFamily="34" charset="-120"/>
              </a:rPr>
              <a:t>What you'll walk away with</a:t>
            </a:r>
            <a:endParaRPr lang="en-US" sz="3400" dirty="0"/>
          </a:p>
        </p:txBody>
      </p:sp>
      <p:sp>
        <p:nvSpPr>
          <p:cNvPr id="4" name="Scenario"/>
          <p:cNvSpPr/>
          <p:nvPr/>
        </p:nvSpPr>
        <p:spPr>
          <a:xfrm>
            <a:off x="548640" y="1691640"/>
            <a:ext cx="4572000" cy="3520440"/>
          </a:xfrm>
          <a:prstGeom prst="roundRect">
            <a:avLst>
              <a:gd name="adj" fmla="val 2078"/>
            </a:avLst>
          </a:prstGeom>
          <a:solidFill>
            <a:schemeClr val="tx2"/>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822960" y="1901952"/>
            <a:ext cx="365760" cy="365760"/>
          </a:xfrm>
          <a:prstGeom prst="rect">
            <a:avLst/>
          </a:prstGeom>
        </p:spPr>
      </p:pic>
      <p:sp>
        <p:nvSpPr>
          <p:cNvPr id="6" name="Text 3"/>
          <p:cNvSpPr txBox="1"/>
          <p:nvPr/>
        </p:nvSpPr>
        <p:spPr>
          <a:xfrm>
            <a:off x="1325880" y="1901952"/>
            <a:ext cx="3200400" cy="36576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THE SCENARIO</a:t>
            </a:r>
            <a:endParaRPr lang="en-US" sz="1400" dirty="0"/>
          </a:p>
        </p:txBody>
      </p:sp>
      <p:sp>
        <p:nvSpPr>
          <p:cNvPr id="7" name="Text 4"/>
          <p:cNvSpPr txBox="1"/>
          <p:nvPr/>
        </p:nvSpPr>
        <p:spPr>
          <a:xfrm>
            <a:off x="822960" y="2423160"/>
            <a:ext cx="4023360" cy="1371600"/>
          </a:xfrm>
          <a:prstGeom prst="rect">
            <a:avLst/>
          </a:prstGeom>
          <a:noFill/>
          <a:ln/>
        </p:spPr>
        <p:txBody>
          <a:bodyPr wrap="square" lIns="0" tIns="0" rIns="0" bIns="0" rtlCol="0" anchor="t"/>
          <a:lstStyle/>
          <a:p>
            <a:pPr indent="0" marL="0">
              <a:buNone/>
            </a:pPr>
            <a:r>
              <a:rPr lang="en-US" sz="1600" dirty="0">
                <a:solidFill>
                  <a:schemeClr val="bg1"/>
                </a:solidFill>
              </a:rPr>
              <a:t>You're a newly hired cybersecurity agent, called in after a software attack. The organisation's files have been encrypted.</a:t>
            </a:r>
            <a:endParaRPr lang="en-US" sz="1600" dirty="0"/>
          </a:p>
        </p:txBody>
      </p:sp>
      <p:sp>
        <p:nvSpPr>
          <p:cNvPr id="8" name="Text 5"/>
          <p:cNvSpPr txBox="1"/>
          <p:nvPr/>
        </p:nvSpPr>
        <p:spPr>
          <a:xfrm>
            <a:off x="822960" y="3429000"/>
            <a:ext cx="4023360" cy="822960"/>
          </a:xfrm>
          <a:prstGeom prst="rect">
            <a:avLst/>
          </a:prstGeom>
          <a:noFill/>
          <a:ln/>
        </p:spPr>
        <p:txBody>
          <a:bodyPr wrap="square" lIns="0" tIns="0" rIns="0" bIns="0" rtlCol="0" anchor="t"/>
          <a:lstStyle/>
          <a:p>
            <a:pPr indent="0" marL="0">
              <a:buNone/>
            </a:pPr>
            <a:r>
              <a:rPr lang="en-US" sz="1600" dirty="0">
                <a:solidFill>
                  <a:schemeClr val="bg1"/>
                </a:solidFill>
              </a:rPr>
              <a:t>Your tool finds out </a:t>
            </a:r>
            <a:pPr indent="0" marL="0">
              <a:buNone/>
            </a:pPr>
            <a:r>
              <a:rPr lang="en-US" sz="1600" b="1" dirty="0">
                <a:solidFill>
                  <a:schemeClr val="accent2"/>
                </a:solidFill>
              </a:rPr>
              <a:t>what, where, when and why.</a:t>
            </a:r>
            <a:endParaRPr lang="en-US" sz="1600" dirty="0"/>
          </a:p>
        </p:txBody>
      </p:sp>
      <p:sp>
        <p:nvSpPr>
          <p:cNvPr id="9" name="LO1"/>
          <p:cNvSpPr/>
          <p:nvPr/>
        </p:nvSpPr>
        <p:spPr>
          <a:xfrm>
            <a:off x="5440680" y="1691640"/>
            <a:ext cx="6202375" cy="1005840"/>
          </a:xfrm>
          <a:prstGeom prst="roundRect">
            <a:avLst>
              <a:gd name="adj" fmla="val 7273"/>
            </a:avLst>
          </a:prstGeom>
          <a:solidFill>
            <a:schemeClr val="tx2"/>
          </a:solidFill>
          <a:ln w="12700">
            <a:solidFill>
              <a:schemeClr val="accent3"/>
            </a:solidFill>
            <a:prstDash val="solid"/>
          </a:ln>
        </p:spPr>
      </p:sp>
      <p:pic>
        <p:nvPicPr>
          <p:cNvPr id="10" name="Image 1" descr="preencoded.png">    </p:cNvPr>
          <p:cNvPicPr>
            <a:picLocks noChangeAspect="1"/>
          </p:cNvPicPr>
          <p:nvPr/>
        </p:nvPicPr>
        <p:blipFill>
          <a:blip r:embed="rId2"/>
          <a:stretch>
            <a:fillRect/>
          </a:stretch>
        </p:blipFill>
        <p:spPr>
          <a:xfrm>
            <a:off x="5715000" y="1993392"/>
            <a:ext cx="402336" cy="402336"/>
          </a:xfrm>
          <a:prstGeom prst="rect">
            <a:avLst/>
          </a:prstGeom>
        </p:spPr>
      </p:pic>
      <p:sp>
        <p:nvSpPr>
          <p:cNvPr id="11" name="Text 7"/>
          <p:cNvSpPr txBox="1"/>
          <p:nvPr/>
        </p:nvSpPr>
        <p:spPr>
          <a:xfrm>
            <a:off x="6309360" y="1828800"/>
            <a:ext cx="1828800" cy="347472"/>
          </a:xfrm>
          <a:prstGeom prst="rect">
            <a:avLst/>
          </a:prstGeom>
          <a:noFill/>
          <a:ln/>
        </p:spPr>
        <p:txBody>
          <a:bodyPr wrap="square" lIns="0" tIns="0" rIns="0" bIns="0" rtlCol="0" anchor="t"/>
          <a:lstStyle/>
          <a:p>
            <a:pPr indent="0" marL="0">
              <a:buNone/>
            </a:pPr>
            <a:r>
              <a:rPr lang="en-US" sz="1800" b="1" dirty="0">
                <a:solidFill>
                  <a:schemeClr val="accent1"/>
                </a:solidFill>
              </a:rPr>
              <a:t>LO1</a:t>
            </a:r>
            <a:endParaRPr lang="en-US" sz="1800" dirty="0"/>
          </a:p>
        </p:txBody>
      </p:sp>
      <p:sp>
        <p:nvSpPr>
          <p:cNvPr id="12" name="Text 8"/>
          <p:cNvSpPr txBox="1"/>
          <p:nvPr/>
        </p:nvSpPr>
        <p:spPr>
          <a:xfrm>
            <a:off x="10362895" y="1828800"/>
            <a:ext cx="1051560" cy="347472"/>
          </a:xfrm>
          <a:prstGeom prst="rect">
            <a:avLst/>
          </a:prstGeom>
          <a:noFill/>
          <a:ln/>
        </p:spPr>
        <p:txBody>
          <a:bodyPr wrap="square" lIns="0" tIns="0" rIns="0" bIns="0" rtlCol="0" anchor="t"/>
          <a:lstStyle/>
          <a:p>
            <a:pPr algn="r" indent="0" marL="0">
              <a:buNone/>
            </a:pPr>
            <a:r>
              <a:rPr lang="en-US" sz="1300" dirty="0">
                <a:solidFill>
                  <a:schemeClr val="bg2"/>
                </a:solidFill>
                <a:latin typeface="Courier New" pitchFamily="34" charset="0"/>
                <a:ea typeface="Courier New" pitchFamily="34" charset="-122"/>
                <a:cs typeface="Courier New" pitchFamily="34" charset="-120"/>
              </a:rPr>
              <a:t>~1 hr</a:t>
            </a:r>
            <a:endParaRPr lang="en-US" sz="1300" dirty="0"/>
          </a:p>
        </p:txBody>
      </p:sp>
      <p:sp>
        <p:nvSpPr>
          <p:cNvPr id="13" name="Text 9"/>
          <p:cNvSpPr txBox="1"/>
          <p:nvPr/>
        </p:nvSpPr>
        <p:spPr>
          <a:xfrm>
            <a:off x="6309360" y="2194560"/>
            <a:ext cx="5105095" cy="411480"/>
          </a:xfrm>
          <a:prstGeom prst="rect">
            <a:avLst/>
          </a:prstGeom>
          <a:noFill/>
          <a:ln/>
        </p:spPr>
        <p:txBody>
          <a:bodyPr wrap="square" lIns="0" tIns="0" rIns="0" bIns="0" rtlCol="0" anchor="t"/>
          <a:lstStyle/>
          <a:p>
            <a:pPr indent="0" marL="0">
              <a:buNone/>
            </a:pPr>
            <a:r>
              <a:rPr lang="en-US" sz="1500" dirty="0">
                <a:solidFill>
                  <a:schemeClr val="bg1"/>
                </a:solidFill>
              </a:rPr>
              <a:t>Build a tool that reads PCAP files and detects threats</a:t>
            </a:r>
            <a:endParaRPr lang="en-US" sz="1500" dirty="0"/>
          </a:p>
        </p:txBody>
      </p:sp>
      <p:sp>
        <p:nvSpPr>
          <p:cNvPr id="14" name="LO2"/>
          <p:cNvSpPr/>
          <p:nvPr/>
        </p:nvSpPr>
        <p:spPr>
          <a:xfrm>
            <a:off x="5440680" y="2880360"/>
            <a:ext cx="6202375" cy="1005840"/>
          </a:xfrm>
          <a:prstGeom prst="roundRect">
            <a:avLst>
              <a:gd name="adj" fmla="val 7273"/>
            </a:avLst>
          </a:prstGeom>
          <a:solidFill>
            <a:schemeClr val="tx2"/>
          </a:solidFill>
          <a:ln w="12700">
            <a:solidFill>
              <a:schemeClr val="accent3"/>
            </a:solidFill>
            <a:prstDash val="solid"/>
          </a:ln>
        </p:spPr>
      </p:sp>
      <p:pic>
        <p:nvPicPr>
          <p:cNvPr id="15" name="Image 2" descr="preencoded.png">    </p:cNvPr>
          <p:cNvPicPr>
            <a:picLocks noChangeAspect="1"/>
          </p:cNvPicPr>
          <p:nvPr/>
        </p:nvPicPr>
        <p:blipFill>
          <a:blip r:embed="rId3"/>
          <a:stretch>
            <a:fillRect/>
          </a:stretch>
        </p:blipFill>
        <p:spPr>
          <a:xfrm>
            <a:off x="5715000" y="3182112"/>
            <a:ext cx="402336" cy="402336"/>
          </a:xfrm>
          <a:prstGeom prst="rect">
            <a:avLst/>
          </a:prstGeom>
        </p:spPr>
      </p:pic>
      <p:sp>
        <p:nvSpPr>
          <p:cNvPr id="16" name="Text 11"/>
          <p:cNvSpPr txBox="1"/>
          <p:nvPr/>
        </p:nvSpPr>
        <p:spPr>
          <a:xfrm>
            <a:off x="6309360" y="3017520"/>
            <a:ext cx="1828800" cy="347472"/>
          </a:xfrm>
          <a:prstGeom prst="rect">
            <a:avLst/>
          </a:prstGeom>
          <a:noFill/>
          <a:ln/>
        </p:spPr>
        <p:txBody>
          <a:bodyPr wrap="square" lIns="0" tIns="0" rIns="0" bIns="0" rtlCol="0" anchor="t"/>
          <a:lstStyle/>
          <a:p>
            <a:pPr indent="0" marL="0">
              <a:buNone/>
            </a:pPr>
            <a:r>
              <a:rPr lang="en-US" sz="1800" b="1" dirty="0">
                <a:solidFill>
                  <a:schemeClr val="accent2"/>
                </a:solidFill>
              </a:rPr>
              <a:t>LO2</a:t>
            </a:r>
            <a:endParaRPr lang="en-US" sz="1800" dirty="0"/>
          </a:p>
        </p:txBody>
      </p:sp>
      <p:sp>
        <p:nvSpPr>
          <p:cNvPr id="17" name="Text 12"/>
          <p:cNvSpPr txBox="1"/>
          <p:nvPr/>
        </p:nvSpPr>
        <p:spPr>
          <a:xfrm>
            <a:off x="10362895" y="3017520"/>
            <a:ext cx="1051560" cy="347472"/>
          </a:xfrm>
          <a:prstGeom prst="rect">
            <a:avLst/>
          </a:prstGeom>
          <a:noFill/>
          <a:ln/>
        </p:spPr>
        <p:txBody>
          <a:bodyPr wrap="square" lIns="0" tIns="0" rIns="0" bIns="0" rtlCol="0" anchor="t"/>
          <a:lstStyle/>
          <a:p>
            <a:pPr algn="r" indent="0" marL="0">
              <a:buNone/>
            </a:pPr>
            <a:r>
              <a:rPr lang="en-US" sz="1300" dirty="0">
                <a:solidFill>
                  <a:schemeClr val="bg2"/>
                </a:solidFill>
                <a:latin typeface="Courier New" pitchFamily="34" charset="0"/>
                <a:ea typeface="Courier New" pitchFamily="34" charset="-122"/>
                <a:cs typeface="Courier New" pitchFamily="34" charset="-120"/>
              </a:rPr>
              <a:t>~45 min</a:t>
            </a:r>
            <a:endParaRPr lang="en-US" sz="1300" dirty="0"/>
          </a:p>
        </p:txBody>
      </p:sp>
      <p:sp>
        <p:nvSpPr>
          <p:cNvPr id="18" name="Text 13"/>
          <p:cNvSpPr txBox="1"/>
          <p:nvPr/>
        </p:nvSpPr>
        <p:spPr>
          <a:xfrm>
            <a:off x="6309360" y="3383280"/>
            <a:ext cx="5105095" cy="411480"/>
          </a:xfrm>
          <a:prstGeom prst="rect">
            <a:avLst/>
          </a:prstGeom>
          <a:noFill/>
          <a:ln/>
        </p:spPr>
        <p:txBody>
          <a:bodyPr wrap="square" lIns="0" tIns="0" rIns="0" bIns="0" rtlCol="0" anchor="t"/>
          <a:lstStyle/>
          <a:p>
            <a:pPr indent="0" marL="0">
              <a:buNone/>
            </a:pPr>
            <a:r>
              <a:rPr lang="en-US" sz="1500" dirty="0">
                <a:solidFill>
                  <a:schemeClr val="bg1"/>
                </a:solidFill>
              </a:rPr>
              <a:t>Keep improving the tool as a team using Git / GitHub</a:t>
            </a:r>
            <a:endParaRPr lang="en-US" sz="1500" dirty="0"/>
          </a:p>
        </p:txBody>
      </p:sp>
      <p:sp>
        <p:nvSpPr>
          <p:cNvPr id="19" name="Extra credit"/>
          <p:cNvSpPr/>
          <p:nvPr/>
        </p:nvSpPr>
        <p:spPr>
          <a:xfrm>
            <a:off x="5440680" y="4069080"/>
            <a:ext cx="6202375" cy="1005840"/>
          </a:xfrm>
          <a:prstGeom prst="roundRect">
            <a:avLst>
              <a:gd name="adj" fmla="val 7273"/>
            </a:avLst>
          </a:prstGeom>
          <a:solidFill>
            <a:schemeClr val="tx2"/>
          </a:solidFill>
          <a:ln w="12700">
            <a:solidFill>
              <a:schemeClr val="accent3"/>
            </a:solidFill>
            <a:prstDash val="solid"/>
          </a:ln>
        </p:spPr>
      </p:sp>
      <p:pic>
        <p:nvPicPr>
          <p:cNvPr id="20" name="Image 3" descr="preencoded.png">    </p:cNvPr>
          <p:cNvPicPr>
            <a:picLocks noChangeAspect="1"/>
          </p:cNvPicPr>
          <p:nvPr/>
        </p:nvPicPr>
        <p:blipFill>
          <a:blip r:embed="rId4"/>
          <a:stretch>
            <a:fillRect/>
          </a:stretch>
        </p:blipFill>
        <p:spPr>
          <a:xfrm>
            <a:off x="5715000" y="4370832"/>
            <a:ext cx="402336" cy="402336"/>
          </a:xfrm>
          <a:prstGeom prst="rect">
            <a:avLst/>
          </a:prstGeom>
        </p:spPr>
      </p:pic>
      <p:sp>
        <p:nvSpPr>
          <p:cNvPr id="21" name="Text 15"/>
          <p:cNvSpPr txBox="1"/>
          <p:nvPr/>
        </p:nvSpPr>
        <p:spPr>
          <a:xfrm>
            <a:off x="6309360" y="4206240"/>
            <a:ext cx="1828800" cy="347472"/>
          </a:xfrm>
          <a:prstGeom prst="rect">
            <a:avLst/>
          </a:prstGeom>
          <a:noFill/>
          <a:ln/>
        </p:spPr>
        <p:txBody>
          <a:bodyPr wrap="square" lIns="0" tIns="0" rIns="0" bIns="0" rtlCol="0" anchor="t"/>
          <a:lstStyle/>
          <a:p>
            <a:pPr indent="0" marL="0">
              <a:buNone/>
            </a:pPr>
            <a:r>
              <a:rPr lang="en-US" sz="1800" b="1" dirty="0">
                <a:solidFill>
                  <a:schemeClr val="accent4"/>
                </a:solidFill>
              </a:rPr>
              <a:t>Extra credit</a:t>
            </a:r>
            <a:endParaRPr lang="en-US" sz="1800" dirty="0"/>
          </a:p>
        </p:txBody>
      </p:sp>
      <p:sp>
        <p:nvSpPr>
          <p:cNvPr id="22" name="Text 16"/>
          <p:cNvSpPr txBox="1"/>
          <p:nvPr/>
        </p:nvSpPr>
        <p:spPr>
          <a:xfrm>
            <a:off x="6309360" y="4572000"/>
            <a:ext cx="5105095" cy="411480"/>
          </a:xfrm>
          <a:prstGeom prst="rect">
            <a:avLst/>
          </a:prstGeom>
          <a:noFill/>
          <a:ln/>
        </p:spPr>
        <p:txBody>
          <a:bodyPr wrap="square" lIns="0" tIns="0" rIns="0" bIns="0" rtlCol="0" anchor="t"/>
          <a:lstStyle/>
          <a:p>
            <a:pPr indent="0" marL="0">
              <a:buNone/>
            </a:pPr>
            <a:r>
              <a:rPr lang="en-US" sz="1500" dirty="0">
                <a:solidFill>
                  <a:schemeClr val="bg1"/>
                </a:solidFill>
              </a:rPr>
              <a:t>Combine Workshop 1's recon tool with today's tool into one multipurpose tool</a:t>
            </a:r>
            <a:endParaRPr lang="en-US" sz="1500" dirty="0"/>
          </a:p>
        </p:txBody>
      </p:sp>
      <p:sp>
        <p:nvSpPr>
          <p:cNvPr id="23" name="Workshop guide link"/>
          <p:cNvSpPr/>
          <p:nvPr/>
        </p:nvSpPr>
        <p:spPr>
          <a:xfrm>
            <a:off x="548640" y="5440680"/>
            <a:ext cx="11094415" cy="731520"/>
          </a:xfrm>
          <a:prstGeom prst="roundRect">
            <a:avLst>
              <a:gd name="adj" fmla="val 10000"/>
            </a:avLst>
          </a:prstGeom>
          <a:solidFill>
            <a:schemeClr val="accent3"/>
          </a:solidFill>
          <a:ln w="12700">
            <a:solidFill>
              <a:schemeClr val="accent3"/>
            </a:solidFill>
            <a:prstDash val="solid"/>
          </a:ln>
        </p:spPr>
      </p:sp>
      <p:pic>
        <p:nvPicPr>
          <p:cNvPr id="24" name="Image 4" descr="preencoded.png">    </p:cNvPr>
          <p:cNvPicPr>
            <a:picLocks noChangeAspect="1"/>
          </p:cNvPicPr>
          <p:nvPr/>
        </p:nvPicPr>
        <p:blipFill>
          <a:blip r:embed="rId5"/>
          <a:stretch>
            <a:fillRect/>
          </a:stretch>
        </p:blipFill>
        <p:spPr>
          <a:xfrm>
            <a:off x="822960" y="5596128"/>
            <a:ext cx="420624" cy="420624"/>
          </a:xfrm>
          <a:prstGeom prst="rect">
            <a:avLst/>
          </a:prstGeom>
        </p:spPr>
      </p:pic>
      <p:sp>
        <p:nvSpPr>
          <p:cNvPr id="25" name="Text 18"/>
          <p:cNvSpPr txBox="1"/>
          <p:nvPr/>
        </p:nvSpPr>
        <p:spPr>
          <a:xfrm>
            <a:off x="1463040" y="5440680"/>
            <a:ext cx="2377440" cy="731520"/>
          </a:xfrm>
          <a:prstGeom prst="rect">
            <a:avLst/>
          </a:prstGeom>
          <a:noFill/>
          <a:ln/>
        </p:spPr>
        <p:txBody>
          <a:bodyPr wrap="square" lIns="0" tIns="0" rIns="0" bIns="0" rtlCol="0" anchor="ctr"/>
          <a:lstStyle/>
          <a:p>
            <a:pPr indent="0" marL="0">
              <a:buNone/>
            </a:pPr>
            <a:r>
              <a:rPr lang="en-US" sz="1600" b="1" dirty="0">
                <a:solidFill>
                  <a:schemeClr val="bg1"/>
                </a:solidFill>
              </a:rPr>
              <a:t>Full workshop guide</a:t>
            </a:r>
            <a:endParaRPr lang="en-US" sz="1600" dirty="0"/>
          </a:p>
        </p:txBody>
      </p:sp>
      <p:sp>
        <p:nvSpPr>
          <p:cNvPr id="26" name="Text 19"/>
          <p:cNvSpPr txBox="1"/>
          <p:nvPr/>
        </p:nvSpPr>
        <p:spPr>
          <a:xfrm>
            <a:off x="3749040" y="5440680"/>
            <a:ext cx="7619695" cy="731520"/>
          </a:xfrm>
          <a:prstGeom prst="rect">
            <a:avLst/>
          </a:prstGeom>
          <a:noFill/>
          <a:ln/>
        </p:spPr>
        <p:txBody>
          <a:bodyPr wrap="square" lIns="0" tIns="0" rIns="0" bIns="0" rtlCol="0" anchor="ctr"/>
          <a:lstStyle/>
          <a:p>
            <a:pPr indent="0" marL="0">
              <a:buNone/>
            </a:pPr>
            <a:r>
              <a:rPr lang="en-US" sz="1600" b="1" u="sng" dirty="0">
                <a:solidFill>
                  <a:schemeClr val="accent1"/>
                </a:solidFill>
                <a:latin typeface="Courier New" pitchFamily="34" charset="0"/>
                <a:ea typeface="Courier New" pitchFamily="34" charset="-122"/>
                <a:cs typeface="Courier New" pitchFamily="34" charset="-120"/>
                <a:hlinkClick r:id="rId6" invalidUrl="" action="" tgtFrame="" tooltip="" history="1" highlightClick="0" endSnd="0">
                  <a:extLst>
                    <a:ext uri="{A12FA001-AC4F-418D-AE19-62706E023703}">
                      <ahyp:hlinkClr xmlns:ahyp="http://schemas.microsoft.com/office/drawing/2018/hyperlinkcolor" val="tx"/>
                    </a:ext>
                  </a:extLst>
                </a:hlinkClick>
              </a:rPr>
              <a:t>github.com/DEEFIBAO/Workshop-3---PCAP-file-analysis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latin typeface="Courier New"/>
                <a:ea typeface="Courier New"/>
                <a:cs typeface="Courier New"/>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347472"/>
            <a:ext cx="8229600" cy="292608"/>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 02  PREPARATION</a:t>
            </a:r>
            <a:endParaRPr lang="en-US" sz="1300" dirty="0"/>
          </a:p>
        </p:txBody>
      </p:sp>
      <p:sp>
        <p:nvSpPr>
          <p:cNvPr id="3" name="Text 1"/>
          <p:cNvSpPr/>
          <p:nvPr>
            <p:ph idx="102" type="title" hasCustomPrompt="1"/>
          </p:nvPr>
        </p:nvSpPr>
        <p:spPr>
          <a:xfrm>
            <a:off x="548640" y="658368"/>
            <a:ext cx="9418320" cy="685800"/>
          </a:xfrm>
          <a:prstGeom prst="rect">
            <a:avLst/>
          </a:prstGeom>
          <a:noFill/>
          <a:ln/>
        </p:spPr>
        <p:txBody>
          <a:bodyPr wrap="square" lIns="0" tIns="0" rIns="0" bIns="0" rtlCol="0" anchor="ctr"/>
          <a:lstStyle/>
          <a:p>
            <a:pPr algn="l" indent="0" marL="0">
              <a:buNone/>
            </a:pPr>
            <a:r>
              <a:rPr lang="en-US" sz="3400" b="1" dirty="0">
                <a:solidFill>
                  <a:schemeClr val="bg1"/>
                </a:solidFill>
                <a:latin typeface="Calibri" pitchFamily="34" charset="0"/>
                <a:ea typeface="Calibri" pitchFamily="34" charset="-122"/>
                <a:cs typeface="Calibri" pitchFamily="34" charset="-120"/>
              </a:rPr>
              <a:t>Get set up: everything in the browser</a:t>
            </a:r>
            <a:endParaRPr lang="en-US" sz="3400" dirty="0"/>
          </a:p>
        </p:txBody>
      </p:sp>
      <p:sp>
        <p:nvSpPr>
          <p:cNvPr id="4" name="Step 1 account"/>
          <p:cNvSpPr/>
          <p:nvPr/>
        </p:nvSpPr>
        <p:spPr>
          <a:xfrm>
            <a:off x="548640" y="1691640"/>
            <a:ext cx="3383280" cy="3520440"/>
          </a:xfrm>
          <a:prstGeom prst="roundRect">
            <a:avLst>
              <a:gd name="adj" fmla="val 2162"/>
            </a:avLst>
          </a:prstGeom>
          <a:solidFill>
            <a:schemeClr val="tx2"/>
          </a:solidFill>
          <a:ln w="12700">
            <a:solidFill>
              <a:schemeClr val="accent3"/>
            </a:solidFill>
            <a:prstDash val="solid"/>
          </a:ln>
        </p:spPr>
      </p:sp>
      <p:sp>
        <p:nvSpPr>
          <p:cNvPr id="5" name="Text 3"/>
          <p:cNvSpPr txBox="1"/>
          <p:nvPr/>
        </p:nvSpPr>
        <p:spPr>
          <a:xfrm>
            <a:off x="822960" y="1874520"/>
            <a:ext cx="1828800" cy="27432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STEP 1</a:t>
            </a:r>
            <a:endParaRPr lang="en-US" sz="1300" dirty="0"/>
          </a:p>
        </p:txBody>
      </p:sp>
      <p:pic>
        <p:nvPicPr>
          <p:cNvPr id="6" name="Image 0" descr="preencoded.png">    </p:cNvPr>
          <p:cNvPicPr>
            <a:picLocks noChangeAspect="1"/>
          </p:cNvPicPr>
          <p:nvPr/>
        </p:nvPicPr>
        <p:blipFill>
          <a:blip r:embed="rId1"/>
          <a:stretch>
            <a:fillRect/>
          </a:stretch>
        </p:blipFill>
        <p:spPr>
          <a:xfrm>
            <a:off x="822960" y="2286000"/>
            <a:ext cx="502920" cy="502920"/>
          </a:xfrm>
          <a:prstGeom prst="rect">
            <a:avLst/>
          </a:prstGeom>
        </p:spPr>
      </p:pic>
      <p:sp>
        <p:nvSpPr>
          <p:cNvPr id="7" name="Text 4"/>
          <p:cNvSpPr txBox="1"/>
          <p:nvPr/>
        </p:nvSpPr>
        <p:spPr>
          <a:xfrm>
            <a:off x="822960" y="2926080"/>
            <a:ext cx="2834640" cy="731520"/>
          </a:xfrm>
          <a:prstGeom prst="rect">
            <a:avLst/>
          </a:prstGeom>
          <a:noFill/>
          <a:ln/>
        </p:spPr>
        <p:txBody>
          <a:bodyPr wrap="square" lIns="0" tIns="0" rIns="0" bIns="0" rtlCol="0" anchor="t"/>
          <a:lstStyle/>
          <a:p>
            <a:pPr indent="0" marL="0">
              <a:buNone/>
            </a:pPr>
            <a:r>
              <a:rPr lang="en-US" sz="2000" b="1" dirty="0">
                <a:solidFill>
                  <a:schemeClr val="bg1"/>
                </a:solidFill>
              </a:rPr>
              <a:t>Create a GitHub account</a:t>
            </a:r>
            <a:endParaRPr lang="en-US" sz="2000" dirty="0"/>
          </a:p>
        </p:txBody>
      </p:sp>
      <p:sp>
        <p:nvSpPr>
          <p:cNvPr id="8" name="Text 5"/>
          <p:cNvSpPr txBox="1"/>
          <p:nvPr/>
        </p:nvSpPr>
        <p:spPr>
          <a:xfrm>
            <a:off x="822960" y="3657600"/>
            <a:ext cx="2880360" cy="1463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bg1"/>
                </a:solidFill>
              </a:rPr>
              <a:t>Sign up at github.com</a:t>
            </a:r>
            <a:endParaRPr lang="en-US" sz="1500" dirty="0"/>
          </a:p>
          <a:p>
            <a:pPr marL="342900" indent="-342900">
              <a:spcAft>
                <a:spcPts val="600"/>
              </a:spcAft>
              <a:buSzPct val="100000"/>
              <a:buChar char="•"/>
            </a:pPr>
            <a:r>
              <a:rPr lang="en-US" sz="1500" dirty="0">
                <a:solidFill>
                  <a:schemeClr val="bg1"/>
                </a:solidFill>
              </a:rPr>
              <a:t>Use your school email to unlock the Student Developer Pack (free Codespaces hours)</a:t>
            </a:r>
            <a:endParaRPr lang="en-US" sz="1500" dirty="0"/>
          </a:p>
        </p:txBody>
      </p:sp>
      <p:sp>
        <p:nvSpPr>
          <p:cNvPr id="9" name="Step 2 browser route"/>
          <p:cNvSpPr/>
          <p:nvPr/>
        </p:nvSpPr>
        <p:spPr>
          <a:xfrm>
            <a:off x="4160520" y="1691640"/>
            <a:ext cx="4572000" cy="3520440"/>
          </a:xfrm>
          <a:prstGeom prst="roundRect">
            <a:avLst>
              <a:gd name="adj" fmla="val 2078"/>
            </a:avLst>
          </a:prstGeom>
          <a:solidFill>
            <a:schemeClr val="tx2"/>
          </a:solidFill>
          <a:ln w="12700">
            <a:solidFill>
              <a:schemeClr val="accent2"/>
            </a:solidFill>
            <a:prstDash val="solid"/>
          </a:ln>
        </p:spPr>
      </p:sp>
      <p:sp>
        <p:nvSpPr>
          <p:cNvPr id="10" name="Text 7"/>
          <p:cNvSpPr txBox="1"/>
          <p:nvPr/>
        </p:nvSpPr>
        <p:spPr>
          <a:xfrm>
            <a:off x="4434840" y="1874520"/>
            <a:ext cx="3657600" cy="274320"/>
          </a:xfrm>
          <a:prstGeom prst="rect">
            <a:avLst/>
          </a:prstGeom>
          <a:noFill/>
          <a:ln/>
        </p:spPr>
        <p:txBody>
          <a:bodyPr wrap="square" lIns="0" tIns="0" rIns="0" bIns="0" rtlCol="0" anchor="t"/>
          <a:lstStyle/>
          <a:p>
            <a:pPr indent="0" marL="0">
              <a:buNone/>
            </a:pPr>
            <a:r>
              <a:rPr lang="en-US" sz="1300" b="1" dirty="0">
                <a:solidFill>
                  <a:schemeClr val="accent2"/>
                </a:solidFill>
                <a:latin typeface="Courier New" pitchFamily="34" charset="0"/>
                <a:ea typeface="Courier New" pitchFamily="34" charset="-122"/>
                <a:cs typeface="Courier New" pitchFamily="34" charset="-120"/>
              </a:rPr>
              <a:t>STEP 2  ·  RECOMMENDED</a:t>
            </a:r>
            <a:endParaRPr lang="en-US" sz="1300" dirty="0"/>
          </a:p>
        </p:txBody>
      </p:sp>
      <p:sp>
        <p:nvSpPr>
          <p:cNvPr id="11" name="Shape 8"/>
          <p:cNvSpPr/>
          <p:nvPr/>
        </p:nvSpPr>
        <p:spPr>
          <a:xfrm>
            <a:off x="4434840" y="2286000"/>
            <a:ext cx="548640" cy="548640"/>
          </a:xfrm>
          <a:prstGeom prst="ellipse">
            <a:avLst/>
          </a:prstGeom>
          <a:solidFill>
            <a:schemeClr val="accent2"/>
          </a:solidFill>
          <a:ln w="12700">
            <a:solidFill>
              <a:schemeClr val="accent2"/>
            </a:solidFill>
            <a:prstDash val="solid"/>
          </a:ln>
        </p:spPr>
      </p:sp>
      <p:pic>
        <p:nvPicPr>
          <p:cNvPr id="12" name="Image 1" descr="preencoded.png">    </p:cNvPr>
          <p:cNvPicPr>
            <a:picLocks noChangeAspect="1"/>
          </p:cNvPicPr>
          <p:nvPr/>
        </p:nvPicPr>
        <p:blipFill>
          <a:blip r:embed="rId2"/>
          <a:stretch>
            <a:fillRect/>
          </a:stretch>
        </p:blipFill>
        <p:spPr>
          <a:xfrm>
            <a:off x="4555541" y="2406701"/>
            <a:ext cx="307238" cy="307238"/>
          </a:xfrm>
          <a:prstGeom prst="rect">
            <a:avLst/>
          </a:prstGeom>
        </p:spPr>
      </p:pic>
      <p:sp>
        <p:nvSpPr>
          <p:cNvPr id="13" name="Text 9"/>
          <p:cNvSpPr txBox="1"/>
          <p:nvPr/>
        </p:nvSpPr>
        <p:spPr>
          <a:xfrm>
            <a:off x="5166360" y="2286000"/>
            <a:ext cx="3291840" cy="548640"/>
          </a:xfrm>
          <a:prstGeom prst="rect">
            <a:avLst/>
          </a:prstGeom>
          <a:noFill/>
          <a:ln/>
        </p:spPr>
        <p:txBody>
          <a:bodyPr wrap="square" lIns="0" tIns="0" rIns="0" bIns="0" rtlCol="0" anchor="ctr"/>
          <a:lstStyle/>
          <a:p>
            <a:pPr indent="0" marL="0">
              <a:buNone/>
            </a:pPr>
            <a:r>
              <a:rPr lang="en-US" sz="2200" b="1" dirty="0">
                <a:solidFill>
                  <a:schemeClr val="bg1"/>
                </a:solidFill>
              </a:rPr>
              <a:t>Browser route</a:t>
            </a:r>
            <a:endParaRPr lang="en-US" sz="2200" dirty="0"/>
          </a:p>
        </p:txBody>
      </p:sp>
      <p:sp>
        <p:nvSpPr>
          <p:cNvPr id="14" name="Text 10"/>
          <p:cNvSpPr txBox="1"/>
          <p:nvPr/>
        </p:nvSpPr>
        <p:spPr>
          <a:xfrm>
            <a:off x="4434840" y="3017520"/>
            <a:ext cx="4023360" cy="2103120"/>
          </a:xfrm>
          <a:prstGeom prst="rect">
            <a:avLst/>
          </a:prstGeom>
          <a:noFill/>
          <a:ln/>
        </p:spPr>
        <p:txBody>
          <a:bodyPr wrap="square" lIns="0" tIns="0" rIns="0" bIns="0" rtlCol="0" anchor="t"/>
          <a:lstStyle/>
          <a:p>
            <a:pPr marL="342900" indent="-342900">
              <a:spcAft>
                <a:spcPts val="800"/>
              </a:spcAft>
              <a:buSzPct val="100000"/>
              <a:buChar char="•"/>
            </a:pPr>
            <a:r>
              <a:rPr lang="en-US" sz="1600" b="1" dirty="0">
                <a:solidFill>
                  <a:schemeClr val="bg1"/>
                </a:solidFill>
              </a:rPr>
              <a:t>Nothing to install</a:t>
            </a:r>
            <a:endParaRPr lang="en-US" sz="1600" dirty="0"/>
          </a:p>
          <a:p>
            <a:pPr marL="342900" indent="-342900">
              <a:spcAft>
                <a:spcPts val="800"/>
              </a:spcAft>
              <a:buSzPct val="100000"/>
              <a:buChar char="•"/>
            </a:pPr>
            <a:r>
              <a:rPr lang="en-US" sz="1600" dirty="0">
                <a:solidFill>
                  <a:schemeClr val="bg1"/>
                </a:solidFill>
              </a:rPr>
              <a:t>GitHub Codespaces gives you VS Code in your browser</a:t>
            </a:r>
            <a:endParaRPr lang="en-US" sz="1600" dirty="0"/>
          </a:p>
          <a:p>
            <a:pPr marL="342900" indent="-342900">
              <a:spcAft>
                <a:spcPts val="800"/>
              </a:spcAft>
              <a:buSzPct val="100000"/>
              <a:buChar char="•"/>
            </a:pPr>
            <a:r>
              <a:rPr lang="en-US" sz="1600" dirty="0">
                <a:solidFill>
                  <a:schemeClr val="bg1"/>
                </a:solidFill>
              </a:rPr>
              <a:t>Git and Python are already there</a:t>
            </a:r>
            <a:endParaRPr lang="en-US" sz="1600" dirty="0"/>
          </a:p>
          <a:p>
            <a:pPr marL="342900" indent="-342900">
              <a:spcAft>
                <a:spcPts val="800"/>
              </a:spcAft>
              <a:buSzPct val="100000"/>
              <a:buChar char="•"/>
            </a:pPr>
            <a:r>
              <a:rPr lang="en-US" sz="1600" dirty="0">
                <a:solidFill>
                  <a:schemeClr val="bg1"/>
                </a:solidFill>
              </a:rPr>
              <a:t>Works on school and locked-down PCs</a:t>
            </a:r>
            <a:endParaRPr lang="en-US" sz="1600" dirty="0"/>
          </a:p>
        </p:txBody>
      </p:sp>
      <p:sp>
        <p:nvSpPr>
          <p:cNvPr id="15" name="Optional command line route"/>
          <p:cNvSpPr/>
          <p:nvPr/>
        </p:nvSpPr>
        <p:spPr>
          <a:xfrm>
            <a:off x="8961120" y="1691640"/>
            <a:ext cx="2681935" cy="3520440"/>
          </a:xfrm>
          <a:prstGeom prst="roundRect">
            <a:avLst>
              <a:gd name="adj" fmla="val 2728"/>
            </a:avLst>
          </a:prstGeom>
          <a:solidFill>
            <a:schemeClr val="tx1"/>
          </a:solidFill>
          <a:ln w="12700">
            <a:solidFill>
              <a:schemeClr val="accent3"/>
            </a:solidFill>
            <a:prstDash val="solid"/>
          </a:ln>
        </p:spPr>
      </p:sp>
      <p:sp>
        <p:nvSpPr>
          <p:cNvPr id="16" name="Text 12"/>
          <p:cNvSpPr txBox="1"/>
          <p:nvPr/>
        </p:nvSpPr>
        <p:spPr>
          <a:xfrm>
            <a:off x="9235440" y="1874520"/>
            <a:ext cx="1828800" cy="274320"/>
          </a:xfrm>
          <a:prstGeom prst="rect">
            <a:avLst/>
          </a:prstGeom>
          <a:noFill/>
          <a:ln/>
        </p:spPr>
        <p:txBody>
          <a:bodyPr wrap="square" lIns="0" tIns="0" rIns="0" bIns="0" rtlCol="0" anchor="t"/>
          <a:lstStyle/>
          <a:p>
            <a:pPr indent="0" marL="0">
              <a:buNone/>
            </a:pPr>
            <a:r>
              <a:rPr lang="en-US" sz="1300" b="1" dirty="0">
                <a:solidFill>
                  <a:schemeClr val="bg2"/>
                </a:solidFill>
                <a:latin typeface="Courier New" pitchFamily="34" charset="0"/>
                <a:ea typeface="Courier New" pitchFamily="34" charset="-122"/>
                <a:cs typeface="Courier New" pitchFamily="34" charset="-120"/>
              </a:rPr>
              <a:t>OPTIONAL</a:t>
            </a:r>
            <a:endParaRPr lang="en-US" sz="1300" dirty="0"/>
          </a:p>
        </p:txBody>
      </p:sp>
      <p:pic>
        <p:nvPicPr>
          <p:cNvPr id="17" name="Image 2" descr="preencoded.png">    </p:cNvPr>
          <p:cNvPicPr>
            <a:picLocks noChangeAspect="1"/>
          </p:cNvPicPr>
          <p:nvPr/>
        </p:nvPicPr>
        <p:blipFill>
          <a:blip r:embed="rId3"/>
          <a:stretch>
            <a:fillRect/>
          </a:stretch>
        </p:blipFill>
        <p:spPr>
          <a:xfrm>
            <a:off x="9235440" y="2331720"/>
            <a:ext cx="411480" cy="411480"/>
          </a:xfrm>
          <a:prstGeom prst="rect">
            <a:avLst/>
          </a:prstGeom>
        </p:spPr>
      </p:pic>
      <p:sp>
        <p:nvSpPr>
          <p:cNvPr id="18" name="Text 13"/>
          <p:cNvSpPr txBox="1"/>
          <p:nvPr/>
        </p:nvSpPr>
        <p:spPr>
          <a:xfrm>
            <a:off x="9784080" y="2286000"/>
            <a:ext cx="1676095" cy="548640"/>
          </a:xfrm>
          <a:prstGeom prst="rect">
            <a:avLst/>
          </a:prstGeom>
          <a:noFill/>
          <a:ln/>
        </p:spPr>
        <p:txBody>
          <a:bodyPr wrap="square" lIns="0" tIns="0" rIns="0" bIns="0" rtlCol="0" anchor="ctr"/>
          <a:lstStyle/>
          <a:p>
            <a:pPr indent="0" marL="0">
              <a:buNone/>
            </a:pPr>
            <a:r>
              <a:rPr lang="en-US" sz="1800" b="1" dirty="0">
                <a:solidFill>
                  <a:schemeClr val="bg2"/>
                </a:solidFill>
              </a:rPr>
              <a:t>Command line</a:t>
            </a:r>
            <a:endParaRPr lang="en-US" sz="1800" dirty="0"/>
          </a:p>
        </p:txBody>
      </p:sp>
      <p:sp>
        <p:nvSpPr>
          <p:cNvPr id="19" name="Text 14"/>
          <p:cNvSpPr txBox="1"/>
          <p:nvPr/>
        </p:nvSpPr>
        <p:spPr>
          <a:xfrm>
            <a:off x="9235440" y="3017520"/>
            <a:ext cx="2224735" cy="1828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2"/>
                </a:solidFill>
              </a:rPr>
              <a:t>Install Git and Python 3</a:t>
            </a:r>
            <a:endParaRPr lang="en-US" sz="1500" dirty="0"/>
          </a:p>
          <a:p>
            <a:pPr marL="342900" indent="-342900">
              <a:spcAft>
                <a:spcPts val="800"/>
              </a:spcAft>
              <a:buSzPct val="100000"/>
              <a:buChar char="•"/>
            </a:pPr>
            <a:r>
              <a:rPr lang="en-US" sz="1500" dirty="0">
                <a:solidFill>
                  <a:schemeClr val="bg2"/>
                </a:solidFill>
              </a:rPr>
              <a:t>Set your Git name and email</a:t>
            </a:r>
            <a:endParaRPr lang="en-US" sz="1500" dirty="0"/>
          </a:p>
          <a:p>
            <a:pPr marL="342900" indent="-342900">
              <a:spcAft>
                <a:spcPts val="800"/>
              </a:spcAft>
              <a:buSzPct val="100000"/>
              <a:buChar char="•"/>
            </a:pPr>
            <a:r>
              <a:rPr lang="en-US" sz="1500" dirty="0">
                <a:solidFill>
                  <a:schemeClr val="bg2"/>
                </a:solidFill>
              </a:rPr>
              <a:t>Connect to GitHub with an SSH key</a:t>
            </a:r>
            <a:endParaRPr lang="en-US" sz="1500" dirty="0"/>
          </a:p>
        </p:txBody>
      </p:sp>
      <p:sp>
        <p:nvSpPr>
          <p:cNvPr id="20" name="Text 15"/>
          <p:cNvSpPr txBox="1"/>
          <p:nvPr/>
        </p:nvSpPr>
        <p:spPr>
          <a:xfrm>
            <a:off x="9235440" y="4709160"/>
            <a:ext cx="2224735" cy="320040"/>
          </a:xfrm>
          <a:prstGeom prst="rect">
            <a:avLst/>
          </a:prstGeom>
          <a:noFill/>
          <a:ln/>
        </p:spPr>
        <p:txBody>
          <a:bodyPr wrap="square" lIns="0" tIns="0" rIns="0" bIns="0" rtlCol="0" anchor="t"/>
          <a:lstStyle/>
          <a:p>
            <a:pPr indent="0" marL="0">
              <a:buNone/>
            </a:pPr>
            <a:r>
              <a:rPr lang="en-US" sz="1300" i="1" dirty="0">
                <a:solidFill>
                  <a:schemeClr val="bg2"/>
                </a:solidFill>
              </a:rPr>
              <a:t>Steps in the guide</a:t>
            </a:r>
            <a:endParaRPr lang="en-US" sz="1300" dirty="0"/>
          </a:p>
        </p:txBody>
      </p:sp>
      <p:sp>
        <p:nvSpPr>
          <p:cNvPr id="21" name="Workshop guide link"/>
          <p:cNvSpPr/>
          <p:nvPr/>
        </p:nvSpPr>
        <p:spPr>
          <a:xfrm>
            <a:off x="548640" y="5440680"/>
            <a:ext cx="11094415" cy="731520"/>
          </a:xfrm>
          <a:prstGeom prst="roundRect">
            <a:avLst>
              <a:gd name="adj" fmla="val 10000"/>
            </a:avLst>
          </a:prstGeom>
          <a:solidFill>
            <a:schemeClr val="accent3"/>
          </a:solidFill>
          <a:ln w="12700">
            <a:solidFill>
              <a:schemeClr val="accent3"/>
            </a:solidFill>
            <a:prstDash val="solid"/>
          </a:ln>
        </p:spPr>
      </p:sp>
      <p:pic>
        <p:nvPicPr>
          <p:cNvPr id="22" name="Image 3" descr="preencoded.png">    </p:cNvPr>
          <p:cNvPicPr>
            <a:picLocks noChangeAspect="1"/>
          </p:cNvPicPr>
          <p:nvPr/>
        </p:nvPicPr>
        <p:blipFill>
          <a:blip r:embed="rId4"/>
          <a:stretch>
            <a:fillRect/>
          </a:stretch>
        </p:blipFill>
        <p:spPr>
          <a:xfrm>
            <a:off x="822960" y="5596128"/>
            <a:ext cx="420624" cy="420624"/>
          </a:xfrm>
          <a:prstGeom prst="rect">
            <a:avLst/>
          </a:prstGeom>
        </p:spPr>
      </p:pic>
      <p:sp>
        <p:nvSpPr>
          <p:cNvPr id="23" name="Text 17"/>
          <p:cNvSpPr txBox="1"/>
          <p:nvPr/>
        </p:nvSpPr>
        <p:spPr>
          <a:xfrm>
            <a:off x="1463040" y="5440680"/>
            <a:ext cx="2377440" cy="731520"/>
          </a:xfrm>
          <a:prstGeom prst="rect">
            <a:avLst/>
          </a:prstGeom>
          <a:noFill/>
          <a:ln/>
        </p:spPr>
        <p:txBody>
          <a:bodyPr wrap="square" lIns="0" tIns="0" rIns="0" bIns="0" rtlCol="0" anchor="ctr"/>
          <a:lstStyle/>
          <a:p>
            <a:pPr indent="0" marL="0">
              <a:buNone/>
            </a:pPr>
            <a:r>
              <a:rPr lang="en-US" sz="1600" b="1" dirty="0">
                <a:solidFill>
                  <a:schemeClr val="bg1"/>
                </a:solidFill>
              </a:rPr>
              <a:t>Workshop guide</a:t>
            </a:r>
            <a:endParaRPr lang="en-US" sz="1600" dirty="0"/>
          </a:p>
        </p:txBody>
      </p:sp>
      <p:sp>
        <p:nvSpPr>
          <p:cNvPr id="24" name="Text 18"/>
          <p:cNvSpPr txBox="1"/>
          <p:nvPr/>
        </p:nvSpPr>
        <p:spPr>
          <a:xfrm>
            <a:off x="3749040" y="5440680"/>
            <a:ext cx="7619695" cy="731520"/>
          </a:xfrm>
          <a:prstGeom prst="rect">
            <a:avLst/>
          </a:prstGeom>
          <a:noFill/>
          <a:ln/>
        </p:spPr>
        <p:txBody>
          <a:bodyPr wrap="square" lIns="0" tIns="0" rIns="0" bIns="0" rtlCol="0" anchor="ctr"/>
          <a:lstStyle/>
          <a:p>
            <a:pPr indent="0" marL="0">
              <a:buNone/>
            </a:pPr>
            <a:r>
              <a:rPr lang="en-US" sz="1600" b="1" u="sng" dirty="0">
                <a:solidFill>
                  <a:schemeClr val="accent1"/>
                </a:solidFill>
                <a:latin typeface="Courier New" pitchFamily="34" charset="0"/>
                <a:ea typeface="Courier New" pitchFamily="34" charset="-122"/>
                <a:cs typeface="Courier New" pitchFamily="34" charset="-120"/>
                <a:hlinkClick r:id="rId5" invalidUrl="" action="" tgtFrame="" tooltip="" history="1" highlightClick="0" endSnd="0">
                  <a:extLst>
                    <a:ext uri="{A12FA001-AC4F-418D-AE19-62706E023703}">
                      <ahyp:hlinkClr xmlns:ahyp="http://schemas.microsoft.com/office/drawing/2018/hyperlinkcolor" val="tx"/>
                    </a:ext>
                  </a:extLst>
                </a:hlinkClick>
              </a:rPr>
              <a:t>github.com/DEEFIBAO/Workshop-3---PCAP-file-analysis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latin typeface="Courier New"/>
                <a:ea typeface="Courier New"/>
                <a:cs typeface="Courier New"/>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347472"/>
            <a:ext cx="8229600" cy="292608"/>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 03  PREPARATION, CONTINUED</a:t>
            </a:r>
            <a:endParaRPr lang="en-US" sz="1300" dirty="0"/>
          </a:p>
        </p:txBody>
      </p:sp>
      <p:sp>
        <p:nvSpPr>
          <p:cNvPr id="3" name="Text 1"/>
          <p:cNvSpPr/>
          <p:nvPr>
            <p:ph idx="102" type="title" hasCustomPrompt="1"/>
          </p:nvPr>
        </p:nvSpPr>
        <p:spPr>
          <a:xfrm>
            <a:off x="548640" y="658368"/>
            <a:ext cx="9418320" cy="685800"/>
          </a:xfrm>
          <a:prstGeom prst="rect">
            <a:avLst/>
          </a:prstGeom>
          <a:noFill/>
          <a:ln/>
        </p:spPr>
        <p:txBody>
          <a:bodyPr wrap="square" lIns="0" tIns="0" rIns="0" bIns="0" rtlCol="0" anchor="ctr"/>
          <a:lstStyle/>
          <a:p>
            <a:pPr algn="l" indent="0" marL="0">
              <a:buNone/>
            </a:pPr>
            <a:r>
              <a:rPr lang="en-US" sz="3400" b="1" dirty="0">
                <a:solidFill>
                  <a:schemeClr val="bg1"/>
                </a:solidFill>
                <a:latin typeface="Calibri" pitchFamily="34" charset="0"/>
                <a:ea typeface="Calibri" pitchFamily="34" charset="-122"/>
                <a:cs typeface="Calibri" pitchFamily="34" charset="-120"/>
              </a:rPr>
              <a:t>Create the repo and assign jobs</a:t>
            </a:r>
            <a:endParaRPr lang="en-US" sz="3400" dirty="0"/>
          </a:p>
        </p:txBody>
      </p:sp>
      <p:sp>
        <p:nvSpPr>
          <p:cNvPr id="4" name="Text 2"/>
          <p:cNvSpPr txBox="1"/>
          <p:nvPr/>
        </p:nvSpPr>
        <p:spPr>
          <a:xfrm>
            <a:off x="548640" y="1691640"/>
            <a:ext cx="5486400" cy="365760"/>
          </a:xfrm>
          <a:prstGeom prst="rect">
            <a:avLst/>
          </a:prstGeom>
          <a:noFill/>
          <a:ln/>
        </p:spPr>
        <p:txBody>
          <a:bodyPr wrap="square" lIns="0" tIns="0" rIns="0" bIns="0" rtlCol="0" anchor="t"/>
          <a:lstStyle/>
          <a:p>
            <a:pPr indent="0" marL="0">
              <a:buNone/>
            </a:pPr>
            <a:r>
              <a:rPr lang="en-US" sz="1800" b="1" dirty="0">
                <a:solidFill>
                  <a:schemeClr val="accent1"/>
                </a:solidFill>
              </a:rPr>
              <a:t>Organiser, on github.com</a:t>
            </a:r>
            <a:endParaRPr lang="en-US" sz="1800" dirty="0"/>
          </a:p>
        </p:txBody>
      </p:sp>
      <p:sp>
        <p:nvSpPr>
          <p:cNvPr id="5" name="Shape 3"/>
          <p:cNvSpPr/>
          <p:nvPr/>
        </p:nvSpPr>
        <p:spPr>
          <a:xfrm>
            <a:off x="548640" y="2240280"/>
            <a:ext cx="457200" cy="457200"/>
          </a:xfrm>
          <a:prstGeom prst="ellipse">
            <a:avLst/>
          </a:prstGeom>
          <a:solidFill>
            <a:schemeClr val="tx2"/>
          </a:solidFill>
          <a:ln w="15875">
            <a:solidFill>
              <a:schemeClr val="accent1"/>
            </a:solidFill>
            <a:prstDash val="solid"/>
          </a:ln>
        </p:spPr>
      </p:sp>
      <p:sp>
        <p:nvSpPr>
          <p:cNvPr id="6" name="Text 4"/>
          <p:cNvSpPr txBox="1"/>
          <p:nvPr/>
        </p:nvSpPr>
        <p:spPr>
          <a:xfrm>
            <a:off x="548640" y="2240280"/>
            <a:ext cx="457200" cy="457200"/>
          </a:xfrm>
          <a:prstGeom prst="rect">
            <a:avLst/>
          </a:prstGeom>
          <a:noFill/>
          <a:ln/>
        </p:spPr>
        <p:txBody>
          <a:bodyPr wrap="square" lIns="0" tIns="0" rIns="0" bIns="0" rtlCol="0" anchor="ctr"/>
          <a:lstStyle/>
          <a:p>
            <a:pPr algn="ctr" indent="0" marL="0">
              <a:buNone/>
            </a:pPr>
            <a:r>
              <a:rPr lang="en-US" sz="1500" b="1" dirty="0">
                <a:solidFill>
                  <a:schemeClr val="accent1"/>
                </a:solidFill>
                <a:latin typeface="Courier New" pitchFamily="34" charset="0"/>
                <a:ea typeface="Courier New" pitchFamily="34" charset="-122"/>
                <a:cs typeface="Courier New" pitchFamily="34" charset="-120"/>
              </a:rPr>
              <a:t>1</a:t>
            </a:r>
            <a:endParaRPr lang="en-US" sz="1500" dirty="0"/>
          </a:p>
        </p:txBody>
      </p:sp>
      <p:sp>
        <p:nvSpPr>
          <p:cNvPr id="7" name="Text 5"/>
          <p:cNvSpPr txBox="1"/>
          <p:nvPr/>
        </p:nvSpPr>
        <p:spPr>
          <a:xfrm>
            <a:off x="1234440" y="2194560"/>
            <a:ext cx="4937760" cy="310896"/>
          </a:xfrm>
          <a:prstGeom prst="rect">
            <a:avLst/>
          </a:prstGeom>
          <a:noFill/>
          <a:ln/>
        </p:spPr>
        <p:txBody>
          <a:bodyPr wrap="square" lIns="0" tIns="0" rIns="0" bIns="0" rtlCol="0" anchor="t"/>
          <a:lstStyle/>
          <a:p>
            <a:pPr indent="0" marL="0">
              <a:buNone/>
            </a:pPr>
            <a:r>
              <a:rPr lang="en-US" sz="1600" b="1" dirty="0">
                <a:solidFill>
                  <a:schemeClr val="bg1"/>
                </a:solidFill>
              </a:rPr>
              <a:t>+  →  New repository</a:t>
            </a:r>
            <a:endParaRPr lang="en-US" sz="1600" dirty="0"/>
          </a:p>
        </p:txBody>
      </p:sp>
      <p:sp>
        <p:nvSpPr>
          <p:cNvPr id="8" name="Text 6"/>
          <p:cNvSpPr txBox="1"/>
          <p:nvPr/>
        </p:nvSpPr>
        <p:spPr>
          <a:xfrm>
            <a:off x="1234440" y="2505456"/>
            <a:ext cx="4937760" cy="292608"/>
          </a:xfrm>
          <a:prstGeom prst="rect">
            <a:avLst/>
          </a:prstGeom>
          <a:noFill/>
          <a:ln/>
        </p:spPr>
        <p:txBody>
          <a:bodyPr wrap="square" lIns="0" tIns="0" rIns="0" bIns="0" rtlCol="0" anchor="t"/>
          <a:lstStyle/>
          <a:p>
            <a:pPr indent="0" marL="0">
              <a:buNone/>
            </a:pPr>
            <a:r>
              <a:rPr lang="en-US" sz="1400" dirty="0">
                <a:solidFill>
                  <a:schemeClr val="bg2"/>
                </a:solidFill>
              </a:rPr>
              <a:t>Name it with hyphens, e.g. pcap-group-3</a:t>
            </a:r>
            <a:endParaRPr lang="en-US" sz="1400" dirty="0"/>
          </a:p>
        </p:txBody>
      </p:sp>
      <p:sp>
        <p:nvSpPr>
          <p:cNvPr id="9" name="Shape 7"/>
          <p:cNvSpPr/>
          <p:nvPr/>
        </p:nvSpPr>
        <p:spPr>
          <a:xfrm>
            <a:off x="548640" y="2953512"/>
            <a:ext cx="457200" cy="457200"/>
          </a:xfrm>
          <a:prstGeom prst="ellipse">
            <a:avLst/>
          </a:prstGeom>
          <a:solidFill>
            <a:schemeClr val="tx2"/>
          </a:solidFill>
          <a:ln w="15875">
            <a:solidFill>
              <a:schemeClr val="accent1"/>
            </a:solidFill>
            <a:prstDash val="solid"/>
          </a:ln>
        </p:spPr>
      </p:sp>
      <p:sp>
        <p:nvSpPr>
          <p:cNvPr id="10" name="Text 8"/>
          <p:cNvSpPr txBox="1"/>
          <p:nvPr/>
        </p:nvSpPr>
        <p:spPr>
          <a:xfrm>
            <a:off x="548640" y="2953512"/>
            <a:ext cx="457200" cy="457200"/>
          </a:xfrm>
          <a:prstGeom prst="rect">
            <a:avLst/>
          </a:prstGeom>
          <a:noFill/>
          <a:ln/>
        </p:spPr>
        <p:txBody>
          <a:bodyPr wrap="square" lIns="0" tIns="0" rIns="0" bIns="0" rtlCol="0" anchor="ctr"/>
          <a:lstStyle/>
          <a:p>
            <a:pPr algn="ctr" indent="0" marL="0">
              <a:buNone/>
            </a:pPr>
            <a:r>
              <a:rPr lang="en-US" sz="1500" b="1" dirty="0">
                <a:solidFill>
                  <a:schemeClr val="accent1"/>
                </a:solidFill>
                <a:latin typeface="Courier New" pitchFamily="34" charset="0"/>
                <a:ea typeface="Courier New" pitchFamily="34" charset="-122"/>
                <a:cs typeface="Courier New" pitchFamily="34" charset="-120"/>
              </a:rPr>
              <a:t>2</a:t>
            </a:r>
            <a:endParaRPr lang="en-US" sz="1500" dirty="0"/>
          </a:p>
        </p:txBody>
      </p:sp>
      <p:sp>
        <p:nvSpPr>
          <p:cNvPr id="11" name="Text 9"/>
          <p:cNvSpPr txBox="1"/>
          <p:nvPr/>
        </p:nvSpPr>
        <p:spPr>
          <a:xfrm>
            <a:off x="1234440" y="2907792"/>
            <a:ext cx="4937760" cy="310896"/>
          </a:xfrm>
          <a:prstGeom prst="rect">
            <a:avLst/>
          </a:prstGeom>
          <a:noFill/>
          <a:ln/>
        </p:spPr>
        <p:txBody>
          <a:bodyPr wrap="square" lIns="0" tIns="0" rIns="0" bIns="0" rtlCol="0" anchor="t"/>
          <a:lstStyle/>
          <a:p>
            <a:pPr indent="0" marL="0">
              <a:buNone/>
            </a:pPr>
            <a:r>
              <a:rPr lang="en-US" sz="1600" b="1" dirty="0">
                <a:solidFill>
                  <a:schemeClr val="bg1"/>
                </a:solidFill>
              </a:rPr>
              <a:t>Tick Add a README  →  Create</a:t>
            </a:r>
            <a:endParaRPr lang="en-US" sz="1600" dirty="0"/>
          </a:p>
        </p:txBody>
      </p:sp>
      <p:sp>
        <p:nvSpPr>
          <p:cNvPr id="12" name="Text 10"/>
          <p:cNvSpPr txBox="1"/>
          <p:nvPr/>
        </p:nvSpPr>
        <p:spPr>
          <a:xfrm>
            <a:off x="1234440" y="3218688"/>
            <a:ext cx="4937760" cy="292608"/>
          </a:xfrm>
          <a:prstGeom prst="rect">
            <a:avLst/>
          </a:prstGeom>
          <a:noFill/>
          <a:ln/>
        </p:spPr>
        <p:txBody>
          <a:bodyPr wrap="square" lIns="0" tIns="0" rIns="0" bIns="0" rtlCol="0" anchor="t"/>
          <a:lstStyle/>
          <a:p>
            <a:pPr indent="0" marL="0">
              <a:buNone/>
            </a:pPr>
            <a:r>
              <a:rPr lang="en-US" sz="1400" dirty="0">
                <a:solidFill>
                  <a:schemeClr val="bg2"/>
                </a:solidFill>
              </a:rPr>
              <a:t>Public or Private: your choice</a:t>
            </a:r>
            <a:endParaRPr lang="en-US" sz="1400" dirty="0"/>
          </a:p>
        </p:txBody>
      </p:sp>
      <p:sp>
        <p:nvSpPr>
          <p:cNvPr id="13" name="Shape 11"/>
          <p:cNvSpPr/>
          <p:nvPr/>
        </p:nvSpPr>
        <p:spPr>
          <a:xfrm>
            <a:off x="548640" y="3666744"/>
            <a:ext cx="457200" cy="457200"/>
          </a:xfrm>
          <a:prstGeom prst="ellipse">
            <a:avLst/>
          </a:prstGeom>
          <a:solidFill>
            <a:schemeClr val="tx2"/>
          </a:solidFill>
          <a:ln w="15875">
            <a:solidFill>
              <a:schemeClr val="accent1"/>
            </a:solidFill>
            <a:prstDash val="solid"/>
          </a:ln>
        </p:spPr>
      </p:sp>
      <p:sp>
        <p:nvSpPr>
          <p:cNvPr id="14" name="Text 12"/>
          <p:cNvSpPr txBox="1"/>
          <p:nvPr/>
        </p:nvSpPr>
        <p:spPr>
          <a:xfrm>
            <a:off x="548640" y="3666744"/>
            <a:ext cx="457200" cy="457200"/>
          </a:xfrm>
          <a:prstGeom prst="rect">
            <a:avLst/>
          </a:prstGeom>
          <a:noFill/>
          <a:ln/>
        </p:spPr>
        <p:txBody>
          <a:bodyPr wrap="square" lIns="0" tIns="0" rIns="0" bIns="0" rtlCol="0" anchor="ctr"/>
          <a:lstStyle/>
          <a:p>
            <a:pPr algn="ctr" indent="0" marL="0">
              <a:buNone/>
            </a:pPr>
            <a:r>
              <a:rPr lang="en-US" sz="1500" b="1" dirty="0">
                <a:solidFill>
                  <a:schemeClr val="accent1"/>
                </a:solidFill>
                <a:latin typeface="Courier New" pitchFamily="34" charset="0"/>
                <a:ea typeface="Courier New" pitchFamily="34" charset="-122"/>
                <a:cs typeface="Courier New" pitchFamily="34" charset="-120"/>
              </a:rPr>
              <a:t>3</a:t>
            </a:r>
            <a:endParaRPr lang="en-US" sz="1500" dirty="0"/>
          </a:p>
        </p:txBody>
      </p:sp>
      <p:sp>
        <p:nvSpPr>
          <p:cNvPr id="15" name="Text 13"/>
          <p:cNvSpPr txBox="1"/>
          <p:nvPr/>
        </p:nvSpPr>
        <p:spPr>
          <a:xfrm>
            <a:off x="1234440" y="3621024"/>
            <a:ext cx="4937760" cy="310896"/>
          </a:xfrm>
          <a:prstGeom prst="rect">
            <a:avLst/>
          </a:prstGeom>
          <a:noFill/>
          <a:ln/>
        </p:spPr>
        <p:txBody>
          <a:bodyPr wrap="square" lIns="0" tIns="0" rIns="0" bIns="0" rtlCol="0" anchor="t"/>
          <a:lstStyle/>
          <a:p>
            <a:pPr indent="0" marL="0">
              <a:buNone/>
            </a:pPr>
            <a:r>
              <a:rPr lang="en-US" sz="1600" b="1" dirty="0">
                <a:solidFill>
                  <a:schemeClr val="bg1"/>
                </a:solidFill>
              </a:rPr>
              <a:t>Add file  →  Upload files</a:t>
            </a:r>
            <a:endParaRPr lang="en-US" sz="1600" dirty="0"/>
          </a:p>
        </p:txBody>
      </p:sp>
      <p:sp>
        <p:nvSpPr>
          <p:cNvPr id="16" name="Text 14"/>
          <p:cNvSpPr txBox="1"/>
          <p:nvPr/>
        </p:nvSpPr>
        <p:spPr>
          <a:xfrm>
            <a:off x="1234440" y="3931920"/>
            <a:ext cx="4937760" cy="292608"/>
          </a:xfrm>
          <a:prstGeom prst="rect">
            <a:avLst/>
          </a:prstGeom>
          <a:noFill/>
          <a:ln/>
        </p:spPr>
        <p:txBody>
          <a:bodyPr wrap="square" lIns="0" tIns="0" rIns="0" bIns="0" rtlCol="0" anchor="t"/>
          <a:lstStyle/>
          <a:p>
            <a:pPr indent="0" marL="0">
              <a:buNone/>
            </a:pPr>
            <a:r>
              <a:rPr lang="en-US" sz="1400" dirty="0">
                <a:solidFill>
                  <a:schemeClr val="bg2"/>
                </a:solidFill>
              </a:rPr>
              <a:t>Drag in the pcap-workshop contents, then Commit</a:t>
            </a:r>
            <a:endParaRPr lang="en-US" sz="1400" dirty="0"/>
          </a:p>
        </p:txBody>
      </p:sp>
      <p:sp>
        <p:nvSpPr>
          <p:cNvPr id="17" name="Shape 15"/>
          <p:cNvSpPr/>
          <p:nvPr/>
        </p:nvSpPr>
        <p:spPr>
          <a:xfrm>
            <a:off x="548640" y="4379976"/>
            <a:ext cx="457200" cy="457200"/>
          </a:xfrm>
          <a:prstGeom prst="ellipse">
            <a:avLst/>
          </a:prstGeom>
          <a:solidFill>
            <a:schemeClr val="tx2"/>
          </a:solidFill>
          <a:ln w="15875">
            <a:solidFill>
              <a:schemeClr val="accent1"/>
            </a:solidFill>
            <a:prstDash val="solid"/>
          </a:ln>
        </p:spPr>
      </p:sp>
      <p:sp>
        <p:nvSpPr>
          <p:cNvPr id="18" name="Text 16"/>
          <p:cNvSpPr txBox="1"/>
          <p:nvPr/>
        </p:nvSpPr>
        <p:spPr>
          <a:xfrm>
            <a:off x="548640" y="4379976"/>
            <a:ext cx="457200" cy="457200"/>
          </a:xfrm>
          <a:prstGeom prst="rect">
            <a:avLst/>
          </a:prstGeom>
          <a:noFill/>
          <a:ln/>
        </p:spPr>
        <p:txBody>
          <a:bodyPr wrap="square" lIns="0" tIns="0" rIns="0" bIns="0" rtlCol="0" anchor="ctr"/>
          <a:lstStyle/>
          <a:p>
            <a:pPr algn="ctr" indent="0" marL="0">
              <a:buNone/>
            </a:pPr>
            <a:r>
              <a:rPr lang="en-US" sz="1500" b="1" dirty="0">
                <a:solidFill>
                  <a:schemeClr val="accent1"/>
                </a:solidFill>
                <a:latin typeface="Courier New" pitchFamily="34" charset="0"/>
                <a:ea typeface="Courier New" pitchFamily="34" charset="-122"/>
                <a:cs typeface="Courier New" pitchFamily="34" charset="-120"/>
              </a:rPr>
              <a:t>4</a:t>
            </a:r>
            <a:endParaRPr lang="en-US" sz="1500" dirty="0"/>
          </a:p>
        </p:txBody>
      </p:sp>
      <p:sp>
        <p:nvSpPr>
          <p:cNvPr id="19" name="Text 17"/>
          <p:cNvSpPr txBox="1"/>
          <p:nvPr/>
        </p:nvSpPr>
        <p:spPr>
          <a:xfrm>
            <a:off x="1234440" y="4334256"/>
            <a:ext cx="4937760" cy="310896"/>
          </a:xfrm>
          <a:prstGeom prst="rect">
            <a:avLst/>
          </a:prstGeom>
          <a:noFill/>
          <a:ln/>
        </p:spPr>
        <p:txBody>
          <a:bodyPr wrap="square" lIns="0" tIns="0" rIns="0" bIns="0" rtlCol="0" anchor="t"/>
          <a:lstStyle/>
          <a:p>
            <a:pPr indent="0" marL="0">
              <a:buNone/>
            </a:pPr>
            <a:r>
              <a:rPr lang="en-US" sz="1600" b="1" dirty="0">
                <a:solidFill>
                  <a:schemeClr val="bg1"/>
                </a:solidFill>
              </a:rPr>
              <a:t>Settings  →  Collaborators</a:t>
            </a:r>
            <a:endParaRPr lang="en-US" sz="1600" dirty="0"/>
          </a:p>
        </p:txBody>
      </p:sp>
      <p:sp>
        <p:nvSpPr>
          <p:cNvPr id="20" name="Text 18"/>
          <p:cNvSpPr txBox="1"/>
          <p:nvPr/>
        </p:nvSpPr>
        <p:spPr>
          <a:xfrm>
            <a:off x="1234440" y="4645152"/>
            <a:ext cx="4937760" cy="292608"/>
          </a:xfrm>
          <a:prstGeom prst="rect">
            <a:avLst/>
          </a:prstGeom>
          <a:noFill/>
          <a:ln/>
        </p:spPr>
        <p:txBody>
          <a:bodyPr wrap="square" lIns="0" tIns="0" rIns="0" bIns="0" rtlCol="0" anchor="t"/>
          <a:lstStyle/>
          <a:p>
            <a:pPr indent="0" marL="0">
              <a:buNone/>
            </a:pPr>
            <a:r>
              <a:rPr lang="en-US" sz="1400" dirty="0">
                <a:solidFill>
                  <a:schemeClr val="bg2"/>
                </a:solidFill>
              </a:rPr>
              <a:t>Add people: invite each teammate</a:t>
            </a:r>
            <a:endParaRPr lang="en-US" sz="1400" dirty="0"/>
          </a:p>
        </p:txBody>
      </p:sp>
      <p:sp>
        <p:nvSpPr>
          <p:cNvPr id="21" name="Teammates"/>
          <p:cNvSpPr/>
          <p:nvPr/>
        </p:nvSpPr>
        <p:spPr>
          <a:xfrm>
            <a:off x="548640" y="5120640"/>
            <a:ext cx="5577840" cy="914400"/>
          </a:xfrm>
          <a:prstGeom prst="roundRect">
            <a:avLst>
              <a:gd name="adj" fmla="val 8000"/>
            </a:avLst>
          </a:prstGeom>
          <a:solidFill>
            <a:schemeClr val="accent3"/>
          </a:solidFill>
          <a:ln w="12700">
            <a:solidFill>
              <a:schemeClr val="accent3"/>
            </a:solidFill>
            <a:prstDash val="solid"/>
          </a:ln>
        </p:spPr>
      </p:sp>
      <p:sp>
        <p:nvSpPr>
          <p:cNvPr id="22" name="Text 20"/>
          <p:cNvSpPr txBox="1"/>
          <p:nvPr/>
        </p:nvSpPr>
        <p:spPr>
          <a:xfrm>
            <a:off x="777240" y="5120640"/>
            <a:ext cx="5212080" cy="914400"/>
          </a:xfrm>
          <a:prstGeom prst="rect">
            <a:avLst/>
          </a:prstGeom>
          <a:noFill/>
          <a:ln/>
        </p:spPr>
        <p:txBody>
          <a:bodyPr wrap="square" lIns="0" tIns="0" rIns="0" bIns="0" rtlCol="0" anchor="ctr"/>
          <a:lstStyle/>
          <a:p>
            <a:pPr indent="0" marL="0">
              <a:buNone/>
            </a:pPr>
            <a:r>
              <a:rPr lang="en-US" sz="1500" b="1" dirty="0">
                <a:solidFill>
                  <a:schemeClr val="accent2"/>
                </a:solidFill>
              </a:rPr>
              <a:t>Teammates  </a:t>
            </a:r>
            <a:pPr indent="0" marL="0">
              <a:buNone/>
            </a:pPr>
            <a:r>
              <a:rPr lang="en-US" sz="1500" dirty="0">
                <a:solidFill>
                  <a:schemeClr val="bg1"/>
                </a:solidFill>
              </a:rPr>
              <a:t>Accept invite  →  Code  →  Codespaces  →  Create codespace</a:t>
            </a:r>
            <a:endParaRPr lang="en-US" sz="1500" dirty="0"/>
          </a:p>
        </p:txBody>
      </p:sp>
      <p:sp>
        <p:nvSpPr>
          <p:cNvPr id="23" name="Text 21"/>
          <p:cNvSpPr txBox="1"/>
          <p:nvPr/>
        </p:nvSpPr>
        <p:spPr>
          <a:xfrm>
            <a:off x="6537960" y="1691640"/>
            <a:ext cx="5105095" cy="365760"/>
          </a:xfrm>
          <a:prstGeom prst="rect">
            <a:avLst/>
          </a:prstGeom>
          <a:noFill/>
          <a:ln/>
        </p:spPr>
        <p:txBody>
          <a:bodyPr wrap="square" lIns="0" tIns="0" rIns="0" bIns="0" rtlCol="0" anchor="t"/>
          <a:lstStyle/>
          <a:p>
            <a:pPr indent="0" marL="0">
              <a:buNone/>
            </a:pPr>
            <a:r>
              <a:rPr lang="en-US" sz="1800" b="1" dirty="0">
                <a:solidFill>
                  <a:schemeClr val="accent1"/>
                </a:solidFill>
              </a:rPr>
              <a:t>Split the work: one file each</a:t>
            </a:r>
            <a:endParaRPr lang="en-US" sz="1800" dirty="0"/>
          </a:p>
        </p:txBody>
      </p:sp>
      <p:sp>
        <p:nvSpPr>
          <p:cNvPr id="24" name="Job D1"/>
          <p:cNvSpPr/>
          <p:nvPr/>
        </p:nvSpPr>
        <p:spPr>
          <a:xfrm>
            <a:off x="6537960" y="2194560"/>
            <a:ext cx="2461108" cy="658368"/>
          </a:xfrm>
          <a:prstGeom prst="roundRect">
            <a:avLst>
              <a:gd name="adj" fmla="val 11111"/>
            </a:avLst>
          </a:prstGeom>
          <a:solidFill>
            <a:schemeClr val="tx2"/>
          </a:solidFill>
          <a:ln w="12700">
            <a:solidFill>
              <a:schemeClr val="accent3"/>
            </a:solidFill>
            <a:prstDash val="solid"/>
          </a:ln>
        </p:spPr>
      </p:sp>
      <p:sp>
        <p:nvSpPr>
          <p:cNvPr id="25" name="Text 23"/>
          <p:cNvSpPr txBox="1"/>
          <p:nvPr/>
        </p:nvSpPr>
        <p:spPr>
          <a:xfrm>
            <a:off x="6675120" y="2194560"/>
            <a:ext cx="502920" cy="658368"/>
          </a:xfrm>
          <a:prstGeom prst="rect">
            <a:avLst/>
          </a:prstGeom>
          <a:noFill/>
          <a:ln/>
        </p:spPr>
        <p:txBody>
          <a:bodyPr wrap="square" lIns="0" tIns="0" rIns="0" bIns="0" rtlCol="0" anchor="ctr"/>
          <a:lstStyle/>
          <a:p>
            <a:pPr algn="ctr" indent="0" marL="0">
              <a:buNone/>
            </a:pPr>
            <a:r>
              <a:rPr lang="en-US" sz="1800" b="1" dirty="0">
                <a:solidFill>
                  <a:schemeClr val="accent1"/>
                </a:solidFill>
                <a:latin typeface="Courier New" pitchFamily="34" charset="0"/>
                <a:ea typeface="Courier New" pitchFamily="34" charset="-122"/>
                <a:cs typeface="Courier New" pitchFamily="34" charset="-120"/>
              </a:rPr>
              <a:t>D1</a:t>
            </a:r>
            <a:endParaRPr lang="en-US" sz="1800" dirty="0"/>
          </a:p>
        </p:txBody>
      </p:sp>
      <p:sp>
        <p:nvSpPr>
          <p:cNvPr id="26" name="Text 24"/>
          <p:cNvSpPr txBox="1"/>
          <p:nvPr/>
        </p:nvSpPr>
        <p:spPr>
          <a:xfrm>
            <a:off x="7269480" y="2286000"/>
            <a:ext cx="1638148" cy="274320"/>
          </a:xfrm>
          <a:prstGeom prst="rect">
            <a:avLst/>
          </a:prstGeom>
          <a:noFill/>
          <a:ln/>
        </p:spPr>
        <p:txBody>
          <a:bodyPr wrap="square" lIns="0" tIns="0" rIns="0" bIns="0" rtlCol="0" anchor="t"/>
          <a:lstStyle/>
          <a:p>
            <a:pPr indent="0" marL="0">
              <a:buNone/>
            </a:pPr>
            <a:r>
              <a:rPr lang="en-US" sz="1500" b="1" dirty="0">
                <a:solidFill>
                  <a:schemeClr val="bg1"/>
                </a:solidFill>
              </a:rPr>
              <a:t>Port scans</a:t>
            </a:r>
            <a:endParaRPr lang="en-US" sz="1500" dirty="0"/>
          </a:p>
        </p:txBody>
      </p:sp>
      <p:sp>
        <p:nvSpPr>
          <p:cNvPr id="27" name="Text 25"/>
          <p:cNvSpPr txBox="1"/>
          <p:nvPr/>
        </p:nvSpPr>
        <p:spPr>
          <a:xfrm>
            <a:off x="7269480" y="2560320"/>
            <a:ext cx="1638148" cy="228600"/>
          </a:xfrm>
          <a:prstGeom prst="rect">
            <a:avLst/>
          </a:prstGeom>
          <a:noFill/>
          <a:ln/>
        </p:spPr>
        <p:txBody>
          <a:bodyPr wrap="square" lIns="0" tIns="0" rIns="0" bIns="0" rtlCol="0" anchor="t"/>
          <a:lstStyle/>
          <a:p>
            <a:pPr indent="0" marL="0">
              <a:buNone/>
            </a:pPr>
            <a:r>
              <a:rPr lang="en-US" sz="1000" dirty="0">
                <a:solidFill>
                  <a:schemeClr val="bg2"/>
                </a:solidFill>
                <a:latin typeface="Courier New" pitchFamily="34" charset="0"/>
                <a:ea typeface="Courier New" pitchFamily="34" charset="-122"/>
                <a:cs typeface="Courier New" pitchFamily="34" charset="-120"/>
              </a:rPr>
              <a:t>detect_portscan.py</a:t>
            </a:r>
            <a:endParaRPr lang="en-US" sz="1000" dirty="0"/>
          </a:p>
        </p:txBody>
      </p:sp>
      <p:sp>
        <p:nvSpPr>
          <p:cNvPr id="28" name="Job D2"/>
          <p:cNvSpPr/>
          <p:nvPr/>
        </p:nvSpPr>
        <p:spPr>
          <a:xfrm>
            <a:off x="9181948" y="2194560"/>
            <a:ext cx="2461108" cy="658368"/>
          </a:xfrm>
          <a:prstGeom prst="roundRect">
            <a:avLst>
              <a:gd name="adj" fmla="val 11111"/>
            </a:avLst>
          </a:prstGeom>
          <a:solidFill>
            <a:schemeClr val="tx2"/>
          </a:solidFill>
          <a:ln w="12700">
            <a:solidFill>
              <a:schemeClr val="accent3"/>
            </a:solidFill>
            <a:prstDash val="solid"/>
          </a:ln>
        </p:spPr>
      </p:sp>
      <p:sp>
        <p:nvSpPr>
          <p:cNvPr id="29" name="Text 27"/>
          <p:cNvSpPr txBox="1"/>
          <p:nvPr/>
        </p:nvSpPr>
        <p:spPr>
          <a:xfrm>
            <a:off x="9319108" y="2194560"/>
            <a:ext cx="502920" cy="658368"/>
          </a:xfrm>
          <a:prstGeom prst="rect">
            <a:avLst/>
          </a:prstGeom>
          <a:noFill/>
          <a:ln/>
        </p:spPr>
        <p:txBody>
          <a:bodyPr wrap="square" lIns="0" tIns="0" rIns="0" bIns="0" rtlCol="0" anchor="ctr"/>
          <a:lstStyle/>
          <a:p>
            <a:pPr algn="ctr" indent="0" marL="0">
              <a:buNone/>
            </a:pPr>
            <a:r>
              <a:rPr lang="en-US" sz="1800" b="1" dirty="0">
                <a:solidFill>
                  <a:schemeClr val="accent1"/>
                </a:solidFill>
                <a:latin typeface="Courier New" pitchFamily="34" charset="0"/>
                <a:ea typeface="Courier New" pitchFamily="34" charset="-122"/>
                <a:cs typeface="Courier New" pitchFamily="34" charset="-120"/>
              </a:rPr>
              <a:t>D2</a:t>
            </a:r>
            <a:endParaRPr lang="en-US" sz="1800" dirty="0"/>
          </a:p>
        </p:txBody>
      </p:sp>
      <p:sp>
        <p:nvSpPr>
          <p:cNvPr id="30" name="Text 28"/>
          <p:cNvSpPr txBox="1"/>
          <p:nvPr/>
        </p:nvSpPr>
        <p:spPr>
          <a:xfrm>
            <a:off x="9913468" y="2286000"/>
            <a:ext cx="1638148" cy="274320"/>
          </a:xfrm>
          <a:prstGeom prst="rect">
            <a:avLst/>
          </a:prstGeom>
          <a:noFill/>
          <a:ln/>
        </p:spPr>
        <p:txBody>
          <a:bodyPr wrap="square" lIns="0" tIns="0" rIns="0" bIns="0" rtlCol="0" anchor="t"/>
          <a:lstStyle/>
          <a:p>
            <a:pPr indent="0" marL="0">
              <a:buNone/>
            </a:pPr>
            <a:r>
              <a:rPr lang="en-US" sz="1500" b="1" dirty="0">
                <a:solidFill>
                  <a:schemeClr val="bg1"/>
                </a:solidFill>
              </a:rPr>
              <a:t>Password guessing</a:t>
            </a:r>
            <a:endParaRPr lang="en-US" sz="1500" dirty="0"/>
          </a:p>
        </p:txBody>
      </p:sp>
      <p:sp>
        <p:nvSpPr>
          <p:cNvPr id="31" name="Text 29"/>
          <p:cNvSpPr txBox="1"/>
          <p:nvPr/>
        </p:nvSpPr>
        <p:spPr>
          <a:xfrm>
            <a:off x="9913468" y="2560320"/>
            <a:ext cx="1638148" cy="228600"/>
          </a:xfrm>
          <a:prstGeom prst="rect">
            <a:avLst/>
          </a:prstGeom>
          <a:noFill/>
          <a:ln/>
        </p:spPr>
        <p:txBody>
          <a:bodyPr wrap="square" lIns="0" tIns="0" rIns="0" bIns="0" rtlCol="0" anchor="t"/>
          <a:lstStyle/>
          <a:p>
            <a:pPr indent="0" marL="0">
              <a:buNone/>
            </a:pPr>
            <a:r>
              <a:rPr lang="en-US" sz="1000" dirty="0">
                <a:solidFill>
                  <a:schemeClr val="bg2"/>
                </a:solidFill>
                <a:latin typeface="Courier New" pitchFamily="34" charset="0"/>
                <a:ea typeface="Courier New" pitchFamily="34" charset="-122"/>
                <a:cs typeface="Courier New" pitchFamily="34" charset="-120"/>
              </a:rPr>
              <a:t>detect_bruteforce.py</a:t>
            </a:r>
            <a:endParaRPr lang="en-US" sz="1000" dirty="0"/>
          </a:p>
        </p:txBody>
      </p:sp>
      <p:sp>
        <p:nvSpPr>
          <p:cNvPr id="32" name="Job D3"/>
          <p:cNvSpPr/>
          <p:nvPr/>
        </p:nvSpPr>
        <p:spPr>
          <a:xfrm>
            <a:off x="6537960" y="2990088"/>
            <a:ext cx="2461108" cy="658368"/>
          </a:xfrm>
          <a:prstGeom prst="roundRect">
            <a:avLst>
              <a:gd name="adj" fmla="val 11111"/>
            </a:avLst>
          </a:prstGeom>
          <a:solidFill>
            <a:schemeClr val="tx2"/>
          </a:solidFill>
          <a:ln w="12700">
            <a:solidFill>
              <a:schemeClr val="accent3"/>
            </a:solidFill>
            <a:prstDash val="solid"/>
          </a:ln>
        </p:spPr>
      </p:sp>
      <p:sp>
        <p:nvSpPr>
          <p:cNvPr id="33" name="Text 31"/>
          <p:cNvSpPr txBox="1"/>
          <p:nvPr/>
        </p:nvSpPr>
        <p:spPr>
          <a:xfrm>
            <a:off x="6675120" y="2990088"/>
            <a:ext cx="502920" cy="658368"/>
          </a:xfrm>
          <a:prstGeom prst="rect">
            <a:avLst/>
          </a:prstGeom>
          <a:noFill/>
          <a:ln/>
        </p:spPr>
        <p:txBody>
          <a:bodyPr wrap="square" lIns="0" tIns="0" rIns="0" bIns="0" rtlCol="0" anchor="ctr"/>
          <a:lstStyle/>
          <a:p>
            <a:pPr algn="ctr" indent="0" marL="0">
              <a:buNone/>
            </a:pPr>
            <a:r>
              <a:rPr lang="en-US" sz="1800" b="1" dirty="0">
                <a:solidFill>
                  <a:schemeClr val="accent1"/>
                </a:solidFill>
                <a:latin typeface="Courier New" pitchFamily="34" charset="0"/>
                <a:ea typeface="Courier New" pitchFamily="34" charset="-122"/>
                <a:cs typeface="Courier New" pitchFamily="34" charset="-120"/>
              </a:rPr>
              <a:t>D3</a:t>
            </a:r>
            <a:endParaRPr lang="en-US" sz="1800" dirty="0"/>
          </a:p>
        </p:txBody>
      </p:sp>
      <p:sp>
        <p:nvSpPr>
          <p:cNvPr id="34" name="Text 32"/>
          <p:cNvSpPr txBox="1"/>
          <p:nvPr/>
        </p:nvSpPr>
        <p:spPr>
          <a:xfrm>
            <a:off x="7269480" y="3081528"/>
            <a:ext cx="1638148" cy="274320"/>
          </a:xfrm>
          <a:prstGeom prst="rect">
            <a:avLst/>
          </a:prstGeom>
          <a:noFill/>
          <a:ln/>
        </p:spPr>
        <p:txBody>
          <a:bodyPr wrap="square" lIns="0" tIns="0" rIns="0" bIns="0" rtlCol="0" anchor="t"/>
          <a:lstStyle/>
          <a:p>
            <a:pPr indent="0" marL="0">
              <a:buNone/>
            </a:pPr>
            <a:r>
              <a:rPr lang="en-US" sz="1500" b="1" dirty="0">
                <a:solidFill>
                  <a:schemeClr val="bg1"/>
                </a:solidFill>
              </a:rPr>
              <a:t>Suspicious DNS</a:t>
            </a:r>
            <a:endParaRPr lang="en-US" sz="1500" dirty="0"/>
          </a:p>
        </p:txBody>
      </p:sp>
      <p:sp>
        <p:nvSpPr>
          <p:cNvPr id="35" name="Text 33"/>
          <p:cNvSpPr txBox="1"/>
          <p:nvPr/>
        </p:nvSpPr>
        <p:spPr>
          <a:xfrm>
            <a:off x="7269480" y="3355848"/>
            <a:ext cx="1638148" cy="228600"/>
          </a:xfrm>
          <a:prstGeom prst="rect">
            <a:avLst/>
          </a:prstGeom>
          <a:noFill/>
          <a:ln/>
        </p:spPr>
        <p:txBody>
          <a:bodyPr wrap="square" lIns="0" tIns="0" rIns="0" bIns="0" rtlCol="0" anchor="t"/>
          <a:lstStyle/>
          <a:p>
            <a:pPr indent="0" marL="0">
              <a:buNone/>
            </a:pPr>
            <a:r>
              <a:rPr lang="en-US" sz="1000" dirty="0">
                <a:solidFill>
                  <a:schemeClr val="bg2"/>
                </a:solidFill>
                <a:latin typeface="Courier New" pitchFamily="34" charset="0"/>
                <a:ea typeface="Courier New" pitchFamily="34" charset="-122"/>
                <a:cs typeface="Courier New" pitchFamily="34" charset="-120"/>
              </a:rPr>
              <a:t>detect_dns.py</a:t>
            </a:r>
            <a:endParaRPr lang="en-US" sz="1000" dirty="0"/>
          </a:p>
        </p:txBody>
      </p:sp>
      <p:sp>
        <p:nvSpPr>
          <p:cNvPr id="36" name="Job D4"/>
          <p:cNvSpPr/>
          <p:nvPr/>
        </p:nvSpPr>
        <p:spPr>
          <a:xfrm>
            <a:off x="9181948" y="2990088"/>
            <a:ext cx="2461108" cy="658368"/>
          </a:xfrm>
          <a:prstGeom prst="roundRect">
            <a:avLst>
              <a:gd name="adj" fmla="val 11111"/>
            </a:avLst>
          </a:prstGeom>
          <a:solidFill>
            <a:schemeClr val="tx2"/>
          </a:solidFill>
          <a:ln w="12700">
            <a:solidFill>
              <a:schemeClr val="accent3"/>
            </a:solidFill>
            <a:prstDash val="solid"/>
          </a:ln>
        </p:spPr>
      </p:sp>
      <p:sp>
        <p:nvSpPr>
          <p:cNvPr id="37" name="Text 35"/>
          <p:cNvSpPr txBox="1"/>
          <p:nvPr/>
        </p:nvSpPr>
        <p:spPr>
          <a:xfrm>
            <a:off x="9319108" y="2990088"/>
            <a:ext cx="502920" cy="658368"/>
          </a:xfrm>
          <a:prstGeom prst="rect">
            <a:avLst/>
          </a:prstGeom>
          <a:noFill/>
          <a:ln/>
        </p:spPr>
        <p:txBody>
          <a:bodyPr wrap="square" lIns="0" tIns="0" rIns="0" bIns="0" rtlCol="0" anchor="ctr"/>
          <a:lstStyle/>
          <a:p>
            <a:pPr algn="ctr" indent="0" marL="0">
              <a:buNone/>
            </a:pPr>
            <a:r>
              <a:rPr lang="en-US" sz="1800" b="1" dirty="0">
                <a:solidFill>
                  <a:schemeClr val="accent1"/>
                </a:solidFill>
                <a:latin typeface="Courier New" pitchFamily="34" charset="0"/>
                <a:ea typeface="Courier New" pitchFamily="34" charset="-122"/>
                <a:cs typeface="Courier New" pitchFamily="34" charset="-120"/>
              </a:rPr>
              <a:t>D4</a:t>
            </a:r>
            <a:endParaRPr lang="en-US" sz="1800" dirty="0"/>
          </a:p>
        </p:txBody>
      </p:sp>
      <p:sp>
        <p:nvSpPr>
          <p:cNvPr id="38" name="Text 36"/>
          <p:cNvSpPr txBox="1"/>
          <p:nvPr/>
        </p:nvSpPr>
        <p:spPr>
          <a:xfrm>
            <a:off x="9913468" y="3081528"/>
            <a:ext cx="1638148" cy="274320"/>
          </a:xfrm>
          <a:prstGeom prst="rect">
            <a:avLst/>
          </a:prstGeom>
          <a:noFill/>
          <a:ln/>
        </p:spPr>
        <p:txBody>
          <a:bodyPr wrap="square" lIns="0" tIns="0" rIns="0" bIns="0" rtlCol="0" anchor="t"/>
          <a:lstStyle/>
          <a:p>
            <a:pPr indent="0" marL="0">
              <a:buNone/>
            </a:pPr>
            <a:r>
              <a:rPr lang="en-US" sz="1500" b="1" dirty="0">
                <a:solidFill>
                  <a:schemeClr val="bg1"/>
                </a:solidFill>
              </a:rPr>
              <a:t>Cleartext passwords</a:t>
            </a:r>
            <a:endParaRPr lang="en-US" sz="1500" dirty="0"/>
          </a:p>
        </p:txBody>
      </p:sp>
      <p:sp>
        <p:nvSpPr>
          <p:cNvPr id="39" name="Text 37"/>
          <p:cNvSpPr txBox="1"/>
          <p:nvPr/>
        </p:nvSpPr>
        <p:spPr>
          <a:xfrm>
            <a:off x="9913468" y="3355848"/>
            <a:ext cx="1638148" cy="228600"/>
          </a:xfrm>
          <a:prstGeom prst="rect">
            <a:avLst/>
          </a:prstGeom>
          <a:noFill/>
          <a:ln/>
        </p:spPr>
        <p:txBody>
          <a:bodyPr wrap="square" lIns="0" tIns="0" rIns="0" bIns="0" rtlCol="0" anchor="t"/>
          <a:lstStyle/>
          <a:p>
            <a:pPr indent="0" marL="0">
              <a:buNone/>
            </a:pPr>
            <a:r>
              <a:rPr lang="en-US" sz="1000" dirty="0">
                <a:solidFill>
                  <a:schemeClr val="bg2"/>
                </a:solidFill>
                <a:latin typeface="Courier New" pitchFamily="34" charset="0"/>
                <a:ea typeface="Courier New" pitchFamily="34" charset="-122"/>
                <a:cs typeface="Courier New" pitchFamily="34" charset="-120"/>
              </a:rPr>
              <a:t>detect_cleartext.py</a:t>
            </a:r>
            <a:endParaRPr lang="en-US" sz="1000" dirty="0"/>
          </a:p>
        </p:txBody>
      </p:sp>
      <p:sp>
        <p:nvSpPr>
          <p:cNvPr id="40" name="Job D5"/>
          <p:cNvSpPr/>
          <p:nvPr/>
        </p:nvSpPr>
        <p:spPr>
          <a:xfrm>
            <a:off x="6537960" y="3785616"/>
            <a:ext cx="2461108" cy="658368"/>
          </a:xfrm>
          <a:prstGeom prst="roundRect">
            <a:avLst>
              <a:gd name="adj" fmla="val 11111"/>
            </a:avLst>
          </a:prstGeom>
          <a:solidFill>
            <a:schemeClr val="tx2"/>
          </a:solidFill>
          <a:ln w="12700">
            <a:solidFill>
              <a:schemeClr val="accent3"/>
            </a:solidFill>
            <a:prstDash val="solid"/>
          </a:ln>
        </p:spPr>
      </p:sp>
      <p:sp>
        <p:nvSpPr>
          <p:cNvPr id="41" name="Text 39"/>
          <p:cNvSpPr txBox="1"/>
          <p:nvPr/>
        </p:nvSpPr>
        <p:spPr>
          <a:xfrm>
            <a:off x="6675120" y="3785616"/>
            <a:ext cx="502920" cy="658368"/>
          </a:xfrm>
          <a:prstGeom prst="rect">
            <a:avLst/>
          </a:prstGeom>
          <a:noFill/>
          <a:ln/>
        </p:spPr>
        <p:txBody>
          <a:bodyPr wrap="square" lIns="0" tIns="0" rIns="0" bIns="0" rtlCol="0" anchor="ctr"/>
          <a:lstStyle/>
          <a:p>
            <a:pPr algn="ctr" indent="0" marL="0">
              <a:buNone/>
            </a:pPr>
            <a:r>
              <a:rPr lang="en-US" sz="1800" b="1" dirty="0">
                <a:solidFill>
                  <a:schemeClr val="accent1"/>
                </a:solidFill>
                <a:latin typeface="Courier New" pitchFamily="34" charset="0"/>
                <a:ea typeface="Courier New" pitchFamily="34" charset="-122"/>
                <a:cs typeface="Courier New" pitchFamily="34" charset="-120"/>
              </a:rPr>
              <a:t>D5</a:t>
            </a:r>
            <a:endParaRPr lang="en-US" sz="1800" dirty="0"/>
          </a:p>
        </p:txBody>
      </p:sp>
      <p:sp>
        <p:nvSpPr>
          <p:cNvPr id="42" name="Text 40"/>
          <p:cNvSpPr txBox="1"/>
          <p:nvPr/>
        </p:nvSpPr>
        <p:spPr>
          <a:xfrm>
            <a:off x="7269480" y="3877056"/>
            <a:ext cx="1638148" cy="274320"/>
          </a:xfrm>
          <a:prstGeom prst="rect">
            <a:avLst/>
          </a:prstGeom>
          <a:noFill/>
          <a:ln/>
        </p:spPr>
        <p:txBody>
          <a:bodyPr wrap="square" lIns="0" tIns="0" rIns="0" bIns="0" rtlCol="0" anchor="t"/>
          <a:lstStyle/>
          <a:p>
            <a:pPr indent="0" marL="0">
              <a:buNone/>
            </a:pPr>
            <a:r>
              <a:rPr lang="en-US" sz="1500" b="1" dirty="0">
                <a:solidFill>
                  <a:schemeClr val="bg1"/>
                </a:solidFill>
              </a:rPr>
              <a:t>Malware ports</a:t>
            </a:r>
            <a:endParaRPr lang="en-US" sz="1500" dirty="0"/>
          </a:p>
        </p:txBody>
      </p:sp>
      <p:sp>
        <p:nvSpPr>
          <p:cNvPr id="43" name="Text 41"/>
          <p:cNvSpPr txBox="1"/>
          <p:nvPr/>
        </p:nvSpPr>
        <p:spPr>
          <a:xfrm>
            <a:off x="7269480" y="4151376"/>
            <a:ext cx="1638148" cy="228600"/>
          </a:xfrm>
          <a:prstGeom prst="rect">
            <a:avLst/>
          </a:prstGeom>
          <a:noFill/>
          <a:ln/>
        </p:spPr>
        <p:txBody>
          <a:bodyPr wrap="square" lIns="0" tIns="0" rIns="0" bIns="0" rtlCol="0" anchor="t"/>
          <a:lstStyle/>
          <a:p>
            <a:pPr indent="0" marL="0">
              <a:buNone/>
            </a:pPr>
            <a:r>
              <a:rPr lang="en-US" sz="1000" dirty="0">
                <a:solidFill>
                  <a:schemeClr val="bg2"/>
                </a:solidFill>
                <a:latin typeface="Courier New" pitchFamily="34" charset="0"/>
                <a:ea typeface="Courier New" pitchFamily="34" charset="-122"/>
                <a:cs typeface="Courier New" pitchFamily="34" charset="-120"/>
              </a:rPr>
              <a:t>detect_ports.py</a:t>
            </a:r>
            <a:endParaRPr lang="en-US" sz="1000" dirty="0"/>
          </a:p>
        </p:txBody>
      </p:sp>
      <p:sp>
        <p:nvSpPr>
          <p:cNvPr id="44" name="Job A"/>
          <p:cNvSpPr/>
          <p:nvPr/>
        </p:nvSpPr>
        <p:spPr>
          <a:xfrm>
            <a:off x="9181948" y="3785616"/>
            <a:ext cx="2461108" cy="658368"/>
          </a:xfrm>
          <a:prstGeom prst="roundRect">
            <a:avLst>
              <a:gd name="adj" fmla="val 11111"/>
            </a:avLst>
          </a:prstGeom>
          <a:solidFill>
            <a:schemeClr val="tx2"/>
          </a:solidFill>
          <a:ln w="12700">
            <a:solidFill>
              <a:schemeClr val="accent3"/>
            </a:solidFill>
            <a:prstDash val="solid"/>
          </a:ln>
        </p:spPr>
      </p:sp>
      <p:sp>
        <p:nvSpPr>
          <p:cNvPr id="45" name="Text 43"/>
          <p:cNvSpPr txBox="1"/>
          <p:nvPr/>
        </p:nvSpPr>
        <p:spPr>
          <a:xfrm>
            <a:off x="9319108" y="3785616"/>
            <a:ext cx="502920" cy="658368"/>
          </a:xfrm>
          <a:prstGeom prst="rect">
            <a:avLst/>
          </a:prstGeom>
          <a:noFill/>
          <a:ln/>
        </p:spPr>
        <p:txBody>
          <a:bodyPr wrap="square" lIns="0" tIns="0" rIns="0" bIns="0" rtlCol="0" anchor="ctr"/>
          <a:lstStyle/>
          <a:p>
            <a:pPr algn="ctr" indent="0" marL="0">
              <a:buNone/>
            </a:pPr>
            <a:r>
              <a:rPr lang="en-US" sz="1800" b="1" dirty="0">
                <a:solidFill>
                  <a:schemeClr val="accent1"/>
                </a:solidFill>
                <a:latin typeface="Courier New" pitchFamily="34" charset="0"/>
                <a:ea typeface="Courier New" pitchFamily="34" charset="-122"/>
                <a:cs typeface="Courier New" pitchFamily="34" charset="-120"/>
              </a:rPr>
              <a:t>A</a:t>
            </a:r>
            <a:endParaRPr lang="en-US" sz="1800" dirty="0"/>
          </a:p>
        </p:txBody>
      </p:sp>
      <p:sp>
        <p:nvSpPr>
          <p:cNvPr id="46" name="Text 44"/>
          <p:cNvSpPr txBox="1"/>
          <p:nvPr/>
        </p:nvSpPr>
        <p:spPr>
          <a:xfrm>
            <a:off x="9913468" y="3877056"/>
            <a:ext cx="1638148" cy="274320"/>
          </a:xfrm>
          <a:prstGeom prst="rect">
            <a:avLst/>
          </a:prstGeom>
          <a:noFill/>
          <a:ln/>
        </p:spPr>
        <p:txBody>
          <a:bodyPr wrap="square" lIns="0" tIns="0" rIns="0" bIns="0" rtlCol="0" anchor="t"/>
          <a:lstStyle/>
          <a:p>
            <a:pPr indent="0" marL="0">
              <a:buNone/>
            </a:pPr>
            <a:r>
              <a:rPr lang="en-US" sz="1500" b="1" dirty="0">
                <a:solidFill>
                  <a:schemeClr val="bg1"/>
                </a:solidFill>
              </a:rPr>
              <a:t>Joins it all together</a:t>
            </a:r>
            <a:endParaRPr lang="en-US" sz="1500" dirty="0"/>
          </a:p>
        </p:txBody>
      </p:sp>
      <p:sp>
        <p:nvSpPr>
          <p:cNvPr id="47" name="Text 45"/>
          <p:cNvSpPr txBox="1"/>
          <p:nvPr/>
        </p:nvSpPr>
        <p:spPr>
          <a:xfrm>
            <a:off x="9913468" y="4151376"/>
            <a:ext cx="1638148" cy="228600"/>
          </a:xfrm>
          <a:prstGeom prst="rect">
            <a:avLst/>
          </a:prstGeom>
          <a:noFill/>
          <a:ln/>
        </p:spPr>
        <p:txBody>
          <a:bodyPr wrap="square" lIns="0" tIns="0" rIns="0" bIns="0" rtlCol="0" anchor="t"/>
          <a:lstStyle/>
          <a:p>
            <a:pPr indent="0" marL="0">
              <a:buNone/>
            </a:pPr>
            <a:r>
              <a:rPr lang="en-US" sz="1000" dirty="0">
                <a:solidFill>
                  <a:schemeClr val="bg2"/>
                </a:solidFill>
                <a:latin typeface="Courier New" pitchFamily="34" charset="0"/>
                <a:ea typeface="Courier New" pitchFamily="34" charset="-122"/>
                <a:cs typeface="Courier New" pitchFamily="34" charset="-120"/>
              </a:rPr>
              <a:t>analyzer.py</a:t>
            </a:r>
            <a:endParaRPr lang="en-US" sz="1000" dirty="0"/>
          </a:p>
        </p:txBody>
      </p:sp>
      <p:sp>
        <p:nvSpPr>
          <p:cNvPr id="48" name="Job W"/>
          <p:cNvSpPr/>
          <p:nvPr/>
        </p:nvSpPr>
        <p:spPr>
          <a:xfrm>
            <a:off x="6537960" y="4581144"/>
            <a:ext cx="2461108" cy="658368"/>
          </a:xfrm>
          <a:prstGeom prst="roundRect">
            <a:avLst>
              <a:gd name="adj" fmla="val 11111"/>
            </a:avLst>
          </a:prstGeom>
          <a:solidFill>
            <a:schemeClr val="tx2"/>
          </a:solidFill>
          <a:ln w="12700">
            <a:solidFill>
              <a:schemeClr val="accent2"/>
            </a:solidFill>
            <a:prstDash val="solid"/>
          </a:ln>
        </p:spPr>
      </p:sp>
      <p:sp>
        <p:nvSpPr>
          <p:cNvPr id="49" name="Text 47"/>
          <p:cNvSpPr txBox="1"/>
          <p:nvPr/>
        </p:nvSpPr>
        <p:spPr>
          <a:xfrm>
            <a:off x="6675120" y="4581144"/>
            <a:ext cx="502920" cy="658368"/>
          </a:xfrm>
          <a:prstGeom prst="rect">
            <a:avLst/>
          </a:prstGeom>
          <a:noFill/>
          <a:ln/>
        </p:spPr>
        <p:txBody>
          <a:bodyPr wrap="square" lIns="0" tIns="0" rIns="0" bIns="0" rtlCol="0" anchor="ctr"/>
          <a:lstStyle/>
          <a:p>
            <a:pPr algn="ctr" indent="0" marL="0">
              <a:buNone/>
            </a:pPr>
            <a:r>
              <a:rPr lang="en-US" sz="1800" b="1" dirty="0">
                <a:solidFill>
                  <a:schemeClr val="accent2"/>
                </a:solidFill>
                <a:latin typeface="Courier New" pitchFamily="34" charset="0"/>
                <a:ea typeface="Courier New" pitchFamily="34" charset="-122"/>
                <a:cs typeface="Courier New" pitchFamily="34" charset="-120"/>
              </a:rPr>
              <a:t>W</a:t>
            </a:r>
            <a:endParaRPr lang="en-US" sz="1800" dirty="0"/>
          </a:p>
        </p:txBody>
      </p:sp>
      <p:sp>
        <p:nvSpPr>
          <p:cNvPr id="50" name="Text 48"/>
          <p:cNvSpPr txBox="1"/>
          <p:nvPr/>
        </p:nvSpPr>
        <p:spPr>
          <a:xfrm>
            <a:off x="7269480" y="4672584"/>
            <a:ext cx="1638148" cy="274320"/>
          </a:xfrm>
          <a:prstGeom prst="rect">
            <a:avLst/>
          </a:prstGeom>
          <a:noFill/>
          <a:ln/>
        </p:spPr>
        <p:txBody>
          <a:bodyPr wrap="square" lIns="0" tIns="0" rIns="0" bIns="0" rtlCol="0" anchor="t"/>
          <a:lstStyle/>
          <a:p>
            <a:pPr indent="0" marL="0">
              <a:buNone/>
            </a:pPr>
            <a:r>
              <a:rPr lang="en-US" sz="1500" b="1" dirty="0">
                <a:solidFill>
                  <a:schemeClr val="bg1"/>
                </a:solidFill>
              </a:rPr>
              <a:t>The web dashboard</a:t>
            </a:r>
            <a:endParaRPr lang="en-US" sz="1500" dirty="0"/>
          </a:p>
        </p:txBody>
      </p:sp>
      <p:sp>
        <p:nvSpPr>
          <p:cNvPr id="51" name="Text 49"/>
          <p:cNvSpPr txBox="1"/>
          <p:nvPr/>
        </p:nvSpPr>
        <p:spPr>
          <a:xfrm>
            <a:off x="7269480" y="4946904"/>
            <a:ext cx="1638148" cy="228600"/>
          </a:xfrm>
          <a:prstGeom prst="rect">
            <a:avLst/>
          </a:prstGeom>
          <a:noFill/>
          <a:ln/>
        </p:spPr>
        <p:txBody>
          <a:bodyPr wrap="square" lIns="0" tIns="0" rIns="0" bIns="0" rtlCol="0" anchor="t"/>
          <a:lstStyle/>
          <a:p>
            <a:pPr indent="0" marL="0">
              <a:buNone/>
            </a:pPr>
            <a:r>
              <a:rPr lang="en-US" sz="1000" dirty="0">
                <a:solidFill>
                  <a:schemeClr val="bg2"/>
                </a:solidFill>
                <a:latin typeface="Courier New" pitchFamily="34" charset="0"/>
                <a:ea typeface="Courier New" pitchFamily="34" charset="-122"/>
                <a:cs typeface="Courier New" pitchFamily="34" charset="-120"/>
              </a:rPr>
              <a:t>web/index.html</a:t>
            </a:r>
            <a:endParaRPr lang="en-US" sz="1000" dirty="0"/>
          </a:p>
        </p:txBody>
      </p:sp>
      <p:sp>
        <p:nvSpPr>
          <p:cNvPr id="52" name="Text 50"/>
          <p:cNvSpPr txBox="1"/>
          <p:nvPr/>
        </p:nvSpPr>
        <p:spPr>
          <a:xfrm>
            <a:off x="9273388" y="4581144"/>
            <a:ext cx="2369668" cy="658368"/>
          </a:xfrm>
          <a:prstGeom prst="rect">
            <a:avLst/>
          </a:prstGeom>
          <a:noFill/>
          <a:ln/>
        </p:spPr>
        <p:txBody>
          <a:bodyPr wrap="square" lIns="0" tIns="0" rIns="0" bIns="0" rtlCol="0" anchor="ctr"/>
          <a:lstStyle/>
          <a:p>
            <a:pPr indent="0" marL="0">
              <a:buNone/>
            </a:pPr>
            <a:r>
              <a:rPr lang="en-US" sz="1500" b="1" dirty="0">
                <a:solidFill>
                  <a:schemeClr val="accent4"/>
                </a:solidFill>
              </a:rPr>
              <a:t>Solo? </a:t>
            </a:r>
            <a:pPr indent="0" marL="0">
              <a:buNone/>
            </a:pPr>
            <a:r>
              <a:rPr lang="en-US" sz="1500" dirty="0">
                <a:solidFill>
                  <a:schemeClr val="bg1"/>
                </a:solidFill>
              </a:rPr>
              <a:t>Take every job.</a:t>
            </a:r>
            <a:endParaRPr lang="en-US" sz="1500" dirty="0"/>
          </a:p>
        </p:txBody>
      </p:sp>
      <p:sp>
        <p:nvSpPr>
          <p:cNvPr id="53" name="Text 51"/>
          <p:cNvSpPr txBox="1"/>
          <p:nvPr/>
        </p:nvSpPr>
        <p:spPr>
          <a:xfrm>
            <a:off x="6537960" y="5440680"/>
            <a:ext cx="5105095" cy="548640"/>
          </a:xfrm>
          <a:prstGeom prst="rect">
            <a:avLst/>
          </a:prstGeom>
          <a:noFill/>
          <a:ln/>
        </p:spPr>
        <p:txBody>
          <a:bodyPr wrap="square" lIns="0" tIns="0" rIns="0" bIns="0" rtlCol="0" anchor="ctr"/>
          <a:lstStyle/>
          <a:p>
            <a:pPr indent="0" marL="0">
              <a:buNone/>
            </a:pPr>
            <a:r>
              <a:rPr lang="en-US" sz="1500" b="1" dirty="0">
                <a:solidFill>
                  <a:schemeClr val="accent2"/>
                </a:solidFill>
              </a:rPr>
              <a:t>Only edit your own file: </a:t>
            </a:r>
            <a:pPr indent="0" marL="0">
              <a:buNone/>
            </a:pPr>
            <a:r>
              <a:rPr lang="en-US" sz="1500" dirty="0">
                <a:solidFill>
                  <a:schemeClr val="bg1"/>
                </a:solidFill>
              </a:rPr>
              <a:t>no clashes. Leave ready_made/ alone.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latin typeface="Courier New"/>
                <a:ea typeface="Courier New"/>
                <a:cs typeface="Courier New"/>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347472"/>
            <a:ext cx="8229600" cy="292608"/>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 04  THE MISSION</a:t>
            </a:r>
            <a:endParaRPr lang="en-US" sz="1300" dirty="0"/>
          </a:p>
        </p:txBody>
      </p:sp>
      <p:sp>
        <p:nvSpPr>
          <p:cNvPr id="3" name="Text 1"/>
          <p:cNvSpPr/>
          <p:nvPr>
            <p:ph idx="102" type="title" hasCustomPrompt="1"/>
          </p:nvPr>
        </p:nvSpPr>
        <p:spPr>
          <a:xfrm>
            <a:off x="548640" y="658368"/>
            <a:ext cx="9418320" cy="685800"/>
          </a:xfrm>
          <a:prstGeom prst="rect">
            <a:avLst/>
          </a:prstGeom>
          <a:noFill/>
          <a:ln/>
        </p:spPr>
        <p:txBody>
          <a:bodyPr wrap="square" lIns="0" tIns="0" rIns="0" bIns="0" rtlCol="0" anchor="ctr"/>
          <a:lstStyle/>
          <a:p>
            <a:pPr algn="l" indent="0" marL="0">
              <a:buNone/>
            </a:pPr>
            <a:r>
              <a:rPr lang="en-US" sz="3400" b="1" dirty="0">
                <a:solidFill>
                  <a:schemeClr val="bg1"/>
                </a:solidFill>
                <a:latin typeface="Calibri" pitchFamily="34" charset="0"/>
                <a:ea typeface="Calibri" pitchFamily="34" charset="-122"/>
                <a:cs typeface="Calibri" pitchFamily="34" charset="-120"/>
              </a:rPr>
              <a:t>Good luck and have fun!</a:t>
            </a:r>
            <a:endParaRPr lang="en-US" sz="3400" dirty="0"/>
          </a:p>
        </p:txBody>
      </p:sp>
      <p:sp>
        <p:nvSpPr>
          <p:cNvPr id="4" name="Pipeline Upload"/>
          <p:cNvSpPr/>
          <p:nvPr/>
        </p:nvSpPr>
        <p:spPr>
          <a:xfrm>
            <a:off x="548640" y="1737360"/>
            <a:ext cx="1828800" cy="960120"/>
          </a:xfrm>
          <a:prstGeom prst="roundRect">
            <a:avLst>
              <a:gd name="adj" fmla="val 7619"/>
            </a:avLst>
          </a:prstGeom>
          <a:solidFill>
            <a:schemeClr val="accent3"/>
          </a:solidFill>
          <a:ln w="12700">
            <a:solidFill>
              <a:schemeClr val="accent1"/>
            </a:solidFill>
            <a:prstDash val="solid"/>
          </a:ln>
        </p:spPr>
      </p:sp>
      <p:sp>
        <p:nvSpPr>
          <p:cNvPr id="5" name="Text 3"/>
          <p:cNvSpPr txBox="1"/>
          <p:nvPr/>
        </p:nvSpPr>
        <p:spPr>
          <a:xfrm>
            <a:off x="548640" y="1828800"/>
            <a:ext cx="1828800" cy="411480"/>
          </a:xfrm>
          <a:prstGeom prst="rect">
            <a:avLst/>
          </a:prstGeom>
          <a:noFill/>
          <a:ln/>
        </p:spPr>
        <p:txBody>
          <a:bodyPr wrap="square" lIns="0" tIns="0" rIns="0" bIns="0" rtlCol="0" anchor="t"/>
          <a:lstStyle/>
          <a:p>
            <a:pPr algn="ctr" indent="0" marL="0">
              <a:buNone/>
            </a:pPr>
            <a:r>
              <a:rPr lang="en-US" sz="1800" b="1" dirty="0">
                <a:solidFill>
                  <a:schemeClr val="bg1"/>
                </a:solidFill>
                <a:latin typeface="Calibri" pitchFamily="34" charset="0"/>
                <a:ea typeface="Calibri" pitchFamily="34" charset="-122"/>
                <a:cs typeface="Calibri" pitchFamily="34" charset="-120"/>
              </a:rPr>
              <a:t>Upload</a:t>
            </a:r>
            <a:endParaRPr lang="en-US" sz="1800" dirty="0"/>
          </a:p>
        </p:txBody>
      </p:sp>
      <p:sp>
        <p:nvSpPr>
          <p:cNvPr id="6" name="Text 4"/>
          <p:cNvSpPr txBox="1"/>
          <p:nvPr/>
        </p:nvSpPr>
        <p:spPr>
          <a:xfrm>
            <a:off x="548640" y="2240280"/>
            <a:ext cx="1828800" cy="320040"/>
          </a:xfrm>
          <a:prstGeom prst="rect">
            <a:avLst/>
          </a:prstGeom>
          <a:noFill/>
          <a:ln/>
        </p:spPr>
        <p:txBody>
          <a:bodyPr wrap="square" lIns="0" tIns="0" rIns="0" bIns="0" rtlCol="0" anchor="t"/>
          <a:lstStyle/>
          <a:p>
            <a:pPr algn="ctr" indent="0" marL="0">
              <a:buNone/>
            </a:pPr>
            <a:r>
              <a:rPr lang="en-US" sz="1300" dirty="0">
                <a:solidFill>
                  <a:schemeClr val="bg1"/>
                </a:solidFill>
              </a:rPr>
              <a:t>.pcap file</a:t>
            </a:r>
            <a:endParaRPr lang="en-US" sz="1300" dirty="0"/>
          </a:p>
        </p:txBody>
      </p:sp>
      <p:sp>
        <p:nvSpPr>
          <p:cNvPr id="7" name="Shape 5"/>
          <p:cNvSpPr/>
          <p:nvPr/>
        </p:nvSpPr>
        <p:spPr>
          <a:xfrm>
            <a:off x="2432304" y="2212848"/>
            <a:ext cx="377876" cy="0"/>
          </a:xfrm>
          <a:prstGeom prst="line">
            <a:avLst/>
          </a:prstGeom>
          <a:noFill/>
          <a:ln w="19050">
            <a:solidFill>
              <a:schemeClr val="bg2"/>
            </a:solidFill>
            <a:prstDash val="solid"/>
            <a:tailEnd type="triangle"/>
          </a:ln>
        </p:spPr>
      </p:sp>
      <p:sp>
        <p:nvSpPr>
          <p:cNvPr id="8" name="Pipeline reader.py"/>
          <p:cNvSpPr/>
          <p:nvPr/>
        </p:nvSpPr>
        <p:spPr>
          <a:xfrm>
            <a:off x="2865044" y="1737360"/>
            <a:ext cx="1828800" cy="960120"/>
          </a:xfrm>
          <a:prstGeom prst="roundRect">
            <a:avLst>
              <a:gd name="adj" fmla="val 7619"/>
            </a:avLst>
          </a:prstGeom>
          <a:solidFill>
            <a:schemeClr val="accent3"/>
          </a:solidFill>
          <a:ln w="12700">
            <a:solidFill>
              <a:schemeClr val="accent1"/>
            </a:solidFill>
            <a:prstDash val="solid"/>
          </a:ln>
        </p:spPr>
      </p:sp>
      <p:sp>
        <p:nvSpPr>
          <p:cNvPr id="9" name="Text 7"/>
          <p:cNvSpPr txBox="1"/>
          <p:nvPr/>
        </p:nvSpPr>
        <p:spPr>
          <a:xfrm>
            <a:off x="2865044" y="1828800"/>
            <a:ext cx="1828800" cy="411480"/>
          </a:xfrm>
          <a:prstGeom prst="rect">
            <a:avLst/>
          </a:prstGeom>
          <a:noFill/>
          <a:ln/>
        </p:spPr>
        <p:txBody>
          <a:bodyPr wrap="square" lIns="0" tIns="0" rIns="0" bIns="0" rtlCol="0" anchor="t"/>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reader.py</a:t>
            </a:r>
            <a:endParaRPr lang="en-US" sz="1800" dirty="0"/>
          </a:p>
        </p:txBody>
      </p:sp>
      <p:sp>
        <p:nvSpPr>
          <p:cNvPr id="10" name="Text 8"/>
          <p:cNvSpPr txBox="1"/>
          <p:nvPr/>
        </p:nvSpPr>
        <p:spPr>
          <a:xfrm>
            <a:off x="2865044" y="2240280"/>
            <a:ext cx="1828800" cy="320040"/>
          </a:xfrm>
          <a:prstGeom prst="rect">
            <a:avLst/>
          </a:prstGeom>
          <a:noFill/>
          <a:ln/>
        </p:spPr>
        <p:txBody>
          <a:bodyPr wrap="square" lIns="0" tIns="0" rIns="0" bIns="0" rtlCol="0" anchor="t"/>
          <a:lstStyle/>
          <a:p>
            <a:pPr algn="ctr" indent="0" marL="0">
              <a:buNone/>
            </a:pPr>
            <a:r>
              <a:rPr lang="en-US" sz="1300" dirty="0">
                <a:solidFill>
                  <a:schemeClr val="bg1"/>
                </a:solidFill>
              </a:rPr>
              <a:t>ready-made</a:t>
            </a:r>
            <a:endParaRPr lang="en-US" sz="1300" dirty="0"/>
          </a:p>
        </p:txBody>
      </p:sp>
      <p:sp>
        <p:nvSpPr>
          <p:cNvPr id="11" name="Shape 9"/>
          <p:cNvSpPr/>
          <p:nvPr/>
        </p:nvSpPr>
        <p:spPr>
          <a:xfrm>
            <a:off x="4748708" y="2212848"/>
            <a:ext cx="377876" cy="0"/>
          </a:xfrm>
          <a:prstGeom prst="line">
            <a:avLst/>
          </a:prstGeom>
          <a:noFill/>
          <a:ln w="19050">
            <a:solidFill>
              <a:schemeClr val="bg2"/>
            </a:solidFill>
            <a:prstDash val="solid"/>
            <a:tailEnd type="triangle"/>
          </a:ln>
        </p:spPr>
      </p:sp>
      <p:sp>
        <p:nvSpPr>
          <p:cNvPr id="12" name="Pipeline D1 – D5"/>
          <p:cNvSpPr/>
          <p:nvPr/>
        </p:nvSpPr>
        <p:spPr>
          <a:xfrm>
            <a:off x="5181448" y="1737360"/>
            <a:ext cx="1828800" cy="960120"/>
          </a:xfrm>
          <a:prstGeom prst="roundRect">
            <a:avLst>
              <a:gd name="adj" fmla="val 7619"/>
            </a:avLst>
          </a:prstGeom>
          <a:solidFill>
            <a:schemeClr val="accent1"/>
          </a:solidFill>
          <a:ln w="12700">
            <a:solidFill>
              <a:schemeClr val="accent1"/>
            </a:solidFill>
            <a:prstDash val="solid"/>
          </a:ln>
        </p:spPr>
      </p:sp>
      <p:sp>
        <p:nvSpPr>
          <p:cNvPr id="13" name="Text 11"/>
          <p:cNvSpPr txBox="1"/>
          <p:nvPr/>
        </p:nvSpPr>
        <p:spPr>
          <a:xfrm>
            <a:off x="5181448" y="1828800"/>
            <a:ext cx="1828800" cy="411480"/>
          </a:xfrm>
          <a:prstGeom prst="rect">
            <a:avLst/>
          </a:prstGeom>
          <a:noFill/>
          <a:ln/>
        </p:spPr>
        <p:txBody>
          <a:bodyPr wrap="square" lIns="0" tIns="0" rIns="0" bIns="0" rtlCol="0" anchor="t"/>
          <a:lstStyle/>
          <a:p>
            <a:pPr algn="ctr" indent="0" marL="0">
              <a:buNone/>
            </a:pPr>
            <a:r>
              <a:rPr lang="en-US" sz="1800" b="1" dirty="0">
                <a:solidFill>
                  <a:schemeClr val="tx1"/>
                </a:solidFill>
                <a:latin typeface="Calibri" pitchFamily="34" charset="0"/>
                <a:ea typeface="Calibri" pitchFamily="34" charset="-122"/>
                <a:cs typeface="Calibri" pitchFamily="34" charset="-120"/>
              </a:rPr>
              <a:t>D1 – D5</a:t>
            </a:r>
            <a:endParaRPr lang="en-US" sz="1800" dirty="0"/>
          </a:p>
        </p:txBody>
      </p:sp>
      <p:sp>
        <p:nvSpPr>
          <p:cNvPr id="14" name="Text 12"/>
          <p:cNvSpPr txBox="1"/>
          <p:nvPr/>
        </p:nvSpPr>
        <p:spPr>
          <a:xfrm>
            <a:off x="5181448" y="2240280"/>
            <a:ext cx="1828800" cy="320040"/>
          </a:xfrm>
          <a:prstGeom prst="rect">
            <a:avLst/>
          </a:prstGeom>
          <a:noFill/>
          <a:ln/>
        </p:spPr>
        <p:txBody>
          <a:bodyPr wrap="square" lIns="0" tIns="0" rIns="0" bIns="0" rtlCol="0" anchor="t"/>
          <a:lstStyle/>
          <a:p>
            <a:pPr algn="ctr" indent="0" marL="0">
              <a:buNone/>
            </a:pPr>
            <a:r>
              <a:rPr lang="en-US" sz="1300" dirty="0">
                <a:solidFill>
                  <a:schemeClr val="tx1"/>
                </a:solidFill>
              </a:rPr>
              <a:t>5 detectors</a:t>
            </a:r>
            <a:endParaRPr lang="en-US" sz="1300" dirty="0"/>
          </a:p>
        </p:txBody>
      </p:sp>
      <p:sp>
        <p:nvSpPr>
          <p:cNvPr id="15" name="Shape 13"/>
          <p:cNvSpPr/>
          <p:nvPr/>
        </p:nvSpPr>
        <p:spPr>
          <a:xfrm>
            <a:off x="7065112" y="2212848"/>
            <a:ext cx="377876" cy="0"/>
          </a:xfrm>
          <a:prstGeom prst="line">
            <a:avLst/>
          </a:prstGeom>
          <a:noFill/>
          <a:ln w="19050">
            <a:solidFill>
              <a:schemeClr val="bg2"/>
            </a:solidFill>
            <a:prstDash val="solid"/>
            <a:tailEnd type="triangle"/>
          </a:ln>
        </p:spPr>
      </p:sp>
      <p:sp>
        <p:nvSpPr>
          <p:cNvPr id="16" name="Pipeline analyzer.py"/>
          <p:cNvSpPr/>
          <p:nvPr/>
        </p:nvSpPr>
        <p:spPr>
          <a:xfrm>
            <a:off x="7497851" y="1737360"/>
            <a:ext cx="1828800" cy="960120"/>
          </a:xfrm>
          <a:prstGeom prst="roundRect">
            <a:avLst>
              <a:gd name="adj" fmla="val 7619"/>
            </a:avLst>
          </a:prstGeom>
          <a:solidFill>
            <a:schemeClr val="accent1"/>
          </a:solidFill>
          <a:ln w="12700">
            <a:solidFill>
              <a:schemeClr val="accent1"/>
            </a:solidFill>
            <a:prstDash val="solid"/>
          </a:ln>
        </p:spPr>
      </p:sp>
      <p:sp>
        <p:nvSpPr>
          <p:cNvPr id="17" name="Text 15"/>
          <p:cNvSpPr txBox="1"/>
          <p:nvPr/>
        </p:nvSpPr>
        <p:spPr>
          <a:xfrm>
            <a:off x="7497851" y="1828800"/>
            <a:ext cx="1828800" cy="411480"/>
          </a:xfrm>
          <a:prstGeom prst="rect">
            <a:avLst/>
          </a:prstGeom>
          <a:noFill/>
          <a:ln/>
        </p:spPr>
        <p:txBody>
          <a:bodyPr wrap="square" lIns="0" tIns="0" rIns="0" bIns="0" rtlCol="0" anchor="t"/>
          <a:lstStyle/>
          <a:p>
            <a:pPr algn="ctr" indent="0" marL="0">
              <a:buNone/>
            </a:pPr>
            <a:r>
              <a:rPr lang="en-US" sz="1800" b="1" dirty="0">
                <a:solidFill>
                  <a:schemeClr val="tx1"/>
                </a:solidFill>
                <a:latin typeface="Courier New" pitchFamily="34" charset="0"/>
                <a:ea typeface="Courier New" pitchFamily="34" charset="-122"/>
                <a:cs typeface="Courier New" pitchFamily="34" charset="-120"/>
              </a:rPr>
              <a:t>analyzer.py</a:t>
            </a:r>
            <a:endParaRPr lang="en-US" sz="1800" dirty="0"/>
          </a:p>
        </p:txBody>
      </p:sp>
      <p:sp>
        <p:nvSpPr>
          <p:cNvPr id="18" name="Text 16"/>
          <p:cNvSpPr txBox="1"/>
          <p:nvPr/>
        </p:nvSpPr>
        <p:spPr>
          <a:xfrm>
            <a:off x="7497851" y="2240280"/>
            <a:ext cx="1828800" cy="320040"/>
          </a:xfrm>
          <a:prstGeom prst="rect">
            <a:avLst/>
          </a:prstGeom>
          <a:noFill/>
          <a:ln/>
        </p:spPr>
        <p:txBody>
          <a:bodyPr wrap="square" lIns="0" tIns="0" rIns="0" bIns="0" rtlCol="0" anchor="t"/>
          <a:lstStyle/>
          <a:p>
            <a:pPr algn="ctr" indent="0" marL="0">
              <a:buNone/>
            </a:pPr>
            <a:r>
              <a:rPr lang="en-US" sz="1300" dirty="0">
                <a:solidFill>
                  <a:schemeClr val="tx1"/>
                </a:solidFill>
              </a:rPr>
              <a:t>alerts + risk score</a:t>
            </a:r>
            <a:endParaRPr lang="en-US" sz="1300" dirty="0"/>
          </a:p>
        </p:txBody>
      </p:sp>
      <p:sp>
        <p:nvSpPr>
          <p:cNvPr id="19" name="Shape 17"/>
          <p:cNvSpPr/>
          <p:nvPr/>
        </p:nvSpPr>
        <p:spPr>
          <a:xfrm>
            <a:off x="9381515" y="2212848"/>
            <a:ext cx="377876" cy="0"/>
          </a:xfrm>
          <a:prstGeom prst="line">
            <a:avLst/>
          </a:prstGeom>
          <a:noFill/>
          <a:ln w="19050">
            <a:solidFill>
              <a:schemeClr val="bg2"/>
            </a:solidFill>
            <a:prstDash val="solid"/>
            <a:tailEnd type="triangle"/>
          </a:ln>
        </p:spPr>
      </p:sp>
      <p:sp>
        <p:nvSpPr>
          <p:cNvPr id="20" name="Pipeline Dashboard"/>
          <p:cNvSpPr/>
          <p:nvPr/>
        </p:nvSpPr>
        <p:spPr>
          <a:xfrm>
            <a:off x="9814255" y="1737360"/>
            <a:ext cx="1828800" cy="960120"/>
          </a:xfrm>
          <a:prstGeom prst="roundRect">
            <a:avLst>
              <a:gd name="adj" fmla="val 7619"/>
            </a:avLst>
          </a:prstGeom>
          <a:solidFill>
            <a:schemeClr val="accent2"/>
          </a:solidFill>
          <a:ln w="12700">
            <a:solidFill>
              <a:schemeClr val="accent2"/>
            </a:solidFill>
            <a:prstDash val="solid"/>
          </a:ln>
        </p:spPr>
      </p:sp>
      <p:sp>
        <p:nvSpPr>
          <p:cNvPr id="21" name="Text 19"/>
          <p:cNvSpPr txBox="1"/>
          <p:nvPr/>
        </p:nvSpPr>
        <p:spPr>
          <a:xfrm>
            <a:off x="9814255" y="1828800"/>
            <a:ext cx="1828800" cy="411480"/>
          </a:xfrm>
          <a:prstGeom prst="rect">
            <a:avLst/>
          </a:prstGeom>
          <a:noFill/>
          <a:ln/>
        </p:spPr>
        <p:txBody>
          <a:bodyPr wrap="square" lIns="0" tIns="0" rIns="0" bIns="0" rtlCol="0" anchor="t"/>
          <a:lstStyle/>
          <a:p>
            <a:pPr algn="ctr" indent="0" marL="0">
              <a:buNone/>
            </a:pPr>
            <a:r>
              <a:rPr lang="en-US" sz="1800" b="1" dirty="0">
                <a:solidFill>
                  <a:schemeClr val="tx1"/>
                </a:solidFill>
                <a:latin typeface="Calibri" pitchFamily="34" charset="0"/>
                <a:ea typeface="Calibri" pitchFamily="34" charset="-122"/>
                <a:cs typeface="Calibri" pitchFamily="34" charset="-120"/>
              </a:rPr>
              <a:t>Dashboard</a:t>
            </a:r>
            <a:endParaRPr lang="en-US" sz="1800" dirty="0"/>
          </a:p>
        </p:txBody>
      </p:sp>
      <p:sp>
        <p:nvSpPr>
          <p:cNvPr id="22" name="Text 20"/>
          <p:cNvSpPr txBox="1"/>
          <p:nvPr/>
        </p:nvSpPr>
        <p:spPr>
          <a:xfrm>
            <a:off x="9814255" y="2240280"/>
            <a:ext cx="1828800" cy="320040"/>
          </a:xfrm>
          <a:prstGeom prst="rect">
            <a:avLst/>
          </a:prstGeom>
          <a:noFill/>
          <a:ln/>
        </p:spPr>
        <p:txBody>
          <a:bodyPr wrap="square" lIns="0" tIns="0" rIns="0" bIns="0" rtlCol="0" anchor="t"/>
          <a:lstStyle/>
          <a:p>
            <a:pPr algn="ctr" indent="0" marL="0">
              <a:buNone/>
            </a:pPr>
            <a:r>
              <a:rPr lang="en-US" sz="1300" dirty="0">
                <a:solidFill>
                  <a:schemeClr val="tx1"/>
                </a:solidFill>
              </a:rPr>
              <a:t>web/index.html</a:t>
            </a:r>
            <a:endParaRPr lang="en-US" sz="1300" dirty="0"/>
          </a:p>
        </p:txBody>
      </p:sp>
      <p:sp>
        <p:nvSpPr>
          <p:cNvPr id="23" name="Build &amp; test"/>
          <p:cNvSpPr/>
          <p:nvPr/>
        </p:nvSpPr>
        <p:spPr>
          <a:xfrm>
            <a:off x="548640" y="3063240"/>
            <a:ext cx="3520440" cy="2971800"/>
          </a:xfrm>
          <a:prstGeom prst="roundRect">
            <a:avLst>
              <a:gd name="adj" fmla="val 2462"/>
            </a:avLst>
          </a:prstGeom>
          <a:solidFill>
            <a:schemeClr val="tx2"/>
          </a:solidFill>
          <a:ln w="12700">
            <a:solidFill>
              <a:schemeClr val="accent3"/>
            </a:solidFill>
            <a:prstDash val="solid"/>
          </a:ln>
        </p:spPr>
      </p:sp>
      <p:pic>
        <p:nvPicPr>
          <p:cNvPr id="24" name="Image 0" descr="preencoded.png">    </p:cNvPr>
          <p:cNvPicPr>
            <a:picLocks noChangeAspect="1"/>
          </p:cNvPicPr>
          <p:nvPr/>
        </p:nvPicPr>
        <p:blipFill>
          <a:blip r:embed="rId1"/>
          <a:stretch>
            <a:fillRect/>
          </a:stretch>
        </p:blipFill>
        <p:spPr>
          <a:xfrm>
            <a:off x="822960" y="3310128"/>
            <a:ext cx="347472" cy="347472"/>
          </a:xfrm>
          <a:prstGeom prst="rect">
            <a:avLst/>
          </a:prstGeom>
        </p:spPr>
      </p:pic>
      <p:sp>
        <p:nvSpPr>
          <p:cNvPr id="25" name="Text 22"/>
          <p:cNvSpPr txBox="1"/>
          <p:nvPr/>
        </p:nvSpPr>
        <p:spPr>
          <a:xfrm>
            <a:off x="1325880" y="3264408"/>
            <a:ext cx="2606040" cy="438912"/>
          </a:xfrm>
          <a:prstGeom prst="rect">
            <a:avLst/>
          </a:prstGeom>
          <a:noFill/>
          <a:ln/>
        </p:spPr>
        <p:txBody>
          <a:bodyPr wrap="square" lIns="0" tIns="0" rIns="0" bIns="0" rtlCol="0" anchor="ctr"/>
          <a:lstStyle/>
          <a:p>
            <a:pPr indent="0" marL="0">
              <a:buNone/>
            </a:pPr>
            <a:r>
              <a:rPr lang="en-US" sz="1800" b="1" dirty="0">
                <a:solidFill>
                  <a:schemeClr val="bg1"/>
                </a:solidFill>
              </a:rPr>
              <a:t>Build &amp; test</a:t>
            </a:r>
            <a:endParaRPr lang="en-US" sz="1800" dirty="0"/>
          </a:p>
        </p:txBody>
      </p:sp>
      <p:sp>
        <p:nvSpPr>
          <p:cNvPr id="26" name="Text 23"/>
          <p:cNvSpPr txBox="1"/>
          <p:nvPr/>
        </p:nvSpPr>
        <p:spPr>
          <a:xfrm>
            <a:off x="822960" y="3931920"/>
            <a:ext cx="3063240" cy="292608"/>
          </a:xfrm>
          <a:prstGeom prst="rect">
            <a:avLst/>
          </a:prstGeom>
          <a:noFill/>
          <a:ln/>
        </p:spPr>
        <p:txBody>
          <a:bodyPr wrap="square" lIns="0" tIns="0" rIns="0" bIns="0" rtlCol="0" anchor="t"/>
          <a:lstStyle/>
          <a:p>
            <a:pPr indent="0" marL="0">
              <a:buNone/>
            </a:pPr>
            <a:r>
              <a:rPr lang="en-US" sz="1300" b="1" dirty="0">
                <a:solidFill>
                  <a:schemeClr val="accent2"/>
                </a:solidFill>
                <a:latin typeface="Courier New" pitchFamily="34" charset="0"/>
                <a:ea typeface="Courier New" pitchFamily="34" charset="-122"/>
                <a:cs typeface="Courier New" pitchFamily="34" charset="-120"/>
              </a:rPr>
              <a:t>python check.py portscan</a:t>
            </a:r>
            <a:endParaRPr lang="en-US" sz="1300" dirty="0"/>
          </a:p>
        </p:txBody>
      </p:sp>
      <p:sp>
        <p:nvSpPr>
          <p:cNvPr id="27" name="Text 24"/>
          <p:cNvSpPr txBox="1"/>
          <p:nvPr/>
        </p:nvSpPr>
        <p:spPr>
          <a:xfrm>
            <a:off x="822960" y="4224528"/>
            <a:ext cx="3063240" cy="274320"/>
          </a:xfrm>
          <a:prstGeom prst="rect">
            <a:avLst/>
          </a:prstGeom>
          <a:noFill/>
          <a:ln/>
        </p:spPr>
        <p:txBody>
          <a:bodyPr wrap="square" lIns="0" tIns="0" rIns="0" bIns="0" rtlCol="0" anchor="t"/>
          <a:lstStyle/>
          <a:p>
            <a:pPr indent="0" marL="0">
              <a:buNone/>
            </a:pPr>
            <a:r>
              <a:rPr lang="en-US" sz="1300" dirty="0">
                <a:solidFill>
                  <a:schemeClr val="bg2"/>
                </a:solidFill>
              </a:rPr>
              <a:t>test your own file</a:t>
            </a:r>
            <a:endParaRPr lang="en-US" sz="1300" dirty="0"/>
          </a:p>
        </p:txBody>
      </p:sp>
      <p:sp>
        <p:nvSpPr>
          <p:cNvPr id="28" name="Text 25"/>
          <p:cNvSpPr txBox="1"/>
          <p:nvPr/>
        </p:nvSpPr>
        <p:spPr>
          <a:xfrm>
            <a:off x="822960" y="4617720"/>
            <a:ext cx="3063240" cy="292608"/>
          </a:xfrm>
          <a:prstGeom prst="rect">
            <a:avLst/>
          </a:prstGeom>
          <a:noFill/>
          <a:ln/>
        </p:spPr>
        <p:txBody>
          <a:bodyPr wrap="square" lIns="0" tIns="0" rIns="0" bIns="0" rtlCol="0" anchor="t"/>
          <a:lstStyle/>
          <a:p>
            <a:pPr indent="0" marL="0">
              <a:buNone/>
            </a:pPr>
            <a:r>
              <a:rPr lang="en-US" sz="1300" b="1" dirty="0">
                <a:solidFill>
                  <a:schemeClr val="accent2"/>
                </a:solidFill>
                <a:latin typeface="Courier New" pitchFamily="34" charset="0"/>
                <a:ea typeface="Courier New" pitchFamily="34" charset="-122"/>
                <a:cs typeface="Courier New" pitchFamily="34" charset="-120"/>
              </a:rPr>
              <a:t>python check.py</a:t>
            </a:r>
            <a:endParaRPr lang="en-US" sz="1300" dirty="0"/>
          </a:p>
        </p:txBody>
      </p:sp>
      <p:sp>
        <p:nvSpPr>
          <p:cNvPr id="29" name="Text 26"/>
          <p:cNvSpPr txBox="1"/>
          <p:nvPr/>
        </p:nvSpPr>
        <p:spPr>
          <a:xfrm>
            <a:off x="822960" y="4910328"/>
            <a:ext cx="3063240" cy="274320"/>
          </a:xfrm>
          <a:prstGeom prst="rect">
            <a:avLst/>
          </a:prstGeom>
          <a:noFill/>
          <a:ln/>
        </p:spPr>
        <p:txBody>
          <a:bodyPr wrap="square" lIns="0" tIns="0" rIns="0" bIns="0" rtlCol="0" anchor="t"/>
          <a:lstStyle/>
          <a:p>
            <a:pPr indent="0" marL="0">
              <a:buNone/>
            </a:pPr>
            <a:r>
              <a:rPr lang="en-US" sz="1300" dirty="0">
                <a:solidFill>
                  <a:schemeClr val="bg2"/>
                </a:solidFill>
              </a:rPr>
              <a:t>whole group's progress</a:t>
            </a:r>
            <a:endParaRPr lang="en-US" sz="1300" dirty="0"/>
          </a:p>
        </p:txBody>
      </p:sp>
      <p:sp>
        <p:nvSpPr>
          <p:cNvPr id="30" name="Text 27"/>
          <p:cNvSpPr txBox="1"/>
          <p:nvPr/>
        </p:nvSpPr>
        <p:spPr>
          <a:xfrm>
            <a:off x="822960" y="5303520"/>
            <a:ext cx="3063240" cy="292608"/>
          </a:xfrm>
          <a:prstGeom prst="rect">
            <a:avLst/>
          </a:prstGeom>
          <a:noFill/>
          <a:ln/>
        </p:spPr>
        <p:txBody>
          <a:bodyPr wrap="square" lIns="0" tIns="0" rIns="0" bIns="0" rtlCol="0" anchor="t"/>
          <a:lstStyle/>
          <a:p>
            <a:pPr indent="0" marL="0">
              <a:buNone/>
            </a:pPr>
            <a:r>
              <a:rPr lang="en-US" sz="1300" b="1" dirty="0">
                <a:solidFill>
                  <a:schemeClr val="accent2"/>
                </a:solidFill>
                <a:latin typeface="Courier New" pitchFamily="34" charset="0"/>
                <a:ea typeface="Courier New" pitchFamily="34" charset="-122"/>
                <a:cs typeface="Courier New" pitchFamily="34" charset="-120"/>
              </a:rPr>
              <a:t>python start.py</a:t>
            </a:r>
            <a:endParaRPr lang="en-US" sz="1300" dirty="0"/>
          </a:p>
        </p:txBody>
      </p:sp>
      <p:sp>
        <p:nvSpPr>
          <p:cNvPr id="31" name="Text 28"/>
          <p:cNvSpPr txBox="1"/>
          <p:nvPr/>
        </p:nvSpPr>
        <p:spPr>
          <a:xfrm>
            <a:off x="822960" y="5596128"/>
            <a:ext cx="3063240" cy="274320"/>
          </a:xfrm>
          <a:prstGeom prst="rect">
            <a:avLst/>
          </a:prstGeom>
          <a:noFill/>
          <a:ln/>
        </p:spPr>
        <p:txBody>
          <a:bodyPr wrap="square" lIns="0" tIns="0" rIns="0" bIns="0" rtlCol="0" anchor="t"/>
          <a:lstStyle/>
          <a:p>
            <a:pPr indent="0" marL="0">
              <a:buNone/>
            </a:pPr>
            <a:r>
              <a:rPr lang="en-US" sz="1300" dirty="0">
                <a:solidFill>
                  <a:schemeClr val="bg2"/>
                </a:solidFill>
              </a:rPr>
              <a:t>open the dashboard</a:t>
            </a:r>
            <a:endParaRPr lang="en-US" sz="1300" dirty="0"/>
          </a:p>
        </p:txBody>
      </p:sp>
      <p:sp>
        <p:nvSpPr>
          <p:cNvPr id="32" name="Share your work"/>
          <p:cNvSpPr/>
          <p:nvPr/>
        </p:nvSpPr>
        <p:spPr>
          <a:xfrm>
            <a:off x="4343400" y="3063240"/>
            <a:ext cx="3520440" cy="2971800"/>
          </a:xfrm>
          <a:prstGeom prst="roundRect">
            <a:avLst>
              <a:gd name="adj" fmla="val 2462"/>
            </a:avLst>
          </a:prstGeom>
          <a:solidFill>
            <a:schemeClr val="tx2"/>
          </a:solidFill>
          <a:ln w="12700">
            <a:solidFill>
              <a:schemeClr val="accent3"/>
            </a:solidFill>
            <a:prstDash val="solid"/>
          </a:ln>
        </p:spPr>
      </p:sp>
      <p:pic>
        <p:nvPicPr>
          <p:cNvPr id="33" name="Image 1" descr="preencoded.png">    </p:cNvPr>
          <p:cNvPicPr>
            <a:picLocks noChangeAspect="1"/>
          </p:cNvPicPr>
          <p:nvPr/>
        </p:nvPicPr>
        <p:blipFill>
          <a:blip r:embed="rId2"/>
          <a:stretch>
            <a:fillRect/>
          </a:stretch>
        </p:blipFill>
        <p:spPr>
          <a:xfrm>
            <a:off x="4617720" y="3310128"/>
            <a:ext cx="347472" cy="347472"/>
          </a:xfrm>
          <a:prstGeom prst="rect">
            <a:avLst/>
          </a:prstGeom>
        </p:spPr>
      </p:pic>
      <p:sp>
        <p:nvSpPr>
          <p:cNvPr id="34" name="Text 30"/>
          <p:cNvSpPr txBox="1"/>
          <p:nvPr/>
        </p:nvSpPr>
        <p:spPr>
          <a:xfrm>
            <a:off x="5120640" y="3264408"/>
            <a:ext cx="2606040" cy="438912"/>
          </a:xfrm>
          <a:prstGeom prst="rect">
            <a:avLst/>
          </a:prstGeom>
          <a:noFill/>
          <a:ln/>
        </p:spPr>
        <p:txBody>
          <a:bodyPr wrap="square" lIns="0" tIns="0" rIns="0" bIns="0" rtlCol="0" anchor="ctr"/>
          <a:lstStyle/>
          <a:p>
            <a:pPr indent="0" marL="0">
              <a:buNone/>
            </a:pPr>
            <a:r>
              <a:rPr lang="en-US" sz="1800" b="1" dirty="0">
                <a:solidFill>
                  <a:schemeClr val="bg1"/>
                </a:solidFill>
              </a:rPr>
              <a:t>Share your work</a:t>
            </a:r>
            <a:endParaRPr lang="en-US" sz="1800" dirty="0"/>
          </a:p>
        </p:txBody>
      </p:sp>
      <p:sp>
        <p:nvSpPr>
          <p:cNvPr id="35" name="Text 31"/>
          <p:cNvSpPr txBox="1"/>
          <p:nvPr/>
        </p:nvSpPr>
        <p:spPr>
          <a:xfrm>
            <a:off x="4617720" y="3931920"/>
            <a:ext cx="3063240" cy="292608"/>
          </a:xfrm>
          <a:prstGeom prst="rect">
            <a:avLst/>
          </a:prstGeom>
          <a:noFill/>
          <a:ln/>
        </p:spPr>
        <p:txBody>
          <a:bodyPr wrap="square" lIns="0" tIns="0" rIns="0" bIns="0" rtlCol="0" anchor="t"/>
          <a:lstStyle/>
          <a:p>
            <a:pPr indent="0" marL="0">
              <a:buNone/>
            </a:pPr>
            <a:r>
              <a:rPr lang="en-US" sz="1600" b="1" dirty="0">
                <a:solidFill>
                  <a:schemeClr val="accent2"/>
                </a:solidFill>
                <a:latin typeface="Calibri" pitchFamily="34" charset="0"/>
                <a:ea typeface="Calibri" pitchFamily="34" charset="-122"/>
                <a:cs typeface="Calibri" pitchFamily="34" charset="-120"/>
              </a:rPr>
              <a:t>Source Control</a:t>
            </a:r>
            <a:endParaRPr lang="en-US" sz="1600" dirty="0"/>
          </a:p>
        </p:txBody>
      </p:sp>
      <p:sp>
        <p:nvSpPr>
          <p:cNvPr id="36" name="Text 32"/>
          <p:cNvSpPr txBox="1"/>
          <p:nvPr/>
        </p:nvSpPr>
        <p:spPr>
          <a:xfrm>
            <a:off x="4617720" y="4224528"/>
            <a:ext cx="3063240" cy="274320"/>
          </a:xfrm>
          <a:prstGeom prst="rect">
            <a:avLst/>
          </a:prstGeom>
          <a:noFill/>
          <a:ln/>
        </p:spPr>
        <p:txBody>
          <a:bodyPr wrap="square" lIns="0" tIns="0" rIns="0" bIns="0" rtlCol="0" anchor="t"/>
          <a:lstStyle/>
          <a:p>
            <a:pPr indent="0" marL="0">
              <a:buNone/>
            </a:pPr>
            <a:r>
              <a:rPr lang="en-US" sz="1300" dirty="0">
                <a:solidFill>
                  <a:schemeClr val="bg2"/>
                </a:solidFill>
              </a:rPr>
              <a:t>the branching-lines icon</a:t>
            </a:r>
            <a:endParaRPr lang="en-US" sz="1300" dirty="0"/>
          </a:p>
        </p:txBody>
      </p:sp>
      <p:sp>
        <p:nvSpPr>
          <p:cNvPr id="37" name="Text 33"/>
          <p:cNvSpPr txBox="1"/>
          <p:nvPr/>
        </p:nvSpPr>
        <p:spPr>
          <a:xfrm>
            <a:off x="4617720" y="4617720"/>
            <a:ext cx="3063240" cy="292608"/>
          </a:xfrm>
          <a:prstGeom prst="rect">
            <a:avLst/>
          </a:prstGeom>
          <a:noFill/>
          <a:ln/>
        </p:spPr>
        <p:txBody>
          <a:bodyPr wrap="square" lIns="0" tIns="0" rIns="0" bIns="0" rtlCol="0" anchor="t"/>
          <a:lstStyle/>
          <a:p>
            <a:pPr indent="0" marL="0">
              <a:buNone/>
            </a:pPr>
            <a:r>
              <a:rPr lang="en-US" sz="1600" b="1" dirty="0">
                <a:solidFill>
                  <a:schemeClr val="accent2"/>
                </a:solidFill>
                <a:latin typeface="Calibri" pitchFamily="34" charset="0"/>
                <a:ea typeface="Calibri" pitchFamily="34" charset="-122"/>
                <a:cs typeface="Calibri" pitchFamily="34" charset="-120"/>
              </a:rPr>
              <a:t>Commit</a:t>
            </a:r>
            <a:endParaRPr lang="en-US" sz="1600" dirty="0"/>
          </a:p>
        </p:txBody>
      </p:sp>
      <p:sp>
        <p:nvSpPr>
          <p:cNvPr id="38" name="Text 34"/>
          <p:cNvSpPr txBox="1"/>
          <p:nvPr/>
        </p:nvSpPr>
        <p:spPr>
          <a:xfrm>
            <a:off x="4617720" y="4910328"/>
            <a:ext cx="3063240" cy="274320"/>
          </a:xfrm>
          <a:prstGeom prst="rect">
            <a:avLst/>
          </a:prstGeom>
          <a:noFill/>
          <a:ln/>
        </p:spPr>
        <p:txBody>
          <a:bodyPr wrap="square" lIns="0" tIns="0" rIns="0" bIns="0" rtlCol="0" anchor="t"/>
          <a:lstStyle/>
          <a:p>
            <a:pPr indent="0" marL="0">
              <a:buNone/>
            </a:pPr>
            <a:r>
              <a:rPr lang="en-US" sz="1300" dirty="0">
                <a:solidFill>
                  <a:schemeClr val="bg2"/>
                </a:solidFill>
              </a:rPr>
              <a:t>with a short message</a:t>
            </a:r>
            <a:endParaRPr lang="en-US" sz="1300" dirty="0"/>
          </a:p>
        </p:txBody>
      </p:sp>
      <p:sp>
        <p:nvSpPr>
          <p:cNvPr id="39" name="Text 35"/>
          <p:cNvSpPr txBox="1"/>
          <p:nvPr/>
        </p:nvSpPr>
        <p:spPr>
          <a:xfrm>
            <a:off x="4617720" y="5303520"/>
            <a:ext cx="3063240" cy="292608"/>
          </a:xfrm>
          <a:prstGeom prst="rect">
            <a:avLst/>
          </a:prstGeom>
          <a:noFill/>
          <a:ln/>
        </p:spPr>
        <p:txBody>
          <a:bodyPr wrap="square" lIns="0" tIns="0" rIns="0" bIns="0" rtlCol="0" anchor="t"/>
          <a:lstStyle/>
          <a:p>
            <a:pPr indent="0" marL="0">
              <a:buNone/>
            </a:pPr>
            <a:r>
              <a:rPr lang="en-US" sz="1600" b="1" dirty="0">
                <a:solidFill>
                  <a:schemeClr val="accent2"/>
                </a:solidFill>
                <a:latin typeface="Calibri" pitchFamily="34" charset="0"/>
                <a:ea typeface="Calibri" pitchFamily="34" charset="-122"/>
                <a:cs typeface="Calibri" pitchFamily="34" charset="-120"/>
              </a:rPr>
              <a:t>Sync Changes</a:t>
            </a:r>
            <a:endParaRPr lang="en-US" sz="1600" dirty="0"/>
          </a:p>
        </p:txBody>
      </p:sp>
      <p:sp>
        <p:nvSpPr>
          <p:cNvPr id="40" name="Text 36"/>
          <p:cNvSpPr txBox="1"/>
          <p:nvPr/>
        </p:nvSpPr>
        <p:spPr>
          <a:xfrm>
            <a:off x="4617720" y="5596128"/>
            <a:ext cx="3063240" cy="274320"/>
          </a:xfrm>
          <a:prstGeom prst="rect">
            <a:avLst/>
          </a:prstGeom>
          <a:noFill/>
          <a:ln/>
        </p:spPr>
        <p:txBody>
          <a:bodyPr wrap="square" lIns="0" tIns="0" rIns="0" bIns="0" rtlCol="0" anchor="t"/>
          <a:lstStyle/>
          <a:p>
            <a:pPr indent="0" marL="0">
              <a:buNone/>
            </a:pPr>
            <a:r>
              <a:rPr lang="en-US" sz="1300" dirty="0">
                <a:solidFill>
                  <a:schemeClr val="bg2"/>
                </a:solidFill>
              </a:rPr>
              <a:t>send yours, get theirs</a:t>
            </a:r>
            <a:endParaRPr lang="en-US" sz="1300" dirty="0"/>
          </a:p>
        </p:txBody>
      </p:sp>
      <p:sp>
        <p:nvSpPr>
          <p:cNvPr id="41" name="Finished when"/>
          <p:cNvSpPr/>
          <p:nvPr/>
        </p:nvSpPr>
        <p:spPr>
          <a:xfrm>
            <a:off x="8138160" y="3063240"/>
            <a:ext cx="3504895" cy="2971800"/>
          </a:xfrm>
          <a:prstGeom prst="roundRect">
            <a:avLst>
              <a:gd name="adj" fmla="val 2462"/>
            </a:avLst>
          </a:prstGeom>
          <a:solidFill>
            <a:schemeClr val="accent3"/>
          </a:solidFill>
          <a:ln w="12700">
            <a:solidFill>
              <a:schemeClr val="accent2"/>
            </a:solidFill>
            <a:prstDash val="solid"/>
          </a:ln>
        </p:spPr>
      </p:sp>
      <p:pic>
        <p:nvPicPr>
          <p:cNvPr id="42" name="Image 2" descr="preencoded.png">    </p:cNvPr>
          <p:cNvPicPr>
            <a:picLocks noChangeAspect="1"/>
          </p:cNvPicPr>
          <p:nvPr/>
        </p:nvPicPr>
        <p:blipFill>
          <a:blip r:embed="rId3"/>
          <a:stretch>
            <a:fillRect/>
          </a:stretch>
        </p:blipFill>
        <p:spPr>
          <a:xfrm>
            <a:off x="8412480" y="3310128"/>
            <a:ext cx="347472" cy="347472"/>
          </a:xfrm>
          <a:prstGeom prst="rect">
            <a:avLst/>
          </a:prstGeom>
        </p:spPr>
      </p:pic>
      <p:sp>
        <p:nvSpPr>
          <p:cNvPr id="43" name="Text 38"/>
          <p:cNvSpPr txBox="1"/>
          <p:nvPr/>
        </p:nvSpPr>
        <p:spPr>
          <a:xfrm>
            <a:off x="8915400" y="3264408"/>
            <a:ext cx="2590495" cy="438912"/>
          </a:xfrm>
          <a:prstGeom prst="rect">
            <a:avLst/>
          </a:prstGeom>
          <a:noFill/>
          <a:ln/>
        </p:spPr>
        <p:txBody>
          <a:bodyPr wrap="square" lIns="0" tIns="0" rIns="0" bIns="0" rtlCol="0" anchor="ctr"/>
          <a:lstStyle/>
          <a:p>
            <a:pPr indent="0" marL="0">
              <a:buNone/>
            </a:pPr>
            <a:r>
              <a:rPr lang="en-US" sz="1800" b="1" dirty="0">
                <a:solidFill>
                  <a:schemeClr val="accent2"/>
                </a:solidFill>
              </a:rPr>
              <a:t>Finished when</a:t>
            </a:r>
            <a:endParaRPr lang="en-US" sz="1800" dirty="0"/>
          </a:p>
        </p:txBody>
      </p:sp>
      <p:sp>
        <p:nvSpPr>
          <p:cNvPr id="44" name="Text 39"/>
          <p:cNvSpPr txBox="1"/>
          <p:nvPr/>
        </p:nvSpPr>
        <p:spPr>
          <a:xfrm>
            <a:off x="8412480" y="3931920"/>
            <a:ext cx="3047695" cy="365760"/>
          </a:xfrm>
          <a:prstGeom prst="rect">
            <a:avLst/>
          </a:prstGeom>
          <a:noFill/>
          <a:ln/>
        </p:spPr>
        <p:txBody>
          <a:bodyPr wrap="square" lIns="0" tIns="0" rIns="0" bIns="0" rtlCol="0" anchor="t"/>
          <a:lstStyle/>
          <a:p>
            <a:pPr indent="0" marL="0">
              <a:buNone/>
            </a:pPr>
            <a:r>
              <a:rPr lang="en-US" sz="1500" b="1" dirty="0">
                <a:solidFill>
                  <a:schemeClr val="accent1"/>
                </a:solidFill>
                <a:latin typeface="Courier New" pitchFamily="34" charset="0"/>
                <a:ea typeface="Courier New" pitchFamily="34" charset="-122"/>
                <a:cs typeface="Courier New" pitchFamily="34" charset="-120"/>
              </a:rPr>
              <a:t>python check.py</a:t>
            </a:r>
            <a:pPr indent="0" marL="0">
              <a:buNone/>
            </a:pPr>
            <a:r>
              <a:rPr lang="en-US" sz="1500" dirty="0">
                <a:solidFill>
                  <a:schemeClr val="bg1"/>
                </a:solidFill>
              </a:rPr>
              <a:t> all OK</a:t>
            </a:r>
            <a:endParaRPr lang="en-US" sz="1500" dirty="0"/>
          </a:p>
        </p:txBody>
      </p:sp>
      <p:sp>
        <p:nvSpPr>
          <p:cNvPr id="45" name="Text 40"/>
          <p:cNvSpPr txBox="1"/>
          <p:nvPr/>
        </p:nvSpPr>
        <p:spPr>
          <a:xfrm>
            <a:off x="8412480" y="4434840"/>
            <a:ext cx="3047695" cy="320040"/>
          </a:xfrm>
          <a:prstGeom prst="rect">
            <a:avLst/>
          </a:prstGeom>
          <a:noFill/>
          <a:ln/>
        </p:spPr>
        <p:txBody>
          <a:bodyPr wrap="square" lIns="0" tIns="0" rIns="0" bIns="0" rtlCol="0" anchor="t"/>
          <a:lstStyle/>
          <a:p>
            <a:pPr indent="0" marL="0">
              <a:buNone/>
            </a:pPr>
            <a:r>
              <a:rPr lang="en-US" sz="1500" dirty="0">
                <a:solidFill>
                  <a:schemeClr val="bg1"/>
                </a:solidFill>
              </a:rPr>
              <a:t>attack-demo.pcap shows:</a:t>
            </a:r>
            <a:endParaRPr lang="en-US" sz="1500" dirty="0"/>
          </a:p>
        </p:txBody>
      </p:sp>
      <p:sp>
        <p:nvSpPr>
          <p:cNvPr id="46" name="Text 41"/>
          <p:cNvSpPr txBox="1"/>
          <p:nvPr/>
        </p:nvSpPr>
        <p:spPr>
          <a:xfrm>
            <a:off x="8412480" y="4800600"/>
            <a:ext cx="1554480" cy="685800"/>
          </a:xfrm>
          <a:prstGeom prst="rect">
            <a:avLst/>
          </a:prstGeom>
          <a:noFill/>
          <a:ln/>
        </p:spPr>
        <p:txBody>
          <a:bodyPr wrap="square" lIns="0" tIns="0" rIns="0" bIns="0" rtlCol="0" anchor="t"/>
          <a:lstStyle/>
          <a:p>
            <a:pPr indent="0" marL="0">
              <a:buNone/>
            </a:pPr>
            <a:r>
              <a:rPr lang="en-US" sz="4000" b="1" dirty="0">
                <a:solidFill>
                  <a:schemeClr val="accent1"/>
                </a:solidFill>
              </a:rPr>
              <a:t>8</a:t>
            </a:r>
            <a:endParaRPr lang="en-US" sz="4000" dirty="0"/>
          </a:p>
        </p:txBody>
      </p:sp>
      <p:sp>
        <p:nvSpPr>
          <p:cNvPr id="47" name="Text 42"/>
          <p:cNvSpPr txBox="1"/>
          <p:nvPr/>
        </p:nvSpPr>
        <p:spPr>
          <a:xfrm>
            <a:off x="8412480" y="5468112"/>
            <a:ext cx="1554480" cy="274320"/>
          </a:xfrm>
          <a:prstGeom prst="rect">
            <a:avLst/>
          </a:prstGeom>
          <a:noFill/>
          <a:ln/>
        </p:spPr>
        <p:txBody>
          <a:bodyPr wrap="square" lIns="0" tIns="0" rIns="0" bIns="0" rtlCol="0" anchor="t"/>
          <a:lstStyle/>
          <a:p>
            <a:pPr indent="0" marL="0">
              <a:buNone/>
            </a:pPr>
            <a:r>
              <a:rPr lang="en-US" sz="1300" dirty="0">
                <a:solidFill>
                  <a:schemeClr val="bg2"/>
                </a:solidFill>
              </a:rPr>
              <a:t>alerts</a:t>
            </a:r>
            <a:endParaRPr lang="en-US" sz="1300" dirty="0"/>
          </a:p>
        </p:txBody>
      </p:sp>
      <p:sp>
        <p:nvSpPr>
          <p:cNvPr id="48" name="Text 43"/>
          <p:cNvSpPr txBox="1"/>
          <p:nvPr/>
        </p:nvSpPr>
        <p:spPr>
          <a:xfrm>
            <a:off x="10149840" y="4800600"/>
            <a:ext cx="1554480" cy="685800"/>
          </a:xfrm>
          <a:prstGeom prst="rect">
            <a:avLst/>
          </a:prstGeom>
          <a:noFill/>
          <a:ln/>
        </p:spPr>
        <p:txBody>
          <a:bodyPr wrap="square" lIns="0" tIns="0" rIns="0" bIns="0" rtlCol="0" anchor="t"/>
          <a:lstStyle/>
          <a:p>
            <a:pPr indent="0" marL="0">
              <a:buNone/>
            </a:pPr>
            <a:r>
              <a:rPr lang="en-US" sz="4000" b="1" dirty="0">
                <a:solidFill>
                  <a:schemeClr val="accent1"/>
                </a:solidFill>
              </a:rPr>
              <a:t>100</a:t>
            </a:r>
            <a:endParaRPr lang="en-US" sz="4000" dirty="0"/>
          </a:p>
        </p:txBody>
      </p:sp>
      <p:sp>
        <p:nvSpPr>
          <p:cNvPr id="49" name="Text 44"/>
          <p:cNvSpPr txBox="1"/>
          <p:nvPr/>
        </p:nvSpPr>
        <p:spPr>
          <a:xfrm>
            <a:off x="10149840" y="5468112"/>
            <a:ext cx="1554480" cy="274320"/>
          </a:xfrm>
          <a:prstGeom prst="rect">
            <a:avLst/>
          </a:prstGeom>
          <a:noFill/>
          <a:ln/>
        </p:spPr>
        <p:txBody>
          <a:bodyPr wrap="square" lIns="0" tIns="0" rIns="0" bIns="0" rtlCol="0" anchor="t"/>
          <a:lstStyle/>
          <a:p>
            <a:pPr indent="0" marL="0">
              <a:buNone/>
            </a:pPr>
            <a:r>
              <a:rPr lang="en-US" sz="1300" dirty="0">
                <a:solidFill>
                  <a:schemeClr val="bg2"/>
                </a:solidFill>
              </a:rPr>
              <a:t>risk score</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latin typeface="Courier New"/>
                <a:ea typeface="Courier New"/>
                <a:cs typeface="Courier New"/>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BCUCompSoc Cyber">
  <a:themeElements>
    <a:clrScheme name="BCUCompSoc Cyber">
      <a:dk1>
        <a:srgbClr val="0A1222"/>
      </a:dk1>
      <a:lt1>
        <a:srgbClr val="FFFFFF"/>
      </a:lt1>
      <a:dk2>
        <a:srgbClr val="131F36"/>
      </a:dk2>
      <a:lt2>
        <a:srgbClr val="9AA8BF"/>
      </a:lt2>
      <a:accent1>
        <a:srgbClr val="22D3EE"/>
      </a:accent1>
      <a:accent2>
        <a:srgbClr val="2EE59D"/>
      </a:accent2>
      <a:accent3>
        <a:srgbClr val="1C2B48"/>
      </a:accent3>
      <a:accent4>
        <a:srgbClr val="FBBF24"/>
      </a:accent4>
      <a:accent5>
        <a:srgbClr val="4F7CFF"/>
      </a:accent5>
      <a:accent6>
        <a:srgbClr val="F87171"/>
      </a:accent6>
      <a:hlink>
        <a:srgbClr val="22D3EE"/>
      </a:hlink>
      <a:folHlink>
        <a:srgbClr val="2EE59D"/>
      </a:folHlink>
    </a:clrScheme>
    <a:fontScheme name="BCUCompSoc Cyber">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BCU Computing Society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BCUCompSoc Cybersecurity Workshop 03: PCAP File Analysis</dc:title>
  <dc:subject>PptxGenJS Presentation</dc:subject>
  <dc:creator>Daeron W</dc:creator>
  <cp:lastModifiedBy>Daeron W</cp:lastModifiedBy>
  <cp:revision>1</cp:revision>
  <dcterms:created xsi:type="dcterms:W3CDTF">2026-10-23T13:49:05Z</dcterms:created>
  <dcterms:modified xsi:type="dcterms:W3CDTF">2026-10-23T13:49:05Z</dcterms:modified>
</cp:coreProperties>
</file>