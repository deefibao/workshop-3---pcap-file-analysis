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12"/>
    <p:sldId id="262" r:id="rId13"/>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ba52d4-dc45-5ad1-78e6-8fa953f70bd7}">
          <p14:sldIdLst>
            <p14:sldId id="256"/>
          </p14:sldIdLst>
        </p14:section>
        <p14:section name="Outcomes" id="{a18fc269-8cc7-5745-9153-0bece99aa704}">
          <p14:sldIdLst>
            <p14:sldId id="257"/>
          </p14:sldIdLst>
        </p14:section>
        <p14:section name="Preparation" id="{9b1c7a2f-0bf8-b5b1-62ab-25fdc7aac3ae}">
          <p14:sldIdLst>
            <p14:sldId id="258"/>
            <p14:sldId id="259"/>
          </p14:sldIdLst>
        </p14:section>
        <p14:section name="Build" id="{38895725-f300-d7c3-5287-83ffc1e66d91}">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Workshop 3: PCAP Sentinel. Last time we read captures by hand; today we design and build a small Python tool that reads a packet capture, summarises the traffic, runs transparent detection rules and explains the evidence behind each finding. The goal isn't a perfect intrusion-detection system in two hours. It's to understand how a tool like this is designed, how its parts fit together, and how to use AI responsibly while building it. Work in pairs or on your own.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when something suspicious happens, an analyst may get a PCAP with hundreds to millions of packets. A PCAP contains evidence, not conclusions. Our problem statement: how can we build a small, modular tool that examines a PCAP, summarises its traffic, identifies common suspicious patterns with transparent rules, and explains the evidence behind each finding? Walk through the four learning outcomes. Stress that a single packet rarely tells the story: detection comes from aggregating many packets over time. This tool is for defensive analysis and education.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before we write any code. One: a GitHub account; share your username with your group. Two: Git. Run git --version first, as most Macs and Linux machines already have it; on Windows install it from git-scm.com or with winget. Then set your name and email with git config (the commands are in the guide). Three: connect Git to GitHub with an SSH key. ssh-keygen makes a key pair; paste the public half (the .pub file) into GitHub under Settings, SSH and GPG keys, and test with ssh -T git@github.com. Never share the private half. If you can't install anything, a Codespace gives you Git and Python in the browser.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person, the organiser, creates the group repository on github.com, uploads the starter project and invites each teammate under Settings, Collaborators. Teammates accept the email invite, then clone the repo with git clone or open a Codespace. Only four files are student tasks: the PCAP reader, which turns packets into normalised records; the traffic analyzer, which calculates reusable statistics; the report builder, which gives every finding the same structure; and the DDoS rule, which looks for flood-like behaviour. app.py, the default rules and the web page are prebuilt, so leave them alone and follow the existing interfaces. If everyone owns one file, Git won't have conflicts.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Using AI to help write code is allowed in this workshop. Understanding and verifying the code is part of the task. AI can produce code that looks right but makes wrong assumptions, invents APIs, or only works on one sample capture. So: understand the task first, inspect the existing interfaces, ask for a design before code, build one component at a time, review what changed and ask for explanations, then test on normal, empty, malformed and boundary input and on a capture you didn't use while writing the code. Before committing, you should be able to answer the understanding check. Not being able to explain something isn't embarrassing: it's a sign to pause and work through it. Never paste sensitive packet contents, passwords, tokens or private captures into an AI tool.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pipeline. The reader turns packets into a consistent record; the analyzer calculates statistics that rules can reuse; each rule looks for one defined pattern and returns findings; the report builder gives every finding the same structure; and the prebuilt web interface displays them. app.py is the coordinator, not the analyst: each part does one job and talks to the next through a documented data structure. A good rule answers five questions. For a possible SYN flood, count SYN packets without ACK per target in a time window, compare against a configurable threshold, and report the evidence. These are indicators, not proof: a busy server or a vulnerability scanner can look similar, so the analyst always validates.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timings are a guide: if a concept needs more time, prioritise understanding and a working end-to-end slice over rushing every feature. At each checkpoint, ask: does the module work on its own, does its output match what the next module expects, have we tested more than one case, and can we explain it without the AI? Commit in small steps with meaningful messages, not in the last five minutes. You're finished when the app starts, the four modules work, you can explain a finding, you've tested beyond the sample, and nothing sensitive is in the repo. Final principle: the objective isn't to make AI write the most code. It's to build something understandable, testable and defensible. Good luck!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CU Title">
    <p:bg>
      <p:bgPr>
        <a:solidFill>
          <a:srgbClr val="0A1222"/>
        </a:solidFill>
      </p:bgPr>
    </p:bg>
    <p:spTree>
      <p:nvGrpSpPr>
        <p:cNvPr id="1" name=""/>
        <p:cNvGrpSpPr/>
        <p:nvPr/>
      </p:nvGrpSpPr>
      <p:grpSpPr>
        <a:xfrm>
          <a:off x="0" y="0"/>
          <a:ext cx="0" cy="0"/>
          <a:chOff x="0" y="0"/>
          <a:chExt cx="0" cy="0"/>
        </a:xfrm>
      </p:grpSpPr>
      <p:pic>
        <p:nvPicPr>
          <p:cNvPr id="2" name="Image 0" descr="/tmp/claude-0/-home-claude/9dae9694-6885-51b0-b2fa-cfe8a25a1d9c/scratchpad/deck/logo.png">    </p:cNvPr>
          <p:cNvPicPr>
            <a:picLocks noChangeAspect="1"/>
          </p:cNvPicPr>
          <p:nvPr/>
        </p:nvPicPr>
        <p:blipFill>
          <a:blip r:embed="rId1"/>
          <a:stretch>
            <a:fillRect/>
          </a:stretch>
        </p:blipFill>
        <p:spPr>
          <a:xfrm>
            <a:off x="548640" y="502920"/>
            <a:ext cx="2450592" cy="6400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CU Content">
    <p:bg>
      <p:bgPr>
        <a:solidFill>
          <a:srgbClr val="0A1222"/>
        </a:solidFill>
      </p:bgPr>
    </p:bg>
    <p:spTree>
      <p:nvGrpSpPr>
        <p:cNvPr id="1" name=""/>
        <p:cNvGrpSpPr/>
        <p:nvPr/>
      </p:nvGrpSpPr>
      <p:grpSpPr>
        <a:xfrm>
          <a:off x="0" y="0"/>
          <a:ext cx="0" cy="0"/>
          <a:chOff x="0" y="0"/>
          <a:chExt cx="0" cy="0"/>
        </a:xfrm>
      </p:grpSpPr>
      <p:pic>
        <p:nvPicPr>
          <p:cNvPr id="2" name="Image 0" descr="/tmp/claude-0/-home-claude/9dae9694-6885-51b0-b2fa-cfe8a25a1d9c/scratchpad/deck/logo.png">    </p:cNvPr>
          <p:cNvPicPr>
            <a:picLocks noChangeAspect="1"/>
          </p:cNvPicPr>
          <p:nvPr/>
        </p:nvPicPr>
        <p:blipFill>
          <a:blip r:embed="rId1"/>
          <a:stretch>
            <a:fillRect/>
          </a:stretch>
        </p:blipFill>
        <p:spPr>
          <a:xfrm>
            <a:off x="10170871" y="384048"/>
            <a:ext cx="1472184" cy="384048"/>
          </a:xfrm>
          <a:prstGeom prst="rect">
            <a:avLst/>
          </a:prstGeom>
        </p:spPr>
      </p:pic>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BCUCompSoc  ·  Cybersecurity Workshop 03  ·  PCAP File Analysis</a:t>
            </a:r>
            <a:endParaRPr lang="en-US" sz="1000" dirty="0"/>
          </a:p>
        </p:txBody>
      </p:sp>
      <p:sp>
        <p:nvSpPr>
          <p:cNvPr id="4" name="Text 1"/>
          <p:cNvSpPr/>
          <p:nvPr>
            <p:ph idx="102" type="title" hasCustomPrompt="1"/>
          </p:nvPr>
        </p:nvSpPr>
        <p:spPr>
          <a:xfrm>
            <a:off x="548640" y="658368"/>
            <a:ext cx="9418320" cy="685800"/>
          </a:xfrm>
          <a:prstGeom prst="rect">
            <a:avLst/>
          </a:prstGeom>
          <a:noFill/>
          <a:ln/>
        </p:spPr>
        <p:txBody>
          <a:bodyPr wrap="square" rtlCol="0"/>
          <a:lstStyle>
            <a:lvl1pPr algn="l" indent="0" marL="0">
              <a:buNone/>
              <a:defRPr lang="en-US" sz="34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hyperlink" Target="https://github.com/DEEFIBAO/Workshop-3---PCAP-file-analysis/blob/main/README.md" TargetMode="External"/><Relationship Id="rId7" Type="http://schemas.openxmlformats.org/officeDocument/2006/relationships/slideLayout" Target="../slideLayouts/slideLayout3.xml"/><Relationship Id="rId8" Type="http://schemas.openxmlformats.org/officeDocument/2006/relationships/notesSlide" Target="../notesSlides/notesSlide2.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hyperlink" Target="https://github.com/DEEFIBAO/Workshop-3---PCAP-file-analysis/blob/main/README.md" TargetMode="External"/><Relationship Id="rId6" Type="http://schemas.openxmlformats.org/officeDocument/2006/relationships/slideLayout" Target="../slideLayouts/slideLayout3.xml"/><Relationship Id="rId7" Type="http://schemas.openxmlformats.org/officeDocument/2006/relationships/notesSlide" Target="../notesSlides/notesSlide3.xml"/><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5-3.png"/><Relationship Id="rId4" Type="http://schemas.openxmlformats.org/officeDocument/2006/relationships/image" Target="../media/image8.png"/><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62179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CYBERSECURITY WORKSHOP SERIES  ·  03</a:t>
            </a:r>
            <a:endParaRPr lang="en-US" sz="1400" dirty="0"/>
          </a:p>
        </p:txBody>
      </p:sp>
      <p:sp>
        <p:nvSpPr>
          <p:cNvPr id="3" name="Deck title"/>
          <p:cNvSpPr txBox="1"/>
          <p:nvPr/>
        </p:nvSpPr>
        <p:spPr>
          <a:xfrm>
            <a:off x="548640" y="2011680"/>
            <a:ext cx="6583680" cy="914400"/>
          </a:xfrm>
          <a:prstGeom prst="rect">
            <a:avLst/>
          </a:prstGeom>
          <a:noFill/>
          <a:ln/>
        </p:spPr>
        <p:txBody>
          <a:bodyPr wrap="square" lIns="0" tIns="0" rIns="0" bIns="0" rtlCol="0" anchor="t"/>
          <a:lstStyle/>
          <a:p>
            <a:pPr indent="0" marL="0">
              <a:buNone/>
            </a:pPr>
            <a:r>
              <a:rPr lang="en-US" sz="5200" b="1" dirty="0">
                <a:solidFill>
                  <a:schemeClr val="bg1"/>
                </a:solidFill>
              </a:rPr>
              <a:t>PCAP Sentinel</a:t>
            </a:r>
            <a:endParaRPr lang="en-US" sz="5200" dirty="0"/>
          </a:p>
        </p:txBody>
      </p:sp>
      <p:sp>
        <p:nvSpPr>
          <p:cNvPr id="4" name="Text 2"/>
          <p:cNvSpPr txBox="1"/>
          <p:nvPr/>
        </p:nvSpPr>
        <p:spPr>
          <a:xfrm>
            <a:off x="548640" y="3017520"/>
            <a:ext cx="6035040" cy="868680"/>
          </a:xfrm>
          <a:prstGeom prst="rect">
            <a:avLst/>
          </a:prstGeom>
          <a:noFill/>
          <a:ln/>
        </p:spPr>
        <p:txBody>
          <a:bodyPr wrap="square" lIns="0" tIns="0" rIns="0" bIns="0" rtlCol="0" anchor="t"/>
          <a:lstStyle/>
          <a:p>
            <a:pPr indent="0" marL="0">
              <a:buNone/>
            </a:pPr>
            <a:r>
              <a:rPr lang="en-US" sz="2000" dirty="0">
                <a:solidFill>
                  <a:schemeClr val="bg2"/>
                </a:solidFill>
              </a:rPr>
              <a:t>From network evidence to security findings: design and build a small tool that reads a packet capture and explains what it finds</a:t>
            </a:r>
            <a:endParaRPr lang="en-US" sz="2000" dirty="0"/>
          </a:p>
        </p:txBody>
      </p:sp>
      <p:sp>
        <p:nvSpPr>
          <p:cNvPr id="5" name="Presenter"/>
          <p:cNvSpPr/>
          <p:nvPr/>
        </p:nvSpPr>
        <p:spPr>
          <a:xfrm>
            <a:off x="548640" y="4343400"/>
            <a:ext cx="4206240" cy="1051560"/>
          </a:xfrm>
          <a:prstGeom prst="roundRect">
            <a:avLst>
              <a:gd name="adj" fmla="val 6957"/>
            </a:avLst>
          </a:prstGeom>
          <a:solidFill>
            <a:schemeClr val="tx2"/>
          </a:solidFill>
          <a:ln w="12700">
            <a:solidFill>
              <a:schemeClr val="accent3"/>
            </a:solidFill>
            <a:prstDash val="solid"/>
          </a:ln>
        </p:spPr>
      </p:sp>
      <p:sp>
        <p:nvSpPr>
          <p:cNvPr id="6" name="Text 4"/>
          <p:cNvSpPr txBox="1"/>
          <p:nvPr/>
        </p:nvSpPr>
        <p:spPr>
          <a:xfrm>
            <a:off x="822960" y="4498848"/>
            <a:ext cx="274320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LED BY</a:t>
            </a:r>
            <a:endParaRPr lang="en-US" sz="1200" dirty="0"/>
          </a:p>
        </p:txBody>
      </p:sp>
      <p:sp>
        <p:nvSpPr>
          <p:cNvPr id="7" name="Text 5"/>
          <p:cNvSpPr txBox="1"/>
          <p:nvPr/>
        </p:nvSpPr>
        <p:spPr>
          <a:xfrm>
            <a:off x="822960" y="4800600"/>
            <a:ext cx="3749040" cy="411480"/>
          </a:xfrm>
          <a:prstGeom prst="rect">
            <a:avLst/>
          </a:prstGeom>
          <a:noFill/>
          <a:ln/>
        </p:spPr>
        <p:txBody>
          <a:bodyPr wrap="square" lIns="0" tIns="0" rIns="0" bIns="0" rtlCol="0" anchor="t"/>
          <a:lstStyle/>
          <a:p>
            <a:pPr indent="0" marL="0">
              <a:buNone/>
            </a:pPr>
            <a:r>
              <a:rPr lang="en-US" sz="2200" b="1" dirty="0">
                <a:solidFill>
                  <a:schemeClr val="bg1"/>
                </a:solidFill>
              </a:rPr>
              <a:t>Daeron W  ·  BCUSCA</a:t>
            </a:r>
            <a:endParaRPr lang="en-US" sz="2200" dirty="0"/>
          </a:p>
        </p:txBody>
      </p:sp>
      <p:sp>
        <p:nvSpPr>
          <p:cNvPr id="8" name="Tag Collaborative or solo"/>
          <p:cNvSpPr/>
          <p:nvPr/>
        </p:nvSpPr>
        <p:spPr>
          <a:xfrm>
            <a:off x="4983480" y="4617720"/>
            <a:ext cx="2194560" cy="502920"/>
          </a:xfrm>
          <a:prstGeom prst="roundRect">
            <a:avLst>
              <a:gd name="adj" fmla="val 14545"/>
            </a:avLst>
          </a:prstGeom>
          <a:solidFill>
            <a:schemeClr val="accent3"/>
          </a:solidFill>
          <a:ln w="12700">
            <a:solidFill>
              <a:schemeClr val="accent3"/>
            </a:solidFill>
            <a:prstDash val="solid"/>
          </a:ln>
        </p:spPr>
      </p:sp>
      <p:sp>
        <p:nvSpPr>
          <p:cNvPr id="9" name="Text 7"/>
          <p:cNvSpPr txBox="1"/>
          <p:nvPr/>
        </p:nvSpPr>
        <p:spPr>
          <a:xfrm>
            <a:off x="4983480" y="4617720"/>
            <a:ext cx="2194560" cy="502920"/>
          </a:xfrm>
          <a:prstGeom prst="rect">
            <a:avLst/>
          </a:prstGeom>
          <a:noFill/>
          <a:ln/>
        </p:spPr>
        <p:txBody>
          <a:bodyPr wrap="square" lIns="0" tIns="0" rIns="0" bIns="0" rtlCol="0" anchor="ctr"/>
          <a:lstStyle/>
          <a:p>
            <a:pPr algn="ctr" indent="0" marL="0">
              <a:buNone/>
            </a:pPr>
            <a:r>
              <a:rPr lang="en-US" sz="1400" dirty="0">
                <a:solidFill>
                  <a:schemeClr val="bg1"/>
                </a:solidFill>
              </a:rPr>
              <a:t>2 hours  ·  pairs or solo</a:t>
            </a:r>
            <a:endParaRPr lang="en-US" sz="1400" dirty="0"/>
          </a:p>
        </p:txBody>
      </p:sp>
      <p:sp>
        <p:nvSpPr>
          <p:cNvPr id="10" name="Shape 8"/>
          <p:cNvSpPr/>
          <p:nvPr/>
        </p:nvSpPr>
        <p:spPr>
          <a:xfrm>
            <a:off x="8503920" y="914400"/>
            <a:ext cx="1005840" cy="1005840"/>
          </a:xfrm>
          <a:prstGeom prst="ellipse">
            <a:avLst/>
          </a:prstGeom>
          <a:solidFill>
            <a:schemeClr val="accent1"/>
          </a:solidFill>
          <a:ln w="12700">
            <a:solidFill>
              <a:schemeClr val="accent1"/>
            </a:solidFill>
            <a:prstDash val="solid"/>
          </a:ln>
        </p:spPr>
      </p:sp>
      <p:pic>
        <p:nvPicPr>
          <p:cNvPr id="11" name="Image 0" descr="preencoded.png">    </p:cNvPr>
          <p:cNvPicPr>
            <a:picLocks noChangeAspect="1"/>
          </p:cNvPicPr>
          <p:nvPr/>
        </p:nvPicPr>
        <p:blipFill>
          <a:blip r:embed="rId1"/>
          <a:stretch>
            <a:fillRect/>
          </a:stretch>
        </p:blipFill>
        <p:spPr>
          <a:xfrm>
            <a:off x="8775497" y="1185977"/>
            <a:ext cx="462686" cy="462686"/>
          </a:xfrm>
          <a:prstGeom prst="rect">
            <a:avLst/>
          </a:prstGeom>
        </p:spPr>
      </p:pic>
      <p:sp>
        <p:nvSpPr>
          <p:cNvPr id="12" name="Text 9"/>
          <p:cNvSpPr txBox="1"/>
          <p:nvPr/>
        </p:nvSpPr>
        <p:spPr>
          <a:xfrm>
            <a:off x="9738360" y="10789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.pcap capture</a:t>
            </a:r>
            <a:endParaRPr lang="en-US" sz="1900" dirty="0"/>
          </a:p>
        </p:txBody>
      </p:sp>
      <p:sp>
        <p:nvSpPr>
          <p:cNvPr id="13" name="Text 10"/>
          <p:cNvSpPr txBox="1"/>
          <p:nvPr/>
        </p:nvSpPr>
        <p:spPr>
          <a:xfrm>
            <a:off x="9738360" y="1463040"/>
            <a:ext cx="2560320" cy="320040"/>
          </a:xfrm>
          <a:prstGeom prst="rect">
            <a:avLst/>
          </a:prstGeom>
          <a:noFill/>
          <a:ln/>
        </p:spPr>
        <p:txBody>
          <a:bodyPr wrap="square" lIns="0" tIns="0" rIns="0" bIns="0" rtlCol="0" anchor="t"/>
          <a:lstStyle/>
          <a:p>
            <a:pPr indent="0" marL="0">
              <a:buNone/>
            </a:pPr>
            <a:r>
              <a:rPr lang="en-US" sz="1500" dirty="0">
                <a:solidFill>
                  <a:schemeClr val="bg2"/>
                </a:solidFill>
              </a:rPr>
              <a:t>Network evidence in</a:t>
            </a:r>
            <a:endParaRPr lang="en-US" sz="1500" dirty="0"/>
          </a:p>
        </p:txBody>
      </p:sp>
      <p:sp>
        <p:nvSpPr>
          <p:cNvPr id="14" name="Shape 11"/>
          <p:cNvSpPr/>
          <p:nvPr/>
        </p:nvSpPr>
        <p:spPr>
          <a:xfrm>
            <a:off x="9006840" y="2011680"/>
            <a:ext cx="0" cy="411480"/>
          </a:xfrm>
          <a:prstGeom prst="line">
            <a:avLst/>
          </a:prstGeom>
          <a:noFill/>
          <a:ln w="19050">
            <a:solidFill>
              <a:schemeClr val="bg2"/>
            </a:solidFill>
            <a:prstDash val="dash"/>
            <a:tailEnd type="triangle"/>
          </a:ln>
        </p:spPr>
      </p:sp>
      <p:sp>
        <p:nvSpPr>
          <p:cNvPr id="15" name="Shape 12"/>
          <p:cNvSpPr/>
          <p:nvPr/>
        </p:nvSpPr>
        <p:spPr>
          <a:xfrm>
            <a:off x="8503920" y="2514600"/>
            <a:ext cx="1005840" cy="1005840"/>
          </a:xfrm>
          <a:prstGeom prst="ellipse">
            <a:avLst/>
          </a:prstGeom>
          <a:solidFill>
            <a:schemeClr val="accent1"/>
          </a:solidFill>
          <a:ln w="12700">
            <a:solidFill>
              <a:schemeClr val="accent1"/>
            </a:solidFill>
            <a:prstDash val="solid"/>
          </a:ln>
        </p:spPr>
      </p:sp>
      <p:pic>
        <p:nvPicPr>
          <p:cNvPr id="16" name="Image 1" descr="preencoded.png">    </p:cNvPr>
          <p:cNvPicPr>
            <a:picLocks noChangeAspect="1"/>
          </p:cNvPicPr>
          <p:nvPr/>
        </p:nvPicPr>
        <p:blipFill>
          <a:blip r:embed="rId2"/>
          <a:stretch>
            <a:fillRect/>
          </a:stretch>
        </p:blipFill>
        <p:spPr>
          <a:xfrm>
            <a:off x="8775497" y="2786177"/>
            <a:ext cx="462686" cy="462686"/>
          </a:xfrm>
          <a:prstGeom prst="rect">
            <a:avLst/>
          </a:prstGeom>
        </p:spPr>
      </p:pic>
      <p:sp>
        <p:nvSpPr>
          <p:cNvPr id="17" name="Text 13"/>
          <p:cNvSpPr txBox="1"/>
          <p:nvPr/>
        </p:nvSpPr>
        <p:spPr>
          <a:xfrm>
            <a:off x="9738360" y="26791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Detection rules</a:t>
            </a:r>
            <a:endParaRPr lang="en-US" sz="1900" dirty="0"/>
          </a:p>
        </p:txBody>
      </p:sp>
      <p:sp>
        <p:nvSpPr>
          <p:cNvPr id="18" name="Text 14"/>
          <p:cNvSpPr txBox="1"/>
          <p:nvPr/>
        </p:nvSpPr>
        <p:spPr>
          <a:xfrm>
            <a:off x="9738360" y="3063240"/>
            <a:ext cx="2560320" cy="320040"/>
          </a:xfrm>
          <a:prstGeom prst="rect">
            <a:avLst/>
          </a:prstGeom>
          <a:noFill/>
          <a:ln/>
        </p:spPr>
        <p:txBody>
          <a:bodyPr wrap="square" lIns="0" tIns="0" rIns="0" bIns="0" rtlCol="0" anchor="t"/>
          <a:lstStyle/>
          <a:p>
            <a:pPr indent="0" marL="0">
              <a:buNone/>
            </a:pPr>
            <a:r>
              <a:rPr lang="en-US" sz="1500" dirty="0">
                <a:solidFill>
                  <a:schemeClr val="bg2"/>
                </a:solidFill>
              </a:rPr>
              <a:t>Transparent and explainable</a:t>
            </a:r>
            <a:endParaRPr lang="en-US" sz="1500" dirty="0"/>
          </a:p>
        </p:txBody>
      </p:sp>
      <p:sp>
        <p:nvSpPr>
          <p:cNvPr id="19" name="Shape 15"/>
          <p:cNvSpPr/>
          <p:nvPr/>
        </p:nvSpPr>
        <p:spPr>
          <a:xfrm>
            <a:off x="9006840" y="3611880"/>
            <a:ext cx="0" cy="411480"/>
          </a:xfrm>
          <a:prstGeom prst="line">
            <a:avLst/>
          </a:prstGeom>
          <a:noFill/>
          <a:ln w="19050">
            <a:solidFill>
              <a:schemeClr val="bg2"/>
            </a:solidFill>
            <a:prstDash val="dash"/>
            <a:tailEnd type="triangle"/>
          </a:ln>
        </p:spPr>
      </p:sp>
      <p:sp>
        <p:nvSpPr>
          <p:cNvPr id="20" name="Shape 16"/>
          <p:cNvSpPr/>
          <p:nvPr/>
        </p:nvSpPr>
        <p:spPr>
          <a:xfrm>
            <a:off x="8503920" y="4114800"/>
            <a:ext cx="1005840" cy="1005840"/>
          </a:xfrm>
          <a:prstGeom prst="ellipse">
            <a:avLst/>
          </a:prstGeom>
          <a:solidFill>
            <a:schemeClr val="accent2"/>
          </a:solidFill>
          <a:ln w="12700">
            <a:solidFill>
              <a:schemeClr val="accent2"/>
            </a:solidFill>
            <a:prstDash val="solid"/>
          </a:ln>
        </p:spPr>
      </p:sp>
      <p:pic>
        <p:nvPicPr>
          <p:cNvPr id="21" name="Image 2" descr="preencoded.png">    </p:cNvPr>
          <p:cNvPicPr>
            <a:picLocks noChangeAspect="1"/>
          </p:cNvPicPr>
          <p:nvPr/>
        </p:nvPicPr>
        <p:blipFill>
          <a:blip r:embed="rId3"/>
          <a:stretch>
            <a:fillRect/>
          </a:stretch>
        </p:blipFill>
        <p:spPr>
          <a:xfrm>
            <a:off x="8775497" y="4386377"/>
            <a:ext cx="462686" cy="462686"/>
          </a:xfrm>
          <a:prstGeom prst="rect">
            <a:avLst/>
          </a:prstGeom>
        </p:spPr>
      </p:pic>
      <p:sp>
        <p:nvSpPr>
          <p:cNvPr id="22" name="Text 17"/>
          <p:cNvSpPr txBox="1"/>
          <p:nvPr/>
        </p:nvSpPr>
        <p:spPr>
          <a:xfrm>
            <a:off x="9738360" y="4279392"/>
            <a:ext cx="2560320" cy="384048"/>
          </a:xfrm>
          <a:prstGeom prst="rect">
            <a:avLst/>
          </a:prstGeom>
          <a:noFill/>
          <a:ln/>
        </p:spPr>
        <p:txBody>
          <a:bodyPr wrap="square" lIns="0" tIns="0" rIns="0" bIns="0" rtlCol="0" anchor="t"/>
          <a:lstStyle/>
          <a:p>
            <a:pPr indent="0" marL="0">
              <a:buNone/>
            </a:pPr>
            <a:r>
              <a:rPr lang="en-US" sz="1900" b="1" dirty="0">
                <a:solidFill>
                  <a:schemeClr val="bg1"/>
                </a:solidFill>
              </a:rPr>
              <a:t>Findings report</a:t>
            </a:r>
            <a:endParaRPr lang="en-US" sz="1900" dirty="0"/>
          </a:p>
        </p:txBody>
      </p:sp>
      <p:sp>
        <p:nvSpPr>
          <p:cNvPr id="23" name="Text 18"/>
          <p:cNvSpPr txBox="1"/>
          <p:nvPr/>
        </p:nvSpPr>
        <p:spPr>
          <a:xfrm>
            <a:off x="9738360" y="4663440"/>
            <a:ext cx="2560320" cy="320040"/>
          </a:xfrm>
          <a:prstGeom prst="rect">
            <a:avLst/>
          </a:prstGeom>
          <a:noFill/>
          <a:ln/>
        </p:spPr>
        <p:txBody>
          <a:bodyPr wrap="square" lIns="0" tIns="0" rIns="0" bIns="0" rtlCol="0" anchor="t"/>
          <a:lstStyle/>
          <a:p>
            <a:pPr indent="0" marL="0">
              <a:buNone/>
            </a:pPr>
            <a:r>
              <a:rPr lang="en-US" sz="1500" dirty="0">
                <a:solidFill>
                  <a:schemeClr val="bg2"/>
                </a:solidFill>
              </a:rPr>
              <a:t>Evidence an analyst can verify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From raw packets to findings you can explain</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2</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01  LEARNING OUTCOMES &amp; CONTEXT</a:t>
            </a:r>
          </a:p>
        </p:txBody>
      </p:sp>
      <p:sp>
        <p:nvSpPr>
          <p:cNvPr id="27" name="Analyst challenge"/>
          <p:cNvSpPr/>
          <p:nvPr/>
        </p:nvSpPr>
        <p:spPr>
          <a:xfrm>
            <a:off x="548640" y="1691640"/>
            <a:ext cx="5394960" cy="2194560"/>
          </a:xfrm>
          <a:prstGeom prst="roundRect">
            <a:avLst>
              <a:gd name="adj" fmla="val 25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nalyst"/>
          <p:cNvPicPr>
            <a:picLocks noChangeAspect="1"/>
          </p:cNvPicPr>
          <p:nvPr/>
        </p:nvPicPr>
        <p:blipFill>
          <a:blip r:embed="rId1"/>
          <a:stretch>
            <a:fillRect/>
          </a:stretch>
        </p:blipFill>
        <p:spPr>
          <a:xfrm>
            <a:off x="822960" y="1920240"/>
            <a:ext cx="384048" cy="384048"/>
          </a:xfrm>
          <a:prstGeom prst="rect">
            <a:avLst/>
          </a:prstGeom>
        </p:spPr>
      </p:pic>
      <p:sp>
        <p:nvSpPr>
          <p:cNvPr id="29" name="TextBox 28"/>
          <p:cNvSpPr txBox="1"/>
          <p:nvPr/>
        </p:nvSpPr>
        <p:spPr>
          <a:xfrm>
            <a:off x="1371600" y="1938528"/>
            <a:ext cx="4389120" cy="347472"/>
          </a:xfrm>
          <a:prstGeom prst="rect">
            <a:avLst/>
          </a:prstGeom>
          <a:noFill/>
        </p:spPr>
        <p:txBody>
          <a:bodyPr wrap="square" lIns="0" rIns="0" tIns="0" bIns="0" anchor="ctr">
            <a:spAutoFit/>
          </a:bodyPr>
          <a:lstStyle/>
          <a:p>
            <a:r>
              <a:rPr sz="1200" b="1" i="0">
                <a:solidFill>
                  <a:schemeClr val="accent1"/>
                </a:solidFill>
                <a:latin typeface="Courier New"/>
              </a:rPr>
              <a:t>THE ANALYST'S CHALLENGE</a:t>
            </a:r>
          </a:p>
        </p:txBody>
      </p:sp>
      <p:sp>
        <p:nvSpPr>
          <p:cNvPr id="30" name="TextBox 29"/>
          <p:cNvSpPr txBox="1"/>
          <p:nvPr/>
        </p:nvSpPr>
        <p:spPr>
          <a:xfrm>
            <a:off x="822960" y="2487168"/>
            <a:ext cx="4892040" cy="1325880"/>
          </a:xfrm>
          <a:prstGeom prst="rect">
            <a:avLst/>
          </a:prstGeom>
          <a:noFill/>
        </p:spPr>
        <p:txBody>
          <a:bodyPr wrap="square" lIns="0" rIns="0" tIns="0" bIns="0" anchor="t">
            <a:spAutoFit/>
          </a:bodyPr>
          <a:lstStyle/>
          <a:p>
            <a:pPr>
              <a:spcAft>
                <a:spcPts val="800"/>
              </a:spcAft>
            </a:pPr>
            <a:r>
              <a:rPr sz="1400" b="0" i="0">
                <a:solidFill>
                  <a:schemeClr val="bg1"/>
                </a:solidFill>
              </a:rPr>
              <a:t>Something suspicious has happened, and you're handed a PCAP holding thousands, or millions, of packets. Opening them one by one is slow, and important patterns are easy to miss.</a:t>
            </a:r>
          </a:p>
          <a:p>
            <a:r>
              <a:rPr sz="1400" b="0" i="0">
                <a:solidFill>
                  <a:schemeClr val="bg2"/>
                </a:solidFill>
              </a:rPr>
              <a:t>Your job: </a:t>
            </a:r>
            <a:r>
              <a:rPr sz="1400" b="1" i="0">
                <a:solidFill>
                  <a:schemeClr val="accent1"/>
                </a:solidFill>
              </a:rPr>
              <a:t>turn raw evidence into findings you can explain.</a:t>
            </a:r>
          </a:p>
        </p:txBody>
      </p:sp>
      <p:sp>
        <p:nvSpPr>
          <p:cNvPr id="31" name="What is a PCAP"/>
          <p:cNvSpPr/>
          <p:nvPr/>
        </p:nvSpPr>
        <p:spPr>
          <a:xfrm>
            <a:off x="548640" y="4069080"/>
            <a:ext cx="5394960" cy="1883664"/>
          </a:xfrm>
          <a:prstGeom prst="roundRect">
            <a:avLst>
              <a:gd name="adj" fmla="val 2912"/>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e"/>
          <p:cNvPicPr>
            <a:picLocks noChangeAspect="1"/>
          </p:cNvPicPr>
          <p:nvPr/>
        </p:nvPicPr>
        <p:blipFill>
          <a:blip r:embed="rId9"/>
          <a:stretch>
            <a:fillRect/>
          </a:stretch>
        </p:blipFill>
        <p:spPr>
          <a:xfrm>
            <a:off x="841248" y="4297680"/>
            <a:ext cx="347472" cy="347472"/>
          </a:xfrm>
          <a:prstGeom prst="rect">
            <a:avLst/>
          </a:prstGeom>
        </p:spPr>
      </p:pic>
      <p:sp>
        <p:nvSpPr>
          <p:cNvPr id="33" name="TextBox 32"/>
          <p:cNvSpPr txBox="1"/>
          <p:nvPr/>
        </p:nvSpPr>
        <p:spPr>
          <a:xfrm>
            <a:off x="1371600" y="4288536"/>
            <a:ext cx="4389120" cy="347472"/>
          </a:xfrm>
          <a:prstGeom prst="rect">
            <a:avLst/>
          </a:prstGeom>
          <a:noFill/>
        </p:spPr>
        <p:txBody>
          <a:bodyPr wrap="square" lIns="0" rIns="0" tIns="0" bIns="0" anchor="ctr">
            <a:spAutoFit/>
          </a:bodyPr>
          <a:lstStyle/>
          <a:p>
            <a:r>
              <a:rPr sz="1200" b="1" i="0">
                <a:solidFill>
                  <a:schemeClr val="accent1"/>
                </a:solidFill>
                <a:latin typeface="Courier New"/>
              </a:rPr>
              <a:t>WHAT'S IN A PCAP?</a:t>
            </a:r>
          </a:p>
        </p:txBody>
      </p:sp>
      <p:sp>
        <p:nvSpPr>
          <p:cNvPr id="34" name="TextBox 33"/>
          <p:cNvSpPr txBox="1"/>
          <p:nvPr/>
        </p:nvSpPr>
        <p:spPr>
          <a:xfrm>
            <a:off x="822960" y="4800600"/>
            <a:ext cx="4892040" cy="1097280"/>
          </a:xfrm>
          <a:prstGeom prst="rect">
            <a:avLst/>
          </a:prstGeom>
          <a:noFill/>
        </p:spPr>
        <p:txBody>
          <a:bodyPr wrap="square" lIns="0" rIns="0" tIns="0" bIns="0" anchor="t">
            <a:spAutoFit/>
          </a:bodyPr>
          <a:lstStyle/>
          <a:p>
            <a:pPr>
              <a:spcAft>
                <a:spcPts val="600"/>
              </a:spcAft>
            </a:pPr>
            <a:r>
              <a:rPr sz="1350" b="0" i="0">
                <a:solidFill>
                  <a:schemeClr val="bg1"/>
                </a:solidFill>
              </a:rPr>
              <a:t>Packets recorded at one capture point: when, who, which protocol and port, size, TCP flags, and payload if it isn't encrypted.</a:t>
            </a:r>
          </a:p>
          <a:p>
            <a:r>
              <a:rPr sz="1350" b="1" i="0">
                <a:solidFill>
                  <a:schemeClr val="accent4"/>
                </a:solidFill>
              </a:rPr>
              <a:t>Evidence, not conclusions. </a:t>
            </a:r>
            <a:r>
              <a:rPr sz="1350" b="0" i="0">
                <a:solidFill>
                  <a:schemeClr val="bg2"/>
                </a:solidFill>
              </a:rPr>
              <a:t>One SYN is normal; thousands from one source in seconds deserves a look.</a:t>
            </a:r>
          </a:p>
        </p:txBody>
      </p:sp>
      <p:sp>
        <p:nvSpPr>
          <p:cNvPr id="35" name="TextBox 34"/>
          <p:cNvSpPr txBox="1"/>
          <p:nvPr/>
        </p:nvSpPr>
        <p:spPr>
          <a:xfrm>
            <a:off x="6263640" y="1691640"/>
            <a:ext cx="5394960" cy="365760"/>
          </a:xfrm>
          <a:prstGeom prst="rect">
            <a:avLst/>
          </a:prstGeom>
          <a:noFill/>
        </p:spPr>
        <p:txBody>
          <a:bodyPr wrap="square" lIns="0" rIns="0" tIns="0" bIns="0" anchor="t">
            <a:spAutoFit/>
          </a:bodyPr>
          <a:lstStyle/>
          <a:p>
            <a:r>
              <a:rPr sz="1800" b="1" i="0">
                <a:solidFill>
                  <a:schemeClr val="accent1"/>
                </a:solidFill>
              </a:rPr>
              <a:t>By the end, you can…</a:t>
            </a:r>
          </a:p>
        </p:txBody>
      </p:sp>
      <p:sp>
        <p:nvSpPr>
          <p:cNvPr id="36" name="LO1"/>
          <p:cNvSpPr/>
          <p:nvPr/>
        </p:nvSpPr>
        <p:spPr>
          <a:xfrm>
            <a:off x="6263640" y="2194560"/>
            <a:ext cx="5376672" cy="841248"/>
          </a:xfrm>
          <a:prstGeom prst="roundRect">
            <a:avLst>
              <a:gd name="adj" fmla="val 652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92240" y="2194560"/>
            <a:ext cx="685800" cy="841248"/>
          </a:xfrm>
          <a:prstGeom prst="rect">
            <a:avLst/>
          </a:prstGeom>
          <a:noFill/>
        </p:spPr>
        <p:txBody>
          <a:bodyPr wrap="square" lIns="0" rIns="0" tIns="0" bIns="0" anchor="ctr">
            <a:spAutoFit/>
          </a:bodyPr>
          <a:lstStyle/>
          <a:p>
            <a:r>
              <a:rPr sz="1500" b="1" i="0">
                <a:solidFill>
                  <a:schemeClr val="accent1"/>
                </a:solidFill>
                <a:latin typeface="Courier New"/>
              </a:rPr>
              <a:t>LO1</a:t>
            </a:r>
          </a:p>
        </p:txBody>
      </p:sp>
      <p:sp>
        <p:nvSpPr>
          <p:cNvPr id="38" name="TextBox 37"/>
          <p:cNvSpPr txBox="1"/>
          <p:nvPr/>
        </p:nvSpPr>
        <p:spPr>
          <a:xfrm>
            <a:off x="7269480" y="2194560"/>
            <a:ext cx="4206240" cy="841248"/>
          </a:xfrm>
          <a:prstGeom prst="rect">
            <a:avLst/>
          </a:prstGeom>
          <a:noFill/>
        </p:spPr>
        <p:txBody>
          <a:bodyPr wrap="square" lIns="0" rIns="0" tIns="0" bIns="0" anchor="ctr">
            <a:spAutoFit/>
          </a:bodyPr>
          <a:lstStyle/>
          <a:p>
            <a:r>
              <a:rPr sz="1400" b="0" i="0">
                <a:solidFill>
                  <a:schemeClr val="bg1"/>
                </a:solidFill>
              </a:rPr>
              <a:t>Explain how a PCAP analysis tool is structured: its pipeline, modules and data flow</a:t>
            </a:r>
          </a:p>
        </p:txBody>
      </p:sp>
      <p:sp>
        <p:nvSpPr>
          <p:cNvPr id="39" name="LO2"/>
          <p:cNvSpPr/>
          <p:nvPr/>
        </p:nvSpPr>
        <p:spPr>
          <a:xfrm>
            <a:off x="6263640" y="3145536"/>
            <a:ext cx="5376672" cy="841248"/>
          </a:xfrm>
          <a:prstGeom prst="roundRect">
            <a:avLst>
              <a:gd name="adj" fmla="val 652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92240" y="3145536"/>
            <a:ext cx="685800" cy="841248"/>
          </a:xfrm>
          <a:prstGeom prst="rect">
            <a:avLst/>
          </a:prstGeom>
          <a:noFill/>
        </p:spPr>
        <p:txBody>
          <a:bodyPr wrap="square" lIns="0" rIns="0" tIns="0" bIns="0" anchor="ctr">
            <a:spAutoFit/>
          </a:bodyPr>
          <a:lstStyle/>
          <a:p>
            <a:r>
              <a:rPr sz="1500" b="1" i="0">
                <a:solidFill>
                  <a:schemeClr val="accent1"/>
                </a:solidFill>
                <a:latin typeface="Courier New"/>
              </a:rPr>
              <a:t>LO2</a:t>
            </a:r>
          </a:p>
        </p:txBody>
      </p:sp>
      <p:sp>
        <p:nvSpPr>
          <p:cNvPr id="41" name="TextBox 40"/>
          <p:cNvSpPr txBox="1"/>
          <p:nvPr/>
        </p:nvSpPr>
        <p:spPr>
          <a:xfrm>
            <a:off x="7269480" y="3145536"/>
            <a:ext cx="4206240" cy="841248"/>
          </a:xfrm>
          <a:prstGeom prst="rect">
            <a:avLst/>
          </a:prstGeom>
          <a:noFill/>
        </p:spPr>
        <p:txBody>
          <a:bodyPr wrap="square" lIns="0" rIns="0" tIns="0" bIns="0" anchor="ctr">
            <a:spAutoFit/>
          </a:bodyPr>
          <a:lstStyle/>
          <a:p>
            <a:r>
              <a:rPr sz="1400" b="0" i="0">
                <a:solidFill>
                  <a:schemeClr val="bg1"/>
                </a:solidFill>
              </a:rPr>
              <a:t>Turn packet-level data into reusable traffic statistics</a:t>
            </a:r>
          </a:p>
        </p:txBody>
      </p:sp>
      <p:sp>
        <p:nvSpPr>
          <p:cNvPr id="42" name="LO3"/>
          <p:cNvSpPr/>
          <p:nvPr/>
        </p:nvSpPr>
        <p:spPr>
          <a:xfrm>
            <a:off x="6263640" y="4096512"/>
            <a:ext cx="5376672" cy="841248"/>
          </a:xfrm>
          <a:prstGeom prst="roundRect">
            <a:avLst>
              <a:gd name="adj" fmla="val 652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92240" y="4096512"/>
            <a:ext cx="685800" cy="841248"/>
          </a:xfrm>
          <a:prstGeom prst="rect">
            <a:avLst/>
          </a:prstGeom>
          <a:noFill/>
        </p:spPr>
        <p:txBody>
          <a:bodyPr wrap="square" lIns="0" rIns="0" tIns="0" bIns="0" anchor="ctr">
            <a:spAutoFit/>
          </a:bodyPr>
          <a:lstStyle/>
          <a:p>
            <a:r>
              <a:rPr sz="1500" b="1" i="0">
                <a:solidFill>
                  <a:schemeClr val="accent1"/>
                </a:solidFill>
                <a:latin typeface="Courier New"/>
              </a:rPr>
              <a:t>LO3</a:t>
            </a:r>
          </a:p>
        </p:txBody>
      </p:sp>
      <p:sp>
        <p:nvSpPr>
          <p:cNvPr id="44" name="TextBox 43"/>
          <p:cNvSpPr txBox="1"/>
          <p:nvPr/>
        </p:nvSpPr>
        <p:spPr>
          <a:xfrm>
            <a:off x="7269480" y="4096512"/>
            <a:ext cx="4206240" cy="841248"/>
          </a:xfrm>
          <a:prstGeom prst="rect">
            <a:avLst/>
          </a:prstGeom>
          <a:noFill/>
        </p:spPr>
        <p:txBody>
          <a:bodyPr wrap="square" lIns="0" rIns="0" tIns="0" bIns="0" anchor="ctr">
            <a:spAutoFit/>
          </a:bodyPr>
          <a:lstStyle/>
          <a:p>
            <a:r>
              <a:rPr sz="1400" b="0" i="0">
                <a:solidFill>
                  <a:schemeClr val="bg1"/>
                </a:solidFill>
              </a:rPr>
              <a:t>Write a heuristic rule that turns evidence into a cautious, explainable finding</a:t>
            </a:r>
          </a:p>
        </p:txBody>
      </p:sp>
      <p:sp>
        <p:nvSpPr>
          <p:cNvPr id="45" name="LO4"/>
          <p:cNvSpPr/>
          <p:nvPr/>
        </p:nvSpPr>
        <p:spPr>
          <a:xfrm>
            <a:off x="6263640" y="5047488"/>
            <a:ext cx="5376672" cy="841248"/>
          </a:xfrm>
          <a:prstGeom prst="roundRect">
            <a:avLst>
              <a:gd name="adj" fmla="val 652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492240" y="5047488"/>
            <a:ext cx="685800" cy="841248"/>
          </a:xfrm>
          <a:prstGeom prst="rect">
            <a:avLst/>
          </a:prstGeom>
          <a:noFill/>
        </p:spPr>
        <p:txBody>
          <a:bodyPr wrap="square" lIns="0" rIns="0" tIns="0" bIns="0" anchor="ctr">
            <a:spAutoFit/>
          </a:bodyPr>
          <a:lstStyle/>
          <a:p>
            <a:r>
              <a:rPr sz="1500" b="1" i="0">
                <a:solidFill>
                  <a:schemeClr val="accent2"/>
                </a:solidFill>
                <a:latin typeface="Courier New"/>
              </a:rPr>
              <a:t>LO4</a:t>
            </a:r>
          </a:p>
        </p:txBody>
      </p:sp>
      <p:sp>
        <p:nvSpPr>
          <p:cNvPr id="47" name="TextBox 46"/>
          <p:cNvSpPr txBox="1"/>
          <p:nvPr/>
        </p:nvSpPr>
        <p:spPr>
          <a:xfrm>
            <a:off x="7269480" y="5047488"/>
            <a:ext cx="4206240" cy="841248"/>
          </a:xfrm>
          <a:prstGeom prst="rect">
            <a:avLst/>
          </a:prstGeom>
          <a:noFill/>
        </p:spPr>
        <p:txBody>
          <a:bodyPr wrap="square" lIns="0" rIns="0" tIns="0" bIns="0" anchor="ctr">
            <a:spAutoFit/>
          </a:bodyPr>
          <a:lstStyle/>
          <a:p>
            <a:r>
              <a:rPr sz="1400" b="0" i="0">
                <a:solidFill>
                  <a:schemeClr val="bg1"/>
                </a:solidFill>
              </a:rPr>
              <a:t>Use AI to help build, review and test code that you can still explain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Get set up: GitHub, Git and a secure connection</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3</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02  PREPARATION</a:t>
            </a:r>
          </a:p>
        </p:txBody>
      </p:sp>
      <p:sp>
        <p:nvSpPr>
          <p:cNvPr id="27" name="Create a GitHub account"/>
          <p:cNvSpPr/>
          <p:nvPr/>
        </p:nvSpPr>
        <p:spPr>
          <a:xfrm>
            <a:off x="548640" y="1691640"/>
            <a:ext cx="3514039" cy="3840480"/>
          </a:xfrm>
          <a:prstGeom prst="roundRect">
            <a:avLst>
              <a:gd name="adj" fmla="val 156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1920240"/>
            <a:ext cx="2926080" cy="274320"/>
          </a:xfrm>
          <a:prstGeom prst="rect">
            <a:avLst/>
          </a:prstGeom>
          <a:noFill/>
        </p:spPr>
        <p:txBody>
          <a:bodyPr wrap="square" lIns="0" rIns="0" tIns="0" bIns="0" anchor="t">
            <a:spAutoFit/>
          </a:bodyPr>
          <a:lstStyle/>
          <a:p>
            <a:r>
              <a:rPr sz="1200" b="1" i="0">
                <a:solidFill>
                  <a:schemeClr val="accent1"/>
                </a:solidFill>
                <a:latin typeface="Courier New"/>
              </a:rPr>
              <a:t>STEP 1</a:t>
            </a:r>
          </a:p>
        </p:txBody>
      </p:sp>
      <p:pic>
        <p:nvPicPr>
          <p:cNvPr id="29" name="Picture 28" descr="Create a GitHub account"/>
          <p:cNvPicPr>
            <a:picLocks noChangeAspect="1"/>
          </p:cNvPicPr>
          <p:nvPr/>
        </p:nvPicPr>
        <p:blipFill>
          <a:blip r:embed="rId1"/>
          <a:stretch>
            <a:fillRect/>
          </a:stretch>
        </p:blipFill>
        <p:spPr>
          <a:xfrm>
            <a:off x="822959" y="2313432"/>
            <a:ext cx="384048" cy="384048"/>
          </a:xfrm>
          <a:prstGeom prst="rect">
            <a:avLst/>
          </a:prstGeom>
        </p:spPr>
      </p:pic>
      <p:sp>
        <p:nvSpPr>
          <p:cNvPr id="30" name="TextBox 29"/>
          <p:cNvSpPr txBox="1"/>
          <p:nvPr/>
        </p:nvSpPr>
        <p:spPr>
          <a:xfrm>
            <a:off x="1325880" y="2276856"/>
            <a:ext cx="2553919" cy="457200"/>
          </a:xfrm>
          <a:prstGeom prst="rect">
            <a:avLst/>
          </a:prstGeom>
          <a:noFill/>
        </p:spPr>
        <p:txBody>
          <a:bodyPr wrap="square" lIns="0" rIns="0" tIns="0" bIns="0" anchor="ctr">
            <a:spAutoFit/>
          </a:bodyPr>
          <a:lstStyle/>
          <a:p>
            <a:r>
              <a:rPr sz="1700" b="1" i="0">
                <a:solidFill>
                  <a:schemeClr val="bg1"/>
                </a:solidFill>
              </a:rPr>
              <a:t>Create a GitHub account</a:t>
            </a:r>
          </a:p>
        </p:txBody>
      </p:sp>
      <p:sp>
        <p:nvSpPr>
          <p:cNvPr id="31" name="TextBox 30"/>
          <p:cNvSpPr txBox="1"/>
          <p:nvPr/>
        </p:nvSpPr>
        <p:spPr>
          <a:xfrm>
            <a:off x="822959" y="2971800"/>
            <a:ext cx="3011119" cy="2423160"/>
          </a:xfrm>
          <a:prstGeom prst="rect">
            <a:avLst/>
          </a:prstGeom>
          <a:noFill/>
        </p:spPr>
        <p:txBody>
          <a:bodyPr wrap="square" lIns="0" rIns="0" tIns="0" bIns="0" anchor="t">
            <a:spAutoFit/>
          </a:bodyPr>
          <a:lstStyle/>
          <a:p>
            <a:pPr>
              <a:spcAft>
                <a:spcPts val="900"/>
              </a:spcAft>
            </a:pPr>
            <a:r>
              <a:rPr sz="1350" b="0" i="0">
                <a:solidFill>
                  <a:schemeClr val="bg2"/>
                </a:solidFill>
              </a:rPr>
              <a:t>Sign up at </a:t>
            </a:r>
            <a:r>
              <a:rPr sz="1350" b="1" i="0">
                <a:solidFill>
                  <a:schemeClr val="bg1"/>
                </a:solidFill>
              </a:rPr>
              <a:t>github.com</a:t>
            </a:r>
          </a:p>
          <a:p>
            <a:pPr>
              <a:spcAft>
                <a:spcPts val="900"/>
              </a:spcAft>
            </a:pPr>
            <a:r>
              <a:rPr sz="1350" b="0" i="0">
                <a:solidFill>
                  <a:schemeClr val="bg2"/>
                </a:solidFill>
              </a:rPr>
              <a:t>Pick a username you're happy to share: teammates need it to invite you</a:t>
            </a:r>
          </a:p>
          <a:p>
            <a:r>
              <a:rPr sz="1350" b="1" i="0">
                <a:solidFill>
                  <a:schemeClr val="accent4"/>
                </a:solidFill>
              </a:rPr>
              <a:t>Optional: </a:t>
            </a:r>
            <a:r>
              <a:rPr sz="1350" b="0" i="0">
                <a:solidFill>
                  <a:schemeClr val="bg2"/>
                </a:solidFill>
              </a:rPr>
              <a:t>a student email unlocks the Student Developer Pack</a:t>
            </a:r>
          </a:p>
        </p:txBody>
      </p:sp>
      <p:sp>
        <p:nvSpPr>
          <p:cNvPr id="32" name="Install Git"/>
          <p:cNvSpPr/>
          <p:nvPr/>
        </p:nvSpPr>
        <p:spPr>
          <a:xfrm>
            <a:off x="4336999" y="1691640"/>
            <a:ext cx="3514039" cy="3840480"/>
          </a:xfrm>
          <a:prstGeom prst="roundRect">
            <a:avLst>
              <a:gd name="adj" fmla="val 156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611319" y="1920240"/>
            <a:ext cx="2926080" cy="274320"/>
          </a:xfrm>
          <a:prstGeom prst="rect">
            <a:avLst/>
          </a:prstGeom>
          <a:noFill/>
        </p:spPr>
        <p:txBody>
          <a:bodyPr wrap="square" lIns="0" rIns="0" tIns="0" bIns="0" anchor="t">
            <a:spAutoFit/>
          </a:bodyPr>
          <a:lstStyle/>
          <a:p>
            <a:r>
              <a:rPr sz="1200" b="1" i="0">
                <a:solidFill>
                  <a:schemeClr val="accent1"/>
                </a:solidFill>
                <a:latin typeface="Courier New"/>
              </a:rPr>
              <a:t>STEP 2</a:t>
            </a:r>
          </a:p>
        </p:txBody>
      </p:sp>
      <p:pic>
        <p:nvPicPr>
          <p:cNvPr id="34" name="Picture 33" descr="Install Git"/>
          <p:cNvPicPr>
            <a:picLocks noChangeAspect="1"/>
          </p:cNvPicPr>
          <p:nvPr/>
        </p:nvPicPr>
        <p:blipFill>
          <a:blip r:embed="rId8"/>
          <a:stretch>
            <a:fillRect/>
          </a:stretch>
        </p:blipFill>
        <p:spPr>
          <a:xfrm>
            <a:off x="4611319" y="2313432"/>
            <a:ext cx="384048" cy="384048"/>
          </a:xfrm>
          <a:prstGeom prst="rect">
            <a:avLst/>
          </a:prstGeom>
        </p:spPr>
      </p:pic>
      <p:sp>
        <p:nvSpPr>
          <p:cNvPr id="35" name="TextBox 34"/>
          <p:cNvSpPr txBox="1"/>
          <p:nvPr/>
        </p:nvSpPr>
        <p:spPr>
          <a:xfrm>
            <a:off x="5114239" y="2276856"/>
            <a:ext cx="2553919" cy="457200"/>
          </a:xfrm>
          <a:prstGeom prst="rect">
            <a:avLst/>
          </a:prstGeom>
          <a:noFill/>
        </p:spPr>
        <p:txBody>
          <a:bodyPr wrap="square" lIns="0" rIns="0" tIns="0" bIns="0" anchor="ctr">
            <a:spAutoFit/>
          </a:bodyPr>
          <a:lstStyle/>
          <a:p>
            <a:r>
              <a:rPr sz="1700" b="1" i="0">
                <a:solidFill>
                  <a:schemeClr val="bg1"/>
                </a:solidFill>
              </a:rPr>
              <a:t>Install Git</a:t>
            </a:r>
          </a:p>
        </p:txBody>
      </p:sp>
      <p:sp>
        <p:nvSpPr>
          <p:cNvPr id="36" name="TextBox 35"/>
          <p:cNvSpPr txBox="1"/>
          <p:nvPr/>
        </p:nvSpPr>
        <p:spPr>
          <a:xfrm>
            <a:off x="4611319" y="2971800"/>
            <a:ext cx="3011119" cy="2423160"/>
          </a:xfrm>
          <a:prstGeom prst="rect">
            <a:avLst/>
          </a:prstGeom>
          <a:noFill/>
        </p:spPr>
        <p:txBody>
          <a:bodyPr wrap="square" lIns="0" rIns="0" tIns="0" bIns="0" anchor="t">
            <a:spAutoFit/>
          </a:bodyPr>
          <a:lstStyle/>
          <a:p>
            <a:pPr>
              <a:spcAft>
                <a:spcPts val="300"/>
              </a:spcAft>
            </a:pPr>
            <a:r>
              <a:rPr sz="1300" b="0" i="0">
                <a:solidFill>
                  <a:schemeClr val="bg2"/>
                </a:solidFill>
              </a:rPr>
              <a:t>Check first, it may already be there:</a:t>
            </a:r>
          </a:p>
          <a:p>
            <a:pPr>
              <a:spcAft>
                <a:spcPts val="900"/>
              </a:spcAft>
            </a:pPr>
            <a:r>
              <a:rPr sz="1200" b="1" i="0">
                <a:solidFill>
                  <a:schemeClr val="accent2"/>
                </a:solidFill>
                <a:latin typeface="Courier New"/>
              </a:rPr>
              <a:t>git --version</a:t>
            </a:r>
          </a:p>
          <a:p>
            <a:pPr>
              <a:spcAft>
                <a:spcPts val="200"/>
              </a:spcAft>
            </a:pPr>
            <a:r>
              <a:rPr sz="1300" b="1" i="0">
                <a:solidFill>
                  <a:schemeClr val="bg1"/>
                </a:solidFill>
              </a:rPr>
              <a:t>Windows  </a:t>
            </a:r>
            <a:r>
              <a:rPr sz="1300" b="0" i="0">
                <a:solidFill>
                  <a:schemeClr val="bg2"/>
                </a:solidFill>
              </a:rPr>
              <a:t>git-scm.com or</a:t>
            </a:r>
          </a:p>
          <a:p>
            <a:pPr>
              <a:spcAft>
                <a:spcPts val="700"/>
              </a:spcAft>
            </a:pPr>
            <a:r>
              <a:rPr sz="1200" b="1" i="0">
                <a:solidFill>
                  <a:schemeClr val="accent2"/>
                </a:solidFill>
                <a:latin typeface="Courier New"/>
              </a:rPr>
              <a:t>winget install Git.Git</a:t>
            </a:r>
          </a:p>
          <a:p>
            <a:pPr>
              <a:spcAft>
                <a:spcPts val="700"/>
              </a:spcAft>
            </a:pPr>
            <a:r>
              <a:rPr sz="1300" b="1" i="0">
                <a:solidFill>
                  <a:schemeClr val="bg1"/>
                </a:solidFill>
              </a:rPr>
              <a:t>Mac  </a:t>
            </a:r>
            <a:r>
              <a:rPr sz="1300" b="0" i="0">
                <a:solidFill>
                  <a:schemeClr val="bg2"/>
                </a:solidFill>
              </a:rPr>
              <a:t>accept the Command Line Tools pop-up</a:t>
            </a:r>
          </a:p>
          <a:p>
            <a:r>
              <a:rPr sz="1300" b="1" i="0">
                <a:solidFill>
                  <a:schemeClr val="bg1"/>
                </a:solidFill>
              </a:rPr>
              <a:t>Linux  </a:t>
            </a:r>
            <a:r>
              <a:rPr sz="1200" b="1" i="0">
                <a:solidFill>
                  <a:schemeClr val="accent2"/>
                </a:solidFill>
                <a:latin typeface="Courier New"/>
              </a:rPr>
              <a:t>sudo apt install git</a:t>
            </a:r>
          </a:p>
        </p:txBody>
      </p:sp>
      <p:sp>
        <p:nvSpPr>
          <p:cNvPr id="37" name="Connect Git to GitHub"/>
          <p:cNvSpPr/>
          <p:nvPr/>
        </p:nvSpPr>
        <p:spPr>
          <a:xfrm>
            <a:off x="8125358" y="1691640"/>
            <a:ext cx="3514039" cy="3840480"/>
          </a:xfrm>
          <a:prstGeom prst="roundRect">
            <a:avLst>
              <a:gd name="adj" fmla="val 1561"/>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99678" y="1920240"/>
            <a:ext cx="2926080" cy="274320"/>
          </a:xfrm>
          <a:prstGeom prst="rect">
            <a:avLst/>
          </a:prstGeom>
          <a:noFill/>
        </p:spPr>
        <p:txBody>
          <a:bodyPr wrap="square" lIns="0" rIns="0" tIns="0" bIns="0" anchor="t">
            <a:spAutoFit/>
          </a:bodyPr>
          <a:lstStyle/>
          <a:p>
            <a:r>
              <a:rPr sz="1200" b="1" i="0">
                <a:solidFill>
                  <a:schemeClr val="accent1"/>
                </a:solidFill>
                <a:latin typeface="Courier New"/>
              </a:rPr>
              <a:t>STEP 3</a:t>
            </a:r>
          </a:p>
        </p:txBody>
      </p:sp>
      <p:pic>
        <p:nvPicPr>
          <p:cNvPr id="39" name="Picture 38" descr="Connect Git to GitHub"/>
          <p:cNvPicPr>
            <a:picLocks noChangeAspect="1"/>
          </p:cNvPicPr>
          <p:nvPr/>
        </p:nvPicPr>
        <p:blipFill>
          <a:blip r:embed="rId9"/>
          <a:stretch>
            <a:fillRect/>
          </a:stretch>
        </p:blipFill>
        <p:spPr>
          <a:xfrm>
            <a:off x="8399678" y="2313432"/>
            <a:ext cx="384048" cy="384048"/>
          </a:xfrm>
          <a:prstGeom prst="rect">
            <a:avLst/>
          </a:prstGeom>
        </p:spPr>
      </p:pic>
      <p:sp>
        <p:nvSpPr>
          <p:cNvPr id="40" name="TextBox 39"/>
          <p:cNvSpPr txBox="1"/>
          <p:nvPr/>
        </p:nvSpPr>
        <p:spPr>
          <a:xfrm>
            <a:off x="8902598" y="2276856"/>
            <a:ext cx="2553919" cy="457200"/>
          </a:xfrm>
          <a:prstGeom prst="rect">
            <a:avLst/>
          </a:prstGeom>
          <a:noFill/>
        </p:spPr>
        <p:txBody>
          <a:bodyPr wrap="square" lIns="0" rIns="0" tIns="0" bIns="0" anchor="ctr">
            <a:spAutoFit/>
          </a:bodyPr>
          <a:lstStyle/>
          <a:p>
            <a:r>
              <a:rPr sz="1700" b="1" i="0">
                <a:solidFill>
                  <a:schemeClr val="bg1"/>
                </a:solidFill>
              </a:rPr>
              <a:t>Connect Git to GitHub</a:t>
            </a:r>
          </a:p>
        </p:txBody>
      </p:sp>
      <p:sp>
        <p:nvSpPr>
          <p:cNvPr id="41" name="TextBox 40"/>
          <p:cNvSpPr txBox="1"/>
          <p:nvPr/>
        </p:nvSpPr>
        <p:spPr>
          <a:xfrm>
            <a:off x="8399678" y="2971800"/>
            <a:ext cx="3011119" cy="2423160"/>
          </a:xfrm>
          <a:prstGeom prst="rect">
            <a:avLst/>
          </a:prstGeom>
          <a:noFill/>
        </p:spPr>
        <p:txBody>
          <a:bodyPr wrap="square" lIns="0" rIns="0" tIns="0" bIns="0" anchor="t">
            <a:spAutoFit/>
          </a:bodyPr>
          <a:lstStyle/>
          <a:p>
            <a:pPr>
              <a:spcAft>
                <a:spcPts val="300"/>
              </a:spcAft>
            </a:pPr>
            <a:r>
              <a:rPr sz="1300" b="0" i="0">
                <a:solidFill>
                  <a:schemeClr val="bg2"/>
                </a:solidFill>
              </a:rPr>
              <a:t>Make a key (press Enter at each question):</a:t>
            </a:r>
          </a:p>
          <a:p>
            <a:pPr>
              <a:spcAft>
                <a:spcPts val="900"/>
              </a:spcAft>
            </a:pPr>
            <a:r>
              <a:rPr sz="1200" b="1" i="0">
                <a:solidFill>
                  <a:schemeClr val="accent2"/>
                </a:solidFill>
                <a:latin typeface="Courier New"/>
              </a:rPr>
              <a:t>ssh-keygen -t ed25519</a:t>
            </a:r>
          </a:p>
          <a:p>
            <a:pPr>
              <a:spcAft>
                <a:spcPts val="300"/>
              </a:spcAft>
            </a:pPr>
            <a:r>
              <a:rPr sz="1300" b="0" i="0">
                <a:solidFill>
                  <a:schemeClr val="bg2"/>
                </a:solidFill>
              </a:rPr>
              <a:t>Add the .pub key on GitHub:</a:t>
            </a:r>
          </a:p>
          <a:p>
            <a:pPr>
              <a:spcAft>
                <a:spcPts val="100"/>
              </a:spcAft>
            </a:pPr>
            <a:r>
              <a:rPr sz="1300" b="1" i="0">
                <a:solidFill>
                  <a:schemeClr val="bg1"/>
                </a:solidFill>
              </a:rPr>
              <a:t>Settings → SSH and GPG keys</a:t>
            </a:r>
          </a:p>
          <a:p>
            <a:pPr>
              <a:spcAft>
                <a:spcPts val="900"/>
              </a:spcAft>
            </a:pPr>
            <a:r>
              <a:rPr sz="1300" b="1" i="0">
                <a:solidFill>
                  <a:schemeClr val="bg1"/>
                </a:solidFill>
              </a:rPr>
              <a:t>→ New SSH key</a:t>
            </a:r>
          </a:p>
          <a:p>
            <a:pPr>
              <a:spcAft>
                <a:spcPts val="300"/>
              </a:spcAft>
            </a:pPr>
            <a:r>
              <a:rPr sz="1300" b="0" i="0">
                <a:solidFill>
                  <a:schemeClr val="bg2"/>
                </a:solidFill>
              </a:rPr>
              <a:t>Test it:</a:t>
            </a:r>
          </a:p>
          <a:p>
            <a:r>
              <a:rPr sz="1200" b="1" i="0">
                <a:solidFill>
                  <a:schemeClr val="accent2"/>
                </a:solidFill>
                <a:latin typeface="Courier New"/>
              </a:rPr>
              <a:t>ssh -T git@github.com</a:t>
            </a:r>
          </a:p>
        </p:txBody>
      </p:sp>
      <p:sp>
        <p:nvSpPr>
          <p:cNvPr id="42" name="Codespaces tip"/>
          <p:cNvSpPr/>
          <p:nvPr/>
        </p:nvSpPr>
        <p:spPr>
          <a:xfrm>
            <a:off x="548640" y="5687568"/>
            <a:ext cx="11091672" cy="502920"/>
          </a:xfrm>
          <a:prstGeom prst="roundRect">
            <a:avLst>
              <a:gd name="adj" fmla="val 10909"/>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GitHub"/>
          <p:cNvPicPr>
            <a:picLocks noChangeAspect="1"/>
          </p:cNvPicPr>
          <p:nvPr/>
        </p:nvPicPr>
        <p:blipFill>
          <a:blip r:embed="rId10"/>
          <a:stretch>
            <a:fillRect/>
          </a:stretch>
        </p:blipFill>
        <p:spPr>
          <a:xfrm>
            <a:off x="749808" y="5788152"/>
            <a:ext cx="301752" cy="301752"/>
          </a:xfrm>
          <a:prstGeom prst="rect">
            <a:avLst/>
          </a:prstGeom>
        </p:spPr>
      </p:pic>
      <p:sp>
        <p:nvSpPr>
          <p:cNvPr id="44" name="TextBox 43"/>
          <p:cNvSpPr txBox="1"/>
          <p:nvPr/>
        </p:nvSpPr>
        <p:spPr>
          <a:xfrm>
            <a:off x="1188720" y="5687568"/>
            <a:ext cx="6035040" cy="502920"/>
          </a:xfrm>
          <a:prstGeom prst="rect">
            <a:avLst/>
          </a:prstGeom>
          <a:noFill/>
        </p:spPr>
        <p:txBody>
          <a:bodyPr wrap="square" lIns="0" rIns="0" tIns="0" bIns="0" anchor="ctr">
            <a:spAutoFit/>
          </a:bodyPr>
          <a:lstStyle/>
          <a:p>
            <a:r>
              <a:rPr sz="1300" b="1" i="0">
                <a:solidFill>
                  <a:schemeClr val="accent2"/>
                </a:solidFill>
              </a:rPr>
              <a:t>No installs? </a:t>
            </a:r>
            <a:r>
              <a:rPr sz="1300" b="0" i="0">
                <a:solidFill>
                  <a:schemeClr val="bg1"/>
                </a:solidFill>
              </a:rPr>
              <a:t>A GitHub Codespace runs Git and Python in your browser.</a:t>
            </a:r>
          </a:p>
        </p:txBody>
      </p:sp>
      <p:sp>
        <p:nvSpPr>
          <p:cNvPr id="45" name="TextBox 44"/>
          <p:cNvSpPr txBox="1"/>
          <p:nvPr/>
        </p:nvSpPr>
        <p:spPr>
          <a:xfrm>
            <a:off x="7269480" y="5687568"/>
            <a:ext cx="4206240" cy="502920"/>
          </a:xfrm>
          <a:prstGeom prst="rect">
            <a:avLst/>
          </a:prstGeom>
          <a:noFill/>
        </p:spPr>
        <p:txBody>
          <a:bodyPr wrap="square" lIns="0" rIns="0" tIns="0" bIns="0" anchor="ctr">
            <a:spAutoFit/>
          </a:bodyPr>
          <a:lstStyle/>
          <a:p>
            <a:pPr algn="r"/>
            <a:r>
              <a:rPr sz="1050" b="1" i="0">
                <a:solidFill>
                  <a:schemeClr val="accent1"/>
                </a:solidFill>
                <a:latin typeface="Courier New"/>
              </a:rPr>
              <a:t>github.com/DEEFIBAO/Workshop-3---PCAP-file-analysis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Create the repo and split the jobs</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4</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03  PREPARATION, CONTINUED</a:t>
            </a:r>
          </a:p>
        </p:txBody>
      </p:sp>
      <p:sp>
        <p:nvSpPr>
          <p:cNvPr id="27" name="TextBox 26"/>
          <p:cNvSpPr txBox="1"/>
          <p:nvPr/>
        </p:nvSpPr>
        <p:spPr>
          <a:xfrm>
            <a:off x="548640" y="1691640"/>
            <a:ext cx="5120640" cy="365760"/>
          </a:xfrm>
          <a:prstGeom prst="rect">
            <a:avLst/>
          </a:prstGeom>
          <a:noFill/>
        </p:spPr>
        <p:txBody>
          <a:bodyPr wrap="square" lIns="0" rIns="0" tIns="0" bIns="0" anchor="t">
            <a:spAutoFit/>
          </a:bodyPr>
          <a:lstStyle/>
          <a:p>
            <a:r>
              <a:rPr sz="1800" b="1" i="0">
                <a:solidFill>
                  <a:schemeClr val="accent1"/>
                </a:solidFill>
              </a:rPr>
              <a:t>Organiser, on github.com</a:t>
            </a:r>
          </a:p>
        </p:txBody>
      </p:sp>
      <p:sp>
        <p:nvSpPr>
          <p:cNvPr id="28" name="Oval 27"/>
          <p:cNvSpPr/>
          <p:nvPr/>
        </p:nvSpPr>
        <p:spPr>
          <a:xfrm>
            <a:off x="548640" y="2212848"/>
            <a:ext cx="457200" cy="457200"/>
          </a:xfrm>
          <a:prstGeom prst="ellipse">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212848"/>
            <a:ext cx="457200" cy="457200"/>
          </a:xfrm>
          <a:prstGeom prst="rect">
            <a:avLst/>
          </a:prstGeom>
          <a:noFill/>
        </p:spPr>
        <p:txBody>
          <a:bodyPr wrap="square" lIns="0" rIns="0" tIns="0" bIns="0" anchor="ctr">
            <a:spAutoFit/>
          </a:bodyPr>
          <a:lstStyle/>
          <a:p>
            <a:pPr algn="ctr"/>
            <a:r>
              <a:rPr sz="1500" b="1" i="0">
                <a:solidFill>
                  <a:schemeClr val="accent1"/>
                </a:solidFill>
                <a:latin typeface="Courier New"/>
              </a:rPr>
              <a:t>1</a:t>
            </a:r>
          </a:p>
        </p:txBody>
      </p:sp>
      <p:sp>
        <p:nvSpPr>
          <p:cNvPr id="30" name="TextBox 29"/>
          <p:cNvSpPr txBox="1"/>
          <p:nvPr/>
        </p:nvSpPr>
        <p:spPr>
          <a:xfrm>
            <a:off x="1188720" y="2176272"/>
            <a:ext cx="4480560" cy="292608"/>
          </a:xfrm>
          <a:prstGeom prst="rect">
            <a:avLst/>
          </a:prstGeom>
          <a:noFill/>
        </p:spPr>
        <p:txBody>
          <a:bodyPr wrap="square" lIns="0" rIns="0" tIns="0" bIns="0" anchor="t">
            <a:spAutoFit/>
          </a:bodyPr>
          <a:lstStyle/>
          <a:p>
            <a:r>
              <a:rPr sz="1600" b="1" i="0">
                <a:solidFill>
                  <a:schemeClr val="bg1"/>
                </a:solidFill>
              </a:rPr>
              <a:t>+  →  New repository</a:t>
            </a:r>
          </a:p>
        </p:txBody>
      </p:sp>
      <p:sp>
        <p:nvSpPr>
          <p:cNvPr id="31" name="TextBox 30"/>
          <p:cNvSpPr txBox="1"/>
          <p:nvPr/>
        </p:nvSpPr>
        <p:spPr>
          <a:xfrm>
            <a:off x="1188720" y="2487168"/>
            <a:ext cx="4480560" cy="274320"/>
          </a:xfrm>
          <a:prstGeom prst="rect">
            <a:avLst/>
          </a:prstGeom>
          <a:noFill/>
        </p:spPr>
        <p:txBody>
          <a:bodyPr wrap="square" lIns="0" rIns="0" tIns="0" bIns="0" anchor="t">
            <a:spAutoFit/>
          </a:bodyPr>
          <a:lstStyle/>
          <a:p>
            <a:r>
              <a:rPr sz="1350" b="0" i="0">
                <a:solidFill>
                  <a:schemeClr val="bg2"/>
                </a:solidFill>
              </a:rPr>
              <a:t>Name it with hyphens, e.g. pcap-sentinel-g3</a:t>
            </a:r>
          </a:p>
        </p:txBody>
      </p:sp>
      <p:sp>
        <p:nvSpPr>
          <p:cNvPr id="32" name="Oval 31"/>
          <p:cNvSpPr/>
          <p:nvPr/>
        </p:nvSpPr>
        <p:spPr>
          <a:xfrm>
            <a:off x="548640" y="2980944"/>
            <a:ext cx="457200" cy="457200"/>
          </a:xfrm>
          <a:prstGeom prst="ellipse">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2980944"/>
            <a:ext cx="457200" cy="457200"/>
          </a:xfrm>
          <a:prstGeom prst="rect">
            <a:avLst/>
          </a:prstGeom>
          <a:noFill/>
        </p:spPr>
        <p:txBody>
          <a:bodyPr wrap="square" lIns="0" rIns="0" tIns="0" bIns="0" anchor="ctr">
            <a:spAutoFit/>
          </a:bodyPr>
          <a:lstStyle/>
          <a:p>
            <a:pPr algn="ctr"/>
            <a:r>
              <a:rPr sz="1500" b="1" i="0">
                <a:solidFill>
                  <a:schemeClr val="accent1"/>
                </a:solidFill>
                <a:latin typeface="Courier New"/>
              </a:rPr>
              <a:t>2</a:t>
            </a:r>
          </a:p>
        </p:txBody>
      </p:sp>
      <p:sp>
        <p:nvSpPr>
          <p:cNvPr id="34" name="TextBox 33"/>
          <p:cNvSpPr txBox="1"/>
          <p:nvPr/>
        </p:nvSpPr>
        <p:spPr>
          <a:xfrm>
            <a:off x="1188720" y="2944368"/>
            <a:ext cx="4480560" cy="292608"/>
          </a:xfrm>
          <a:prstGeom prst="rect">
            <a:avLst/>
          </a:prstGeom>
          <a:noFill/>
        </p:spPr>
        <p:txBody>
          <a:bodyPr wrap="square" lIns="0" rIns="0" tIns="0" bIns="0" anchor="t">
            <a:spAutoFit/>
          </a:bodyPr>
          <a:lstStyle/>
          <a:p>
            <a:r>
              <a:rPr sz="1600" b="1" i="0">
                <a:solidFill>
                  <a:schemeClr val="bg1"/>
                </a:solidFill>
              </a:rPr>
              <a:t>Add file  →  Upload files</a:t>
            </a:r>
          </a:p>
        </p:txBody>
      </p:sp>
      <p:sp>
        <p:nvSpPr>
          <p:cNvPr id="35" name="TextBox 34"/>
          <p:cNvSpPr txBox="1"/>
          <p:nvPr/>
        </p:nvSpPr>
        <p:spPr>
          <a:xfrm>
            <a:off x="1188720" y="3255263"/>
            <a:ext cx="4480560" cy="274320"/>
          </a:xfrm>
          <a:prstGeom prst="rect">
            <a:avLst/>
          </a:prstGeom>
          <a:noFill/>
        </p:spPr>
        <p:txBody>
          <a:bodyPr wrap="square" lIns="0" rIns="0" tIns="0" bIns="0" anchor="t">
            <a:spAutoFit/>
          </a:bodyPr>
          <a:lstStyle/>
          <a:p>
            <a:r>
              <a:rPr sz="1350" b="0" i="0">
                <a:solidFill>
                  <a:schemeClr val="bg2"/>
                </a:solidFill>
              </a:rPr>
              <a:t>Drag in the starter project, then Commit changes</a:t>
            </a:r>
          </a:p>
        </p:txBody>
      </p:sp>
      <p:sp>
        <p:nvSpPr>
          <p:cNvPr id="36" name="Oval 35"/>
          <p:cNvSpPr/>
          <p:nvPr/>
        </p:nvSpPr>
        <p:spPr>
          <a:xfrm>
            <a:off x="548640" y="3749039"/>
            <a:ext cx="457200" cy="457200"/>
          </a:xfrm>
          <a:prstGeom prst="ellipse">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749039"/>
            <a:ext cx="457200" cy="457200"/>
          </a:xfrm>
          <a:prstGeom prst="rect">
            <a:avLst/>
          </a:prstGeom>
          <a:noFill/>
        </p:spPr>
        <p:txBody>
          <a:bodyPr wrap="square" lIns="0" rIns="0" tIns="0" bIns="0" anchor="ctr">
            <a:spAutoFit/>
          </a:bodyPr>
          <a:lstStyle/>
          <a:p>
            <a:pPr algn="ctr"/>
            <a:r>
              <a:rPr sz="1500" b="1" i="0">
                <a:solidFill>
                  <a:schemeClr val="accent1"/>
                </a:solidFill>
                <a:latin typeface="Courier New"/>
              </a:rPr>
              <a:t>3</a:t>
            </a:r>
          </a:p>
        </p:txBody>
      </p:sp>
      <p:sp>
        <p:nvSpPr>
          <p:cNvPr id="38" name="TextBox 37"/>
          <p:cNvSpPr txBox="1"/>
          <p:nvPr/>
        </p:nvSpPr>
        <p:spPr>
          <a:xfrm>
            <a:off x="1188720" y="3712463"/>
            <a:ext cx="4480560" cy="292608"/>
          </a:xfrm>
          <a:prstGeom prst="rect">
            <a:avLst/>
          </a:prstGeom>
          <a:noFill/>
        </p:spPr>
        <p:txBody>
          <a:bodyPr wrap="square" lIns="0" rIns="0" tIns="0" bIns="0" anchor="t">
            <a:spAutoFit/>
          </a:bodyPr>
          <a:lstStyle/>
          <a:p>
            <a:r>
              <a:rPr sz="1600" b="1" i="0">
                <a:solidFill>
                  <a:schemeClr val="bg1"/>
                </a:solidFill>
              </a:rPr>
              <a:t>Settings  →  Collaborators</a:t>
            </a:r>
          </a:p>
        </p:txBody>
      </p:sp>
      <p:sp>
        <p:nvSpPr>
          <p:cNvPr id="39" name="TextBox 38"/>
          <p:cNvSpPr txBox="1"/>
          <p:nvPr/>
        </p:nvSpPr>
        <p:spPr>
          <a:xfrm>
            <a:off x="1188720" y="4023359"/>
            <a:ext cx="4480560" cy="274320"/>
          </a:xfrm>
          <a:prstGeom prst="rect">
            <a:avLst/>
          </a:prstGeom>
          <a:noFill/>
        </p:spPr>
        <p:txBody>
          <a:bodyPr wrap="square" lIns="0" rIns="0" tIns="0" bIns="0" anchor="t">
            <a:spAutoFit/>
          </a:bodyPr>
          <a:lstStyle/>
          <a:p>
            <a:r>
              <a:rPr sz="1350" b="0" i="0">
                <a:solidFill>
                  <a:schemeClr val="bg2"/>
                </a:solidFill>
              </a:rPr>
              <a:t>Add people: invite each teammate by username</a:t>
            </a:r>
          </a:p>
        </p:txBody>
      </p:sp>
      <p:sp>
        <p:nvSpPr>
          <p:cNvPr id="40" name="Oval 39"/>
          <p:cNvSpPr/>
          <p:nvPr/>
        </p:nvSpPr>
        <p:spPr>
          <a:xfrm>
            <a:off x="548640" y="4517136"/>
            <a:ext cx="457200" cy="457200"/>
          </a:xfrm>
          <a:prstGeom prst="ellipse">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517136"/>
            <a:ext cx="457200" cy="457200"/>
          </a:xfrm>
          <a:prstGeom prst="rect">
            <a:avLst/>
          </a:prstGeom>
          <a:noFill/>
        </p:spPr>
        <p:txBody>
          <a:bodyPr wrap="square" lIns="0" rIns="0" tIns="0" bIns="0" anchor="ctr">
            <a:spAutoFit/>
          </a:bodyPr>
          <a:lstStyle/>
          <a:p>
            <a:pPr algn="ctr"/>
            <a:r>
              <a:rPr sz="1500" b="1" i="0">
                <a:solidFill>
                  <a:schemeClr val="accent1"/>
                </a:solidFill>
                <a:latin typeface="Courier New"/>
              </a:rPr>
              <a:t>4</a:t>
            </a:r>
          </a:p>
        </p:txBody>
      </p:sp>
      <p:sp>
        <p:nvSpPr>
          <p:cNvPr id="42" name="TextBox 41"/>
          <p:cNvSpPr txBox="1"/>
          <p:nvPr/>
        </p:nvSpPr>
        <p:spPr>
          <a:xfrm>
            <a:off x="1188720" y="4480559"/>
            <a:ext cx="4480560" cy="292608"/>
          </a:xfrm>
          <a:prstGeom prst="rect">
            <a:avLst/>
          </a:prstGeom>
          <a:noFill/>
        </p:spPr>
        <p:txBody>
          <a:bodyPr wrap="square" lIns="0" rIns="0" tIns="0" bIns="0" anchor="t">
            <a:spAutoFit/>
          </a:bodyPr>
          <a:lstStyle/>
          <a:p>
            <a:r>
              <a:rPr sz="1600" b="1" i="0">
                <a:solidFill>
                  <a:schemeClr val="bg1"/>
                </a:solidFill>
              </a:rPr>
              <a:t>Agree who owns which file</a:t>
            </a:r>
          </a:p>
        </p:txBody>
      </p:sp>
      <p:sp>
        <p:nvSpPr>
          <p:cNvPr id="43" name="TextBox 42"/>
          <p:cNvSpPr txBox="1"/>
          <p:nvPr/>
        </p:nvSpPr>
        <p:spPr>
          <a:xfrm>
            <a:off x="1188720" y="4791455"/>
            <a:ext cx="4480560" cy="274320"/>
          </a:xfrm>
          <a:prstGeom prst="rect">
            <a:avLst/>
          </a:prstGeom>
          <a:noFill/>
        </p:spPr>
        <p:txBody>
          <a:bodyPr wrap="square" lIns="0" rIns="0" tIns="0" bIns="0" anchor="t">
            <a:spAutoFit/>
          </a:bodyPr>
          <a:lstStyle/>
          <a:p>
            <a:r>
              <a:rPr sz="1350" b="0" i="0">
                <a:solidFill>
                  <a:schemeClr val="bg2"/>
                </a:solidFill>
              </a:rPr>
              <a:t>One student task per person or pair (right)</a:t>
            </a:r>
          </a:p>
        </p:txBody>
      </p:sp>
      <p:sp>
        <p:nvSpPr>
          <p:cNvPr id="44" name="Teammates"/>
          <p:cNvSpPr/>
          <p:nvPr/>
        </p:nvSpPr>
        <p:spPr>
          <a:xfrm>
            <a:off x="548640" y="5349240"/>
            <a:ext cx="5257800" cy="713232"/>
          </a:xfrm>
          <a:prstGeom prst="roundRect">
            <a:avLst>
              <a:gd name="adj" fmla="val 7692"/>
            </a:avLst>
          </a:prstGeom>
          <a:solidFill>
            <a:schemeClr val="accent3"/>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5349240"/>
            <a:ext cx="4892040" cy="713232"/>
          </a:xfrm>
          <a:prstGeom prst="rect">
            <a:avLst/>
          </a:prstGeom>
          <a:noFill/>
        </p:spPr>
        <p:txBody>
          <a:bodyPr wrap="square" lIns="0" rIns="0" tIns="0" bIns="0" anchor="ctr">
            <a:spAutoFit/>
          </a:bodyPr>
          <a:lstStyle/>
          <a:p>
            <a:r>
              <a:rPr sz="1400" b="1" i="0">
                <a:solidFill>
                  <a:schemeClr val="accent2"/>
                </a:solidFill>
              </a:rPr>
              <a:t>Teammates  </a:t>
            </a:r>
            <a:r>
              <a:rPr sz="1400" b="0" i="0">
                <a:solidFill>
                  <a:schemeClr val="bg1"/>
                </a:solidFill>
              </a:rPr>
              <a:t>accept the invite, then </a:t>
            </a:r>
            <a:r>
              <a:rPr sz="1300" b="1" i="0">
                <a:solidFill>
                  <a:schemeClr val="accent2"/>
                </a:solidFill>
                <a:latin typeface="Courier New"/>
              </a:rPr>
              <a:t>git clone</a:t>
            </a:r>
            <a:r>
              <a:rPr sz="1400" b="0" i="0">
                <a:solidFill>
                  <a:schemeClr val="bg1"/>
                </a:solidFill>
              </a:rPr>
              <a:t> the repo (or open a Codespace)</a:t>
            </a:r>
          </a:p>
        </p:txBody>
      </p:sp>
      <p:sp>
        <p:nvSpPr>
          <p:cNvPr id="46" name="TextBox 45"/>
          <p:cNvSpPr txBox="1"/>
          <p:nvPr/>
        </p:nvSpPr>
        <p:spPr>
          <a:xfrm>
            <a:off x="6263640" y="1691640"/>
            <a:ext cx="5394960" cy="365760"/>
          </a:xfrm>
          <a:prstGeom prst="rect">
            <a:avLst/>
          </a:prstGeom>
          <a:noFill/>
        </p:spPr>
        <p:txBody>
          <a:bodyPr wrap="square" lIns="0" rIns="0" tIns="0" bIns="0" anchor="t">
            <a:spAutoFit/>
          </a:bodyPr>
          <a:lstStyle/>
          <a:p>
            <a:r>
              <a:rPr sz="1800" b="1" i="0">
                <a:solidFill>
                  <a:schemeClr val="accent1"/>
                </a:solidFill>
              </a:rPr>
              <a:t>Four student tasks: one each</a:t>
            </a:r>
          </a:p>
        </p:txBody>
      </p:sp>
      <p:sp>
        <p:nvSpPr>
          <p:cNvPr id="47" name="pcap_reader.py"/>
          <p:cNvSpPr/>
          <p:nvPr/>
        </p:nvSpPr>
        <p:spPr>
          <a:xfrm>
            <a:off x="6263640" y="2212848"/>
            <a:ext cx="2596896" cy="1572768"/>
          </a:xfrm>
          <a:prstGeom prst="roundRect">
            <a:avLst>
              <a:gd name="adj" fmla="val 3488"/>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64807" y="2377440"/>
            <a:ext cx="2194560" cy="274320"/>
          </a:xfrm>
          <a:prstGeom prst="rect">
            <a:avLst/>
          </a:prstGeom>
          <a:noFill/>
        </p:spPr>
        <p:txBody>
          <a:bodyPr wrap="square" lIns="0" rIns="0" tIns="0" bIns="0" anchor="t">
            <a:spAutoFit/>
          </a:bodyPr>
          <a:lstStyle/>
          <a:p>
            <a:r>
              <a:rPr sz="1300" b="1" i="0">
                <a:solidFill>
                  <a:schemeClr val="accent1"/>
                </a:solidFill>
                <a:latin typeface="Courier New"/>
              </a:rPr>
              <a:t>1  </a:t>
            </a:r>
            <a:r>
              <a:rPr sz="1200" b="1" i="0">
                <a:solidFill>
                  <a:schemeClr val="accent1"/>
                </a:solidFill>
                <a:latin typeface="Courier New"/>
              </a:rPr>
              <a:t>READ</a:t>
            </a:r>
          </a:p>
        </p:txBody>
      </p:sp>
      <p:sp>
        <p:nvSpPr>
          <p:cNvPr id="49" name="TextBox 48"/>
          <p:cNvSpPr txBox="1"/>
          <p:nvPr/>
        </p:nvSpPr>
        <p:spPr>
          <a:xfrm>
            <a:off x="6464807" y="2670048"/>
            <a:ext cx="2231136" cy="292608"/>
          </a:xfrm>
          <a:prstGeom prst="rect">
            <a:avLst/>
          </a:prstGeom>
          <a:noFill/>
        </p:spPr>
        <p:txBody>
          <a:bodyPr wrap="square" lIns="0" rIns="0" tIns="0" bIns="0" anchor="t">
            <a:spAutoFit/>
          </a:bodyPr>
          <a:lstStyle/>
          <a:p>
            <a:r>
              <a:rPr sz="1300" b="1" i="0">
                <a:solidFill>
                  <a:schemeClr val="bg1"/>
                </a:solidFill>
                <a:latin typeface="Courier New"/>
              </a:rPr>
              <a:t>pcap_reader.py</a:t>
            </a:r>
          </a:p>
        </p:txBody>
      </p:sp>
      <p:sp>
        <p:nvSpPr>
          <p:cNvPr id="50" name="TextBox 49"/>
          <p:cNvSpPr txBox="1"/>
          <p:nvPr/>
        </p:nvSpPr>
        <p:spPr>
          <a:xfrm>
            <a:off x="6464807" y="3017520"/>
            <a:ext cx="2231136" cy="731520"/>
          </a:xfrm>
          <a:prstGeom prst="rect">
            <a:avLst/>
          </a:prstGeom>
          <a:noFill/>
        </p:spPr>
        <p:txBody>
          <a:bodyPr wrap="square" lIns="0" rIns="0" tIns="0" bIns="0" anchor="t">
            <a:spAutoFit/>
          </a:bodyPr>
          <a:lstStyle/>
          <a:p>
            <a:r>
              <a:rPr sz="1250" b="0" i="0">
                <a:solidFill>
                  <a:schemeClr val="bg2"/>
                </a:solidFill>
              </a:rPr>
              <a:t>Opens the capture and returns tidy, normalised packet records</a:t>
            </a:r>
          </a:p>
        </p:txBody>
      </p:sp>
      <p:sp>
        <p:nvSpPr>
          <p:cNvPr id="51" name="traffic_analyzer.py"/>
          <p:cNvSpPr/>
          <p:nvPr/>
        </p:nvSpPr>
        <p:spPr>
          <a:xfrm>
            <a:off x="9043416" y="2212848"/>
            <a:ext cx="2596896" cy="1572768"/>
          </a:xfrm>
          <a:prstGeom prst="roundRect">
            <a:avLst>
              <a:gd name="adj" fmla="val 3488"/>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244584" y="2377440"/>
            <a:ext cx="2194560" cy="274320"/>
          </a:xfrm>
          <a:prstGeom prst="rect">
            <a:avLst/>
          </a:prstGeom>
          <a:noFill/>
        </p:spPr>
        <p:txBody>
          <a:bodyPr wrap="square" lIns="0" rIns="0" tIns="0" bIns="0" anchor="t">
            <a:spAutoFit/>
          </a:bodyPr>
          <a:lstStyle/>
          <a:p>
            <a:r>
              <a:rPr sz="1300" b="1" i="0">
                <a:solidFill>
                  <a:schemeClr val="accent1"/>
                </a:solidFill>
                <a:latin typeface="Courier New"/>
              </a:rPr>
              <a:t>2  </a:t>
            </a:r>
            <a:r>
              <a:rPr sz="1200" b="1" i="0">
                <a:solidFill>
                  <a:schemeClr val="accent1"/>
                </a:solidFill>
                <a:latin typeface="Courier New"/>
              </a:rPr>
              <a:t>ANALYSE</a:t>
            </a:r>
          </a:p>
        </p:txBody>
      </p:sp>
      <p:sp>
        <p:nvSpPr>
          <p:cNvPr id="53" name="TextBox 52"/>
          <p:cNvSpPr txBox="1"/>
          <p:nvPr/>
        </p:nvSpPr>
        <p:spPr>
          <a:xfrm>
            <a:off x="9244584" y="2670048"/>
            <a:ext cx="2231136" cy="292608"/>
          </a:xfrm>
          <a:prstGeom prst="rect">
            <a:avLst/>
          </a:prstGeom>
          <a:noFill/>
        </p:spPr>
        <p:txBody>
          <a:bodyPr wrap="square" lIns="0" rIns="0" tIns="0" bIns="0" anchor="t">
            <a:spAutoFit/>
          </a:bodyPr>
          <a:lstStyle/>
          <a:p>
            <a:r>
              <a:rPr sz="1300" b="1" i="0">
                <a:solidFill>
                  <a:schemeClr val="bg1"/>
                </a:solidFill>
                <a:latin typeface="Courier New"/>
              </a:rPr>
              <a:t>traffic_analyzer.py</a:t>
            </a:r>
          </a:p>
        </p:txBody>
      </p:sp>
      <p:sp>
        <p:nvSpPr>
          <p:cNvPr id="54" name="TextBox 53"/>
          <p:cNvSpPr txBox="1"/>
          <p:nvPr/>
        </p:nvSpPr>
        <p:spPr>
          <a:xfrm>
            <a:off x="9244584" y="3017520"/>
            <a:ext cx="2231136" cy="731520"/>
          </a:xfrm>
          <a:prstGeom prst="rect">
            <a:avLst/>
          </a:prstGeom>
          <a:noFill/>
        </p:spPr>
        <p:txBody>
          <a:bodyPr wrap="square" lIns="0" rIns="0" tIns="0" bIns="0" anchor="t">
            <a:spAutoFit/>
          </a:bodyPr>
          <a:lstStyle/>
          <a:p>
            <a:r>
              <a:rPr sz="1250" b="0" i="0">
                <a:solidFill>
                  <a:schemeClr val="bg2"/>
                </a:solidFill>
              </a:rPr>
              <a:t>Reusable statistics: protocol mix, top talkers, ports per source, flags</a:t>
            </a:r>
          </a:p>
        </p:txBody>
      </p:sp>
      <p:sp>
        <p:nvSpPr>
          <p:cNvPr id="55" name="report_builder.py"/>
          <p:cNvSpPr/>
          <p:nvPr/>
        </p:nvSpPr>
        <p:spPr>
          <a:xfrm>
            <a:off x="6263640" y="3968496"/>
            <a:ext cx="2596896" cy="1572768"/>
          </a:xfrm>
          <a:prstGeom prst="roundRect">
            <a:avLst>
              <a:gd name="adj" fmla="val 3488"/>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464807" y="4133087"/>
            <a:ext cx="2194560" cy="274320"/>
          </a:xfrm>
          <a:prstGeom prst="rect">
            <a:avLst/>
          </a:prstGeom>
          <a:noFill/>
        </p:spPr>
        <p:txBody>
          <a:bodyPr wrap="square" lIns="0" rIns="0" tIns="0" bIns="0" anchor="t">
            <a:spAutoFit/>
          </a:bodyPr>
          <a:lstStyle/>
          <a:p>
            <a:r>
              <a:rPr sz="1300" b="1" i="0">
                <a:solidFill>
                  <a:schemeClr val="accent1"/>
                </a:solidFill>
                <a:latin typeface="Courier New"/>
              </a:rPr>
              <a:t>3  </a:t>
            </a:r>
            <a:r>
              <a:rPr sz="1200" b="1" i="0">
                <a:solidFill>
                  <a:schemeClr val="accent1"/>
                </a:solidFill>
                <a:latin typeface="Courier New"/>
              </a:rPr>
              <a:t>REPORT</a:t>
            </a:r>
          </a:p>
        </p:txBody>
      </p:sp>
      <p:sp>
        <p:nvSpPr>
          <p:cNvPr id="57" name="TextBox 56"/>
          <p:cNvSpPr txBox="1"/>
          <p:nvPr/>
        </p:nvSpPr>
        <p:spPr>
          <a:xfrm>
            <a:off x="6464807" y="4425696"/>
            <a:ext cx="2231136" cy="292608"/>
          </a:xfrm>
          <a:prstGeom prst="rect">
            <a:avLst/>
          </a:prstGeom>
          <a:noFill/>
        </p:spPr>
        <p:txBody>
          <a:bodyPr wrap="square" lIns="0" rIns="0" tIns="0" bIns="0" anchor="t">
            <a:spAutoFit/>
          </a:bodyPr>
          <a:lstStyle/>
          <a:p>
            <a:r>
              <a:rPr sz="1300" b="1" i="0">
                <a:solidFill>
                  <a:schemeClr val="bg1"/>
                </a:solidFill>
                <a:latin typeface="Courier New"/>
              </a:rPr>
              <a:t>report_builder.py</a:t>
            </a:r>
          </a:p>
        </p:txBody>
      </p:sp>
      <p:sp>
        <p:nvSpPr>
          <p:cNvPr id="58" name="TextBox 57"/>
          <p:cNvSpPr txBox="1"/>
          <p:nvPr/>
        </p:nvSpPr>
        <p:spPr>
          <a:xfrm>
            <a:off x="6464807" y="4773168"/>
            <a:ext cx="2231136" cy="731520"/>
          </a:xfrm>
          <a:prstGeom prst="rect">
            <a:avLst/>
          </a:prstGeom>
          <a:noFill/>
        </p:spPr>
        <p:txBody>
          <a:bodyPr wrap="square" lIns="0" rIns="0" tIns="0" bIns="0" anchor="t">
            <a:spAutoFit/>
          </a:bodyPr>
          <a:lstStyle/>
          <a:p>
            <a:r>
              <a:rPr sz="1250" b="0" i="0">
                <a:solidFill>
                  <a:schemeClr val="bg2"/>
                </a:solidFill>
              </a:rPr>
              <a:t>One shared finding format: severity, evidence, time range, limits</a:t>
            </a:r>
          </a:p>
        </p:txBody>
      </p:sp>
      <p:sp>
        <p:nvSpPr>
          <p:cNvPr id="59" name="ddos_rule.py"/>
          <p:cNvSpPr/>
          <p:nvPr/>
        </p:nvSpPr>
        <p:spPr>
          <a:xfrm>
            <a:off x="9043416" y="3968496"/>
            <a:ext cx="2596896" cy="1572768"/>
          </a:xfrm>
          <a:prstGeom prst="roundRect">
            <a:avLst>
              <a:gd name="adj" fmla="val 3488"/>
            </a:avLst>
          </a:prstGeom>
          <a:solidFill>
            <a:schemeClr val="tx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244584" y="4133087"/>
            <a:ext cx="2194560" cy="274320"/>
          </a:xfrm>
          <a:prstGeom prst="rect">
            <a:avLst/>
          </a:prstGeom>
          <a:noFill/>
        </p:spPr>
        <p:txBody>
          <a:bodyPr wrap="square" lIns="0" rIns="0" tIns="0" bIns="0" anchor="t">
            <a:spAutoFit/>
          </a:bodyPr>
          <a:lstStyle/>
          <a:p>
            <a:r>
              <a:rPr sz="1300" b="1" i="0">
                <a:solidFill>
                  <a:schemeClr val="accent2"/>
                </a:solidFill>
                <a:latin typeface="Courier New"/>
              </a:rPr>
              <a:t>4  </a:t>
            </a:r>
            <a:r>
              <a:rPr sz="1200" b="1" i="0">
                <a:solidFill>
                  <a:schemeClr val="accent2"/>
                </a:solidFill>
                <a:latin typeface="Courier New"/>
              </a:rPr>
              <a:t>DETECT</a:t>
            </a:r>
          </a:p>
        </p:txBody>
      </p:sp>
      <p:sp>
        <p:nvSpPr>
          <p:cNvPr id="61" name="TextBox 60"/>
          <p:cNvSpPr txBox="1"/>
          <p:nvPr/>
        </p:nvSpPr>
        <p:spPr>
          <a:xfrm>
            <a:off x="9244584" y="4425696"/>
            <a:ext cx="2231136" cy="292608"/>
          </a:xfrm>
          <a:prstGeom prst="rect">
            <a:avLst/>
          </a:prstGeom>
          <a:noFill/>
        </p:spPr>
        <p:txBody>
          <a:bodyPr wrap="square" lIns="0" rIns="0" tIns="0" bIns="0" anchor="t">
            <a:spAutoFit/>
          </a:bodyPr>
          <a:lstStyle/>
          <a:p>
            <a:r>
              <a:rPr sz="1300" b="1" i="0">
                <a:solidFill>
                  <a:schemeClr val="bg1"/>
                </a:solidFill>
                <a:latin typeface="Courier New"/>
              </a:rPr>
              <a:t>ddos_rule.py</a:t>
            </a:r>
          </a:p>
        </p:txBody>
      </p:sp>
      <p:sp>
        <p:nvSpPr>
          <p:cNvPr id="62" name="TextBox 61"/>
          <p:cNvSpPr txBox="1"/>
          <p:nvPr/>
        </p:nvSpPr>
        <p:spPr>
          <a:xfrm>
            <a:off x="9244584" y="4773168"/>
            <a:ext cx="2231136" cy="731520"/>
          </a:xfrm>
          <a:prstGeom prst="rect">
            <a:avLst/>
          </a:prstGeom>
          <a:noFill/>
        </p:spPr>
        <p:txBody>
          <a:bodyPr wrap="square" lIns="0" rIns="0" tIns="0" bIns="0" anchor="t">
            <a:spAutoFit/>
          </a:bodyPr>
          <a:lstStyle/>
          <a:p>
            <a:r>
              <a:rPr sz="1250" b="0" i="0">
                <a:solidFill>
                  <a:schemeClr val="bg2"/>
                </a:solidFill>
              </a:rPr>
              <a:t>Flags possible SYN, UDP or ICMP floods from rates in a time window</a:t>
            </a:r>
          </a:p>
        </p:txBody>
      </p:sp>
      <p:sp>
        <p:nvSpPr>
          <p:cNvPr id="63" name="TextBox 62"/>
          <p:cNvSpPr txBox="1"/>
          <p:nvPr/>
        </p:nvSpPr>
        <p:spPr>
          <a:xfrm>
            <a:off x="6263640" y="5705856"/>
            <a:ext cx="5394960" cy="274320"/>
          </a:xfrm>
          <a:prstGeom prst="rect">
            <a:avLst/>
          </a:prstGeom>
          <a:noFill/>
        </p:spPr>
        <p:txBody>
          <a:bodyPr wrap="square" lIns="0" rIns="0" tIns="0" bIns="0" anchor="t">
            <a:spAutoFit/>
          </a:bodyPr>
          <a:lstStyle/>
          <a:p>
            <a:r>
              <a:rPr sz="1300" b="1" i="0">
                <a:solidFill>
                  <a:schemeClr val="accent4"/>
                </a:solidFill>
              </a:rPr>
              <a:t>Prebuilt, don't edit: </a:t>
            </a:r>
            <a:r>
              <a:rPr sz="1300" b="0" i="0">
                <a:solidFill>
                  <a:schemeClr val="bg1"/>
                </a:solidFill>
              </a:rPr>
              <a:t>app.py · default_rules/ · templates/index.html</a:t>
            </a:r>
          </a:p>
        </p:txBody>
      </p:sp>
      <p:sp>
        <p:nvSpPr>
          <p:cNvPr id="64" name="TextBox 63"/>
          <p:cNvSpPr txBox="1"/>
          <p:nvPr/>
        </p:nvSpPr>
        <p:spPr>
          <a:xfrm>
            <a:off x="6263640" y="5989320"/>
            <a:ext cx="5394960" cy="274320"/>
          </a:xfrm>
          <a:prstGeom prst="rect">
            <a:avLst/>
          </a:prstGeom>
          <a:noFill/>
        </p:spPr>
        <p:txBody>
          <a:bodyPr wrap="square" lIns="0" rIns="0" tIns="0" bIns="0" anchor="t">
            <a:spAutoFit/>
          </a:bodyPr>
          <a:lstStyle/>
          <a:p>
            <a:r>
              <a:rPr sz="1300" b="1" i="0">
                <a:solidFill>
                  <a:schemeClr val="accent2"/>
                </a:solidFill>
              </a:rPr>
              <a:t>Solo? </a:t>
            </a:r>
            <a:r>
              <a:rPr sz="1300" b="0" i="0">
                <a:solidFill>
                  <a:schemeClr val="bg1"/>
                </a:solidFill>
              </a:rPr>
              <a:t>Work through them in order: read → analyse → report → detect.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Use AI as a pair programmer, not an autopilot</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5</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04  AI-ASSISTED DEVELOPMENT</a:t>
            </a:r>
          </a:p>
        </p:txBody>
      </p:sp>
      <p:sp>
        <p:nvSpPr>
          <p:cNvPr id="27" name="TextBox 26"/>
          <p:cNvSpPr txBox="1"/>
          <p:nvPr/>
        </p:nvSpPr>
        <p:spPr>
          <a:xfrm>
            <a:off x="548640" y="1691640"/>
            <a:ext cx="5669280" cy="365760"/>
          </a:xfrm>
          <a:prstGeom prst="rect">
            <a:avLst/>
          </a:prstGeom>
          <a:noFill/>
        </p:spPr>
        <p:txBody>
          <a:bodyPr wrap="square" lIns="0" rIns="0" tIns="0" bIns="0" anchor="t">
            <a:spAutoFit/>
          </a:bodyPr>
          <a:lstStyle/>
          <a:p>
            <a:r>
              <a:rPr sz="1800" b="1" i="0">
                <a:solidFill>
                  <a:schemeClr val="accent1"/>
                </a:solidFill>
              </a:rPr>
              <a:t>A workflow that works</a:t>
            </a:r>
          </a:p>
        </p:txBody>
      </p:sp>
      <p:sp>
        <p:nvSpPr>
          <p:cNvPr id="28" name="TextBox 27"/>
          <p:cNvSpPr txBox="1"/>
          <p:nvPr/>
        </p:nvSpPr>
        <p:spPr>
          <a:xfrm>
            <a:off x="548640" y="2194560"/>
            <a:ext cx="685800" cy="603504"/>
          </a:xfrm>
          <a:prstGeom prst="rect">
            <a:avLst/>
          </a:prstGeom>
          <a:noFill/>
        </p:spPr>
        <p:txBody>
          <a:bodyPr wrap="square" lIns="0" rIns="0" tIns="0" bIns="0" anchor="ctr">
            <a:spAutoFit/>
          </a:bodyPr>
          <a:lstStyle/>
          <a:p>
            <a:r>
              <a:rPr sz="2200" b="1" i="0">
                <a:solidFill>
                  <a:schemeClr val="accent1"/>
                </a:solidFill>
                <a:latin typeface="Courier New"/>
              </a:rPr>
              <a:t>01</a:t>
            </a:r>
          </a:p>
        </p:txBody>
      </p:sp>
      <p:sp>
        <p:nvSpPr>
          <p:cNvPr id="29" name="TextBox 28"/>
          <p:cNvSpPr txBox="1"/>
          <p:nvPr/>
        </p:nvSpPr>
        <p:spPr>
          <a:xfrm>
            <a:off x="1325880" y="2212848"/>
            <a:ext cx="4846320" cy="292608"/>
          </a:xfrm>
          <a:prstGeom prst="rect">
            <a:avLst/>
          </a:prstGeom>
          <a:noFill/>
        </p:spPr>
        <p:txBody>
          <a:bodyPr wrap="square" lIns="0" rIns="0" tIns="0" bIns="0" anchor="t">
            <a:spAutoFit/>
          </a:bodyPr>
          <a:lstStyle/>
          <a:p>
            <a:r>
              <a:rPr sz="1600" b="1" i="0">
                <a:solidFill>
                  <a:schemeClr val="bg1"/>
                </a:solidFill>
              </a:rPr>
              <a:t>Understand the task first</a:t>
            </a:r>
          </a:p>
        </p:txBody>
      </p:sp>
      <p:sp>
        <p:nvSpPr>
          <p:cNvPr id="30" name="TextBox 29"/>
          <p:cNvSpPr txBox="1"/>
          <p:nvPr/>
        </p:nvSpPr>
        <p:spPr>
          <a:xfrm>
            <a:off x="1325880" y="2505456"/>
            <a:ext cx="4846320" cy="274320"/>
          </a:xfrm>
          <a:prstGeom prst="rect">
            <a:avLst/>
          </a:prstGeom>
          <a:noFill/>
        </p:spPr>
        <p:txBody>
          <a:bodyPr wrap="square" lIns="0" rIns="0" tIns="0" bIns="0" anchor="t">
            <a:spAutoFit/>
          </a:bodyPr>
          <a:lstStyle/>
          <a:p>
            <a:r>
              <a:rPr sz="1350" b="0" i="0">
                <a:solidFill>
                  <a:schemeClr val="bg2"/>
                </a:solidFill>
              </a:rPr>
              <a:t>Say in your own words what the file receives and returns</a:t>
            </a:r>
          </a:p>
        </p:txBody>
      </p:sp>
      <p:sp>
        <p:nvSpPr>
          <p:cNvPr id="31" name="TextBox 30"/>
          <p:cNvSpPr txBox="1"/>
          <p:nvPr/>
        </p:nvSpPr>
        <p:spPr>
          <a:xfrm>
            <a:off x="548640" y="2926080"/>
            <a:ext cx="685800" cy="603504"/>
          </a:xfrm>
          <a:prstGeom prst="rect">
            <a:avLst/>
          </a:prstGeom>
          <a:noFill/>
        </p:spPr>
        <p:txBody>
          <a:bodyPr wrap="square" lIns="0" rIns="0" tIns="0" bIns="0" anchor="ctr">
            <a:spAutoFit/>
          </a:bodyPr>
          <a:lstStyle/>
          <a:p>
            <a:r>
              <a:rPr sz="2200" b="1" i="0">
                <a:solidFill>
                  <a:schemeClr val="accent1"/>
                </a:solidFill>
                <a:latin typeface="Courier New"/>
              </a:rPr>
              <a:t>02</a:t>
            </a:r>
          </a:p>
        </p:txBody>
      </p:sp>
      <p:sp>
        <p:nvSpPr>
          <p:cNvPr id="32" name="TextBox 31"/>
          <p:cNvSpPr txBox="1"/>
          <p:nvPr/>
        </p:nvSpPr>
        <p:spPr>
          <a:xfrm>
            <a:off x="1325880" y="2944368"/>
            <a:ext cx="4846320" cy="292608"/>
          </a:xfrm>
          <a:prstGeom prst="rect">
            <a:avLst/>
          </a:prstGeom>
          <a:noFill/>
        </p:spPr>
        <p:txBody>
          <a:bodyPr wrap="square" lIns="0" rIns="0" tIns="0" bIns="0" anchor="t">
            <a:spAutoFit/>
          </a:bodyPr>
          <a:lstStyle/>
          <a:p>
            <a:r>
              <a:rPr sz="1600" b="1" i="0">
                <a:solidFill>
                  <a:schemeClr val="bg1"/>
                </a:solidFill>
              </a:rPr>
              <a:t>Inspect the existing code</a:t>
            </a:r>
          </a:p>
        </p:txBody>
      </p:sp>
      <p:sp>
        <p:nvSpPr>
          <p:cNvPr id="33" name="TextBox 32"/>
          <p:cNvSpPr txBox="1"/>
          <p:nvPr/>
        </p:nvSpPr>
        <p:spPr>
          <a:xfrm>
            <a:off x="1325880" y="3236976"/>
            <a:ext cx="4846320" cy="274320"/>
          </a:xfrm>
          <a:prstGeom prst="rect">
            <a:avLst/>
          </a:prstGeom>
          <a:noFill/>
        </p:spPr>
        <p:txBody>
          <a:bodyPr wrap="square" lIns="0" rIns="0" tIns="0" bIns="0" anchor="t">
            <a:spAutoFit/>
          </a:bodyPr>
          <a:lstStyle/>
          <a:p>
            <a:r>
              <a:rPr sz="1350" b="0" i="0">
                <a:solidFill>
                  <a:schemeClr val="bg2"/>
                </a:solidFill>
              </a:rPr>
              <a:t>Read the interfaces and default rules before asking for code</a:t>
            </a:r>
          </a:p>
        </p:txBody>
      </p:sp>
      <p:sp>
        <p:nvSpPr>
          <p:cNvPr id="34" name="TextBox 33"/>
          <p:cNvSpPr txBox="1"/>
          <p:nvPr/>
        </p:nvSpPr>
        <p:spPr>
          <a:xfrm>
            <a:off x="548640" y="3657600"/>
            <a:ext cx="685800" cy="603504"/>
          </a:xfrm>
          <a:prstGeom prst="rect">
            <a:avLst/>
          </a:prstGeom>
          <a:noFill/>
        </p:spPr>
        <p:txBody>
          <a:bodyPr wrap="square" lIns="0" rIns="0" tIns="0" bIns="0" anchor="ctr">
            <a:spAutoFit/>
          </a:bodyPr>
          <a:lstStyle/>
          <a:p>
            <a:r>
              <a:rPr sz="2200" b="1" i="0">
                <a:solidFill>
                  <a:schemeClr val="accent1"/>
                </a:solidFill>
                <a:latin typeface="Courier New"/>
              </a:rPr>
              <a:t>03</a:t>
            </a:r>
          </a:p>
        </p:txBody>
      </p:sp>
      <p:sp>
        <p:nvSpPr>
          <p:cNvPr id="35" name="TextBox 34"/>
          <p:cNvSpPr txBox="1"/>
          <p:nvPr/>
        </p:nvSpPr>
        <p:spPr>
          <a:xfrm>
            <a:off x="1325880" y="3675887"/>
            <a:ext cx="4846320" cy="292608"/>
          </a:xfrm>
          <a:prstGeom prst="rect">
            <a:avLst/>
          </a:prstGeom>
          <a:noFill/>
        </p:spPr>
        <p:txBody>
          <a:bodyPr wrap="square" lIns="0" rIns="0" tIns="0" bIns="0" anchor="t">
            <a:spAutoFit/>
          </a:bodyPr>
          <a:lstStyle/>
          <a:p>
            <a:r>
              <a:rPr sz="1600" b="1" i="0">
                <a:solidFill>
                  <a:schemeClr val="bg1"/>
                </a:solidFill>
              </a:rPr>
              <a:t>Design first, then small steps</a:t>
            </a:r>
          </a:p>
        </p:txBody>
      </p:sp>
      <p:sp>
        <p:nvSpPr>
          <p:cNvPr id="36" name="TextBox 35"/>
          <p:cNvSpPr txBox="1"/>
          <p:nvPr/>
        </p:nvSpPr>
        <p:spPr>
          <a:xfrm>
            <a:off x="1325880" y="3968496"/>
            <a:ext cx="4846320" cy="274320"/>
          </a:xfrm>
          <a:prstGeom prst="rect">
            <a:avLst/>
          </a:prstGeom>
          <a:noFill/>
        </p:spPr>
        <p:txBody>
          <a:bodyPr wrap="square" lIns="0" rIns="0" tIns="0" bIns="0" anchor="t">
            <a:spAutoFit/>
          </a:bodyPr>
          <a:lstStyle/>
          <a:p>
            <a:r>
              <a:rPr sz="1350" b="0" i="0">
                <a:solidFill>
                  <a:schemeClr val="bg2"/>
                </a:solidFill>
              </a:rPr>
              <a:t>One component at a time, never "rewrite everything"</a:t>
            </a:r>
          </a:p>
        </p:txBody>
      </p:sp>
      <p:sp>
        <p:nvSpPr>
          <p:cNvPr id="37" name="TextBox 36"/>
          <p:cNvSpPr txBox="1"/>
          <p:nvPr/>
        </p:nvSpPr>
        <p:spPr>
          <a:xfrm>
            <a:off x="548640" y="4389120"/>
            <a:ext cx="685800" cy="603504"/>
          </a:xfrm>
          <a:prstGeom prst="rect">
            <a:avLst/>
          </a:prstGeom>
          <a:noFill/>
        </p:spPr>
        <p:txBody>
          <a:bodyPr wrap="square" lIns="0" rIns="0" tIns="0" bIns="0" anchor="ctr">
            <a:spAutoFit/>
          </a:bodyPr>
          <a:lstStyle/>
          <a:p>
            <a:r>
              <a:rPr sz="2200" b="1" i="0">
                <a:solidFill>
                  <a:schemeClr val="accent1"/>
                </a:solidFill>
                <a:latin typeface="Courier New"/>
              </a:rPr>
              <a:t>04</a:t>
            </a:r>
          </a:p>
        </p:txBody>
      </p:sp>
      <p:sp>
        <p:nvSpPr>
          <p:cNvPr id="38" name="TextBox 37"/>
          <p:cNvSpPr txBox="1"/>
          <p:nvPr/>
        </p:nvSpPr>
        <p:spPr>
          <a:xfrm>
            <a:off x="1325880" y="4407408"/>
            <a:ext cx="4846320" cy="292608"/>
          </a:xfrm>
          <a:prstGeom prst="rect">
            <a:avLst/>
          </a:prstGeom>
          <a:noFill/>
        </p:spPr>
        <p:txBody>
          <a:bodyPr wrap="square" lIns="0" rIns="0" tIns="0" bIns="0" anchor="t">
            <a:spAutoFit/>
          </a:bodyPr>
          <a:lstStyle/>
          <a:p>
            <a:r>
              <a:rPr sz="1600" b="1" i="0">
                <a:solidFill>
                  <a:schemeClr val="bg1"/>
                </a:solidFill>
              </a:rPr>
              <a:t>Review and explain</a:t>
            </a:r>
          </a:p>
        </p:txBody>
      </p:sp>
      <p:sp>
        <p:nvSpPr>
          <p:cNvPr id="39" name="TextBox 38"/>
          <p:cNvSpPr txBox="1"/>
          <p:nvPr/>
        </p:nvSpPr>
        <p:spPr>
          <a:xfrm>
            <a:off x="1325880" y="4700016"/>
            <a:ext cx="4846320" cy="274320"/>
          </a:xfrm>
          <a:prstGeom prst="rect">
            <a:avLst/>
          </a:prstGeom>
          <a:noFill/>
        </p:spPr>
        <p:txBody>
          <a:bodyPr wrap="square" lIns="0" rIns="0" tIns="0" bIns="0" anchor="t">
            <a:spAutoFit/>
          </a:bodyPr>
          <a:lstStyle/>
          <a:p>
            <a:r>
              <a:rPr sz="1350" b="0" i="0">
                <a:solidFill>
                  <a:schemeClr val="bg2"/>
                </a:solidFill>
              </a:rPr>
              <a:t>Check the diff; ask what each function does and why</a:t>
            </a:r>
          </a:p>
        </p:txBody>
      </p:sp>
      <p:sp>
        <p:nvSpPr>
          <p:cNvPr id="40" name="TextBox 39"/>
          <p:cNvSpPr txBox="1"/>
          <p:nvPr/>
        </p:nvSpPr>
        <p:spPr>
          <a:xfrm>
            <a:off x="548640" y="5120640"/>
            <a:ext cx="685800" cy="603504"/>
          </a:xfrm>
          <a:prstGeom prst="rect">
            <a:avLst/>
          </a:prstGeom>
          <a:noFill/>
        </p:spPr>
        <p:txBody>
          <a:bodyPr wrap="square" lIns="0" rIns="0" tIns="0" bIns="0" anchor="ctr">
            <a:spAutoFit/>
          </a:bodyPr>
          <a:lstStyle/>
          <a:p>
            <a:r>
              <a:rPr sz="2200" b="1" i="0">
                <a:solidFill>
                  <a:schemeClr val="accent1"/>
                </a:solidFill>
                <a:latin typeface="Courier New"/>
              </a:rPr>
              <a:t>05</a:t>
            </a:r>
          </a:p>
        </p:txBody>
      </p:sp>
      <p:sp>
        <p:nvSpPr>
          <p:cNvPr id="41" name="TextBox 40"/>
          <p:cNvSpPr txBox="1"/>
          <p:nvPr/>
        </p:nvSpPr>
        <p:spPr>
          <a:xfrm>
            <a:off x="1325880" y="5138927"/>
            <a:ext cx="4846320" cy="292608"/>
          </a:xfrm>
          <a:prstGeom prst="rect">
            <a:avLst/>
          </a:prstGeom>
          <a:noFill/>
        </p:spPr>
        <p:txBody>
          <a:bodyPr wrap="square" lIns="0" rIns="0" tIns="0" bIns="0" anchor="t">
            <a:spAutoFit/>
          </a:bodyPr>
          <a:lstStyle/>
          <a:p>
            <a:r>
              <a:rPr sz="1600" b="1" i="0">
                <a:solidFill>
                  <a:schemeClr val="bg1"/>
                </a:solidFill>
              </a:rPr>
              <a:t>Test beyond the sample</a:t>
            </a:r>
          </a:p>
        </p:txBody>
      </p:sp>
      <p:sp>
        <p:nvSpPr>
          <p:cNvPr id="42" name="TextBox 41"/>
          <p:cNvSpPr txBox="1"/>
          <p:nvPr/>
        </p:nvSpPr>
        <p:spPr>
          <a:xfrm>
            <a:off x="1325880" y="5431536"/>
            <a:ext cx="4846320" cy="274320"/>
          </a:xfrm>
          <a:prstGeom prst="rect">
            <a:avLst/>
          </a:prstGeom>
          <a:noFill/>
        </p:spPr>
        <p:txBody>
          <a:bodyPr wrap="square" lIns="0" rIns="0" tIns="0" bIns="0" anchor="t">
            <a:spAutoFit/>
          </a:bodyPr>
          <a:lstStyle/>
          <a:p>
            <a:r>
              <a:rPr sz="1350" b="0" i="0">
                <a:solidFill>
                  <a:schemeClr val="bg2"/>
                </a:solidFill>
              </a:rPr>
              <a:t>Normal, empty, malformed, boundary, and a second capture</a:t>
            </a:r>
          </a:p>
        </p:txBody>
      </p:sp>
      <p:sp>
        <p:nvSpPr>
          <p:cNvPr id="43" name="Prompt to try"/>
          <p:cNvSpPr/>
          <p:nvPr/>
        </p:nvSpPr>
        <p:spPr>
          <a:xfrm>
            <a:off x="6492240" y="1691640"/>
            <a:ext cx="5148072" cy="1783080"/>
          </a:xfrm>
          <a:prstGeom prst="roundRect">
            <a:avLst>
              <a:gd name="adj" fmla="val 3076"/>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AI assistant"/>
          <p:cNvPicPr>
            <a:picLocks noChangeAspect="1"/>
          </p:cNvPicPr>
          <p:nvPr/>
        </p:nvPicPr>
        <p:blipFill>
          <a:blip r:embed="rId6"/>
          <a:stretch>
            <a:fillRect/>
          </a:stretch>
        </p:blipFill>
        <p:spPr>
          <a:xfrm>
            <a:off x="6748272" y="1901952"/>
            <a:ext cx="365760" cy="365760"/>
          </a:xfrm>
          <a:prstGeom prst="rect">
            <a:avLst/>
          </a:prstGeom>
        </p:spPr>
      </p:pic>
      <p:sp>
        <p:nvSpPr>
          <p:cNvPr id="45" name="TextBox 44"/>
          <p:cNvSpPr txBox="1"/>
          <p:nvPr/>
        </p:nvSpPr>
        <p:spPr>
          <a:xfrm>
            <a:off x="7269480" y="1901952"/>
            <a:ext cx="4206240" cy="365760"/>
          </a:xfrm>
          <a:prstGeom prst="rect">
            <a:avLst/>
          </a:prstGeom>
          <a:noFill/>
        </p:spPr>
        <p:txBody>
          <a:bodyPr wrap="square" lIns="0" rIns="0" tIns="0" bIns="0" anchor="ctr">
            <a:spAutoFit/>
          </a:bodyPr>
          <a:lstStyle/>
          <a:p>
            <a:r>
              <a:rPr sz="1200" b="1" i="0">
                <a:solidFill>
                  <a:schemeClr val="accent1"/>
                </a:solidFill>
                <a:latin typeface="Courier New"/>
              </a:rPr>
              <a:t>TRY THIS PROMPT</a:t>
            </a:r>
          </a:p>
        </p:txBody>
      </p:sp>
      <p:sp>
        <p:nvSpPr>
          <p:cNvPr id="46" name="TextBox 45"/>
          <p:cNvSpPr txBox="1"/>
          <p:nvPr/>
        </p:nvSpPr>
        <p:spPr>
          <a:xfrm>
            <a:off x="6748272" y="2395728"/>
            <a:ext cx="4663440" cy="1005840"/>
          </a:xfrm>
          <a:prstGeom prst="rect">
            <a:avLst/>
          </a:prstGeom>
          <a:noFill/>
        </p:spPr>
        <p:txBody>
          <a:bodyPr wrap="square" lIns="0" rIns="0" tIns="0" bIns="0" anchor="t">
            <a:spAutoFit/>
          </a:bodyPr>
          <a:lstStyle/>
          <a:p>
            <a:r>
              <a:rPr sz="1350" b="0" i="1">
                <a:solidFill>
                  <a:schemeClr val="bg1"/>
                </a:solidFill>
              </a:rPr>
              <a:t>“Explain this module's responsibility and how it fits the existing PCAP Sentinel architecture. Inspect the interfaces first. Don't change any code yet.”</a:t>
            </a:r>
          </a:p>
        </p:txBody>
      </p:sp>
      <p:sp>
        <p:nvSpPr>
          <p:cNvPr id="47" name="Understanding check"/>
          <p:cNvSpPr/>
          <p:nvPr/>
        </p:nvSpPr>
        <p:spPr>
          <a:xfrm>
            <a:off x="6492240" y="3657600"/>
            <a:ext cx="5148072" cy="2240280"/>
          </a:xfrm>
          <a:prstGeom prst="roundRect">
            <a:avLst>
              <a:gd name="adj" fmla="val 2448"/>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heck"/>
          <p:cNvPicPr>
            <a:picLocks noChangeAspect="1"/>
          </p:cNvPicPr>
          <p:nvPr/>
        </p:nvPicPr>
        <p:blipFill>
          <a:blip r:embed="rId3"/>
          <a:stretch>
            <a:fillRect/>
          </a:stretch>
        </p:blipFill>
        <p:spPr>
          <a:xfrm>
            <a:off x="6748272" y="3858768"/>
            <a:ext cx="365760" cy="365760"/>
          </a:xfrm>
          <a:prstGeom prst="rect">
            <a:avLst/>
          </a:prstGeom>
        </p:spPr>
      </p:pic>
      <p:sp>
        <p:nvSpPr>
          <p:cNvPr id="49" name="TextBox 48"/>
          <p:cNvSpPr txBox="1"/>
          <p:nvPr/>
        </p:nvSpPr>
        <p:spPr>
          <a:xfrm>
            <a:off x="7269480" y="3858768"/>
            <a:ext cx="4206240" cy="365760"/>
          </a:xfrm>
          <a:prstGeom prst="rect">
            <a:avLst/>
          </a:prstGeom>
          <a:noFill/>
        </p:spPr>
        <p:txBody>
          <a:bodyPr wrap="square" lIns="0" rIns="0" tIns="0" bIns="0" anchor="ctr">
            <a:spAutoFit/>
          </a:bodyPr>
          <a:lstStyle/>
          <a:p>
            <a:r>
              <a:rPr sz="1200" b="1" i="0">
                <a:solidFill>
                  <a:schemeClr val="accent2"/>
                </a:solidFill>
                <a:latin typeface="Courier New"/>
              </a:rPr>
              <a:t>UNDERSTANDING CHECK  ·  BEFORE YOU COMMIT</a:t>
            </a:r>
          </a:p>
        </p:txBody>
      </p:sp>
      <p:sp>
        <p:nvSpPr>
          <p:cNvPr id="50" name="TextBox 49"/>
          <p:cNvSpPr txBox="1"/>
          <p:nvPr/>
        </p:nvSpPr>
        <p:spPr>
          <a:xfrm>
            <a:off x="6748272" y="4370832"/>
            <a:ext cx="4709160" cy="1463040"/>
          </a:xfrm>
          <a:prstGeom prst="rect">
            <a:avLst/>
          </a:prstGeom>
          <a:noFill/>
        </p:spPr>
        <p:txBody>
          <a:bodyPr wrap="square" lIns="0" rIns="0" tIns="0" bIns="0" anchor="t">
            <a:spAutoFit/>
          </a:bodyPr>
          <a:lstStyle/>
          <a:p>
            <a:pPr marL="182880" indent="-182880">
              <a:spcAft>
                <a:spcPts val="600"/>
              </a:spcAft>
            </a:pPr>
            <a:r>
              <a:rPr sz="1350" b="1" i="0">
                <a:solidFill>
                  <a:schemeClr val="accent2"/>
                </a:solidFill>
              </a:rPr>
              <a:t>›	</a:t>
            </a:r>
            <a:r>
              <a:rPr sz="1350" b="0" i="0">
                <a:solidFill>
                  <a:schemeClr val="bg1"/>
                </a:solidFill>
              </a:rPr>
              <a:t>What does it receive, and what does it return?</a:t>
            </a:r>
          </a:p>
          <a:p>
            <a:pPr marL="182880" indent="-182880">
              <a:spcAft>
                <a:spcPts val="600"/>
              </a:spcAft>
            </a:pPr>
            <a:r>
              <a:rPr sz="1350" b="1" i="0">
                <a:solidFill>
                  <a:schemeClr val="accent2"/>
                </a:solidFill>
              </a:rPr>
              <a:t>›	</a:t>
            </a:r>
            <a:r>
              <a:rPr sz="1350" b="0" i="0">
                <a:solidFill>
                  <a:schemeClr val="bg1"/>
                </a:solidFill>
              </a:rPr>
              <a:t>What evidence makes a detection trigger?</a:t>
            </a:r>
          </a:p>
          <a:p>
            <a:pPr marL="182880" indent="-182880">
              <a:spcAft>
                <a:spcPts val="600"/>
              </a:spcAft>
            </a:pPr>
            <a:r>
              <a:rPr sz="1350" b="1" i="0">
                <a:solidFill>
                  <a:schemeClr val="accent2"/>
                </a:solidFill>
              </a:rPr>
              <a:t>›	</a:t>
            </a:r>
            <a:r>
              <a:rPr sz="1350" b="0" i="0">
                <a:solidFill>
                  <a:schemeClr val="bg1"/>
                </a:solidFill>
              </a:rPr>
              <a:t>What normal activity could cause a false positive?</a:t>
            </a:r>
          </a:p>
          <a:p>
            <a:pPr marL="182880" indent="-182880">
              <a:spcAft>
                <a:spcPts val="600"/>
              </a:spcAft>
            </a:pPr>
            <a:r>
              <a:rPr sz="1350" b="1" i="0">
                <a:solidFill>
                  <a:schemeClr val="accent2"/>
                </a:solidFill>
              </a:rPr>
              <a:t>›	</a:t>
            </a:r>
            <a:r>
              <a:rPr sz="1350" b="0" i="0">
                <a:solidFill>
                  <a:schemeClr val="bg1"/>
                </a:solidFill>
              </a:rPr>
              <a:t>How did you test it doesn't trigger wrongly?</a:t>
            </a:r>
          </a:p>
        </p:txBody>
      </p:sp>
      <p:sp>
        <p:nvSpPr>
          <p:cNvPr id="51" name="TextBox 50"/>
          <p:cNvSpPr txBox="1"/>
          <p:nvPr/>
        </p:nvSpPr>
        <p:spPr>
          <a:xfrm>
            <a:off x="548640" y="5989320"/>
            <a:ext cx="11091672" cy="274320"/>
          </a:xfrm>
          <a:prstGeom prst="rect">
            <a:avLst/>
          </a:prstGeom>
          <a:noFill/>
        </p:spPr>
        <p:txBody>
          <a:bodyPr wrap="square" lIns="0" rIns="0" tIns="0" bIns="0" anchor="t">
            <a:spAutoFit/>
          </a:bodyPr>
          <a:lstStyle/>
          <a:p>
            <a:r>
              <a:rPr sz="1300" b="1" i="0">
                <a:solidFill>
                  <a:schemeClr val="accent1"/>
                </a:solidFill>
              </a:rPr>
              <a:t>AI help is allowed; understanding the code is the task.  </a:t>
            </a:r>
            <a:r>
              <a:rPr sz="1300" b="1" i="0">
                <a:solidFill>
                  <a:schemeClr val="accent6"/>
                </a:solidFill>
              </a:rPr>
              <a:t>Never paste </a:t>
            </a:r>
            <a:r>
              <a:rPr sz="1300" b="0" i="0">
                <a:solidFill>
                  <a:schemeClr val="bg1"/>
                </a:solidFill>
              </a:rPr>
              <a:t>passwords, tokens or private capture data into an AI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From packets to findings</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2</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05  HOW IT FITS TOGETHER</a:t>
            </a:r>
          </a:p>
        </p:txBody>
      </p:sp>
      <p:sp>
        <p:nvSpPr>
          <p:cNvPr id="27" name="PCAP file"/>
          <p:cNvSpPr/>
          <p:nvPr/>
        </p:nvSpPr>
        <p:spPr>
          <a:xfrm>
            <a:off x="548640" y="1737360"/>
            <a:ext cx="1627632" cy="1024128"/>
          </a:xfrm>
          <a:prstGeom prst="roundRect">
            <a:avLst>
              <a:gd name="adj" fmla="val 7142"/>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60" y="1920240"/>
            <a:ext cx="1536192" cy="347472"/>
          </a:xfrm>
          <a:prstGeom prst="rect">
            <a:avLst/>
          </a:prstGeom>
          <a:noFill/>
        </p:spPr>
        <p:txBody>
          <a:bodyPr wrap="square" lIns="0" rIns="0" tIns="0" bIns="0" anchor="ctr">
            <a:spAutoFit/>
          </a:bodyPr>
          <a:lstStyle/>
          <a:p>
            <a:pPr algn="ctr"/>
            <a:r>
              <a:rPr sz="1400" b="1" i="0">
                <a:solidFill>
                  <a:schemeClr val="bg1"/>
                </a:solidFill>
              </a:rPr>
              <a:t>PCAP file</a:t>
            </a:r>
          </a:p>
        </p:txBody>
      </p:sp>
      <p:sp>
        <p:nvSpPr>
          <p:cNvPr id="29" name="TextBox 28"/>
          <p:cNvSpPr txBox="1"/>
          <p:nvPr/>
        </p:nvSpPr>
        <p:spPr>
          <a:xfrm>
            <a:off x="594360" y="2304288"/>
            <a:ext cx="1536192" cy="274320"/>
          </a:xfrm>
          <a:prstGeom prst="rect">
            <a:avLst/>
          </a:prstGeom>
          <a:noFill/>
        </p:spPr>
        <p:txBody>
          <a:bodyPr wrap="square" lIns="0" rIns="0" tIns="0" bIns="0" anchor="ctr">
            <a:spAutoFit/>
          </a:bodyPr>
          <a:lstStyle/>
          <a:p>
            <a:pPr algn="ctr"/>
            <a:r>
              <a:rPr sz="1200" b="0" i="0">
                <a:solidFill>
                  <a:schemeClr val="bg1"/>
                </a:solidFill>
              </a:rPr>
              <a:t>network evidence</a:t>
            </a:r>
          </a:p>
        </p:txBody>
      </p:sp>
      <p:cxnSp>
        <p:nvCxnSpPr>
          <p:cNvPr id="30" name="Connector 29"/>
          <p:cNvCxnSpPr/>
          <p:nvPr/>
        </p:nvCxnSpPr>
        <p:spPr>
          <a:xfrm>
            <a:off x="2212848" y="2249424"/>
            <a:ext cx="192024" cy="0"/>
          </a:xfrm>
          <a:prstGeom prst="line">
            <a:avLst/>
          </a:prstGeom>
          <a:ln w="15875">
            <a:solidFill>
              <a:schemeClr val="bg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pcap_reader.py"/>
          <p:cNvSpPr/>
          <p:nvPr/>
        </p:nvSpPr>
        <p:spPr>
          <a:xfrm>
            <a:off x="2441448" y="1737360"/>
            <a:ext cx="1627632" cy="1024128"/>
          </a:xfrm>
          <a:prstGeom prst="roundRect">
            <a:avLst>
              <a:gd name="adj" fmla="val 7142"/>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487168" y="1920240"/>
            <a:ext cx="1536192" cy="347472"/>
          </a:xfrm>
          <a:prstGeom prst="rect">
            <a:avLst/>
          </a:prstGeom>
          <a:noFill/>
        </p:spPr>
        <p:txBody>
          <a:bodyPr wrap="square" lIns="0" rIns="0" tIns="0" bIns="0" anchor="ctr">
            <a:spAutoFit/>
          </a:bodyPr>
          <a:lstStyle/>
          <a:p>
            <a:pPr algn="ctr"/>
            <a:r>
              <a:rPr sz="1400" b="1" i="0">
                <a:solidFill>
                  <a:schemeClr val="tx1"/>
                </a:solidFill>
              </a:rPr>
              <a:t>pcap_reader.py</a:t>
            </a:r>
          </a:p>
        </p:txBody>
      </p:sp>
      <p:sp>
        <p:nvSpPr>
          <p:cNvPr id="33" name="TextBox 32"/>
          <p:cNvSpPr txBox="1"/>
          <p:nvPr/>
        </p:nvSpPr>
        <p:spPr>
          <a:xfrm>
            <a:off x="2487168" y="2304288"/>
            <a:ext cx="1536192" cy="274320"/>
          </a:xfrm>
          <a:prstGeom prst="rect">
            <a:avLst/>
          </a:prstGeom>
          <a:noFill/>
        </p:spPr>
        <p:txBody>
          <a:bodyPr wrap="square" lIns="0" rIns="0" tIns="0" bIns="0" anchor="ctr">
            <a:spAutoFit/>
          </a:bodyPr>
          <a:lstStyle/>
          <a:p>
            <a:pPr algn="ctr"/>
            <a:r>
              <a:rPr sz="1200" b="0" i="0">
                <a:solidFill>
                  <a:schemeClr val="tx1"/>
                </a:solidFill>
              </a:rPr>
              <a:t>normalised records</a:t>
            </a:r>
          </a:p>
        </p:txBody>
      </p:sp>
      <p:cxnSp>
        <p:nvCxnSpPr>
          <p:cNvPr id="34" name="Connector 33"/>
          <p:cNvCxnSpPr/>
          <p:nvPr/>
        </p:nvCxnSpPr>
        <p:spPr>
          <a:xfrm>
            <a:off x="4105656" y="2249424"/>
            <a:ext cx="192024" cy="0"/>
          </a:xfrm>
          <a:prstGeom prst="line">
            <a:avLst/>
          </a:prstGeom>
          <a:ln w="15875">
            <a:solidFill>
              <a:schemeClr val="bg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raffic_analyzer.py"/>
          <p:cNvSpPr/>
          <p:nvPr/>
        </p:nvSpPr>
        <p:spPr>
          <a:xfrm>
            <a:off x="4334255" y="1737360"/>
            <a:ext cx="1627632" cy="1024128"/>
          </a:xfrm>
          <a:prstGeom prst="roundRect">
            <a:avLst>
              <a:gd name="adj" fmla="val 7142"/>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379975" y="1920240"/>
            <a:ext cx="1536192" cy="347472"/>
          </a:xfrm>
          <a:prstGeom prst="rect">
            <a:avLst/>
          </a:prstGeom>
          <a:noFill/>
        </p:spPr>
        <p:txBody>
          <a:bodyPr wrap="square" lIns="0" rIns="0" tIns="0" bIns="0" anchor="ctr">
            <a:spAutoFit/>
          </a:bodyPr>
          <a:lstStyle/>
          <a:p>
            <a:pPr algn="ctr"/>
            <a:r>
              <a:rPr sz="1400" b="1" i="0">
                <a:solidFill>
                  <a:schemeClr val="tx1"/>
                </a:solidFill>
              </a:rPr>
              <a:t>traffic_analyzer.py</a:t>
            </a:r>
          </a:p>
        </p:txBody>
      </p:sp>
      <p:sp>
        <p:nvSpPr>
          <p:cNvPr id="37" name="TextBox 36"/>
          <p:cNvSpPr txBox="1"/>
          <p:nvPr/>
        </p:nvSpPr>
        <p:spPr>
          <a:xfrm>
            <a:off x="4379975" y="2304288"/>
            <a:ext cx="1536192" cy="274320"/>
          </a:xfrm>
          <a:prstGeom prst="rect">
            <a:avLst/>
          </a:prstGeom>
          <a:noFill/>
        </p:spPr>
        <p:txBody>
          <a:bodyPr wrap="square" lIns="0" rIns="0" tIns="0" bIns="0" anchor="ctr">
            <a:spAutoFit/>
          </a:bodyPr>
          <a:lstStyle/>
          <a:p>
            <a:pPr algn="ctr"/>
            <a:r>
              <a:rPr sz="1200" b="0" i="0">
                <a:solidFill>
                  <a:schemeClr val="tx1"/>
                </a:solidFill>
              </a:rPr>
              <a:t>shared statistics</a:t>
            </a:r>
          </a:p>
        </p:txBody>
      </p:sp>
      <p:cxnSp>
        <p:nvCxnSpPr>
          <p:cNvPr id="38" name="Connector 37"/>
          <p:cNvCxnSpPr/>
          <p:nvPr/>
        </p:nvCxnSpPr>
        <p:spPr>
          <a:xfrm>
            <a:off x="5998464" y="2249424"/>
            <a:ext cx="192024" cy="0"/>
          </a:xfrm>
          <a:prstGeom prst="line">
            <a:avLst/>
          </a:prstGeom>
          <a:ln w="15875">
            <a:solidFill>
              <a:schemeClr val="bg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ddos_rule.py"/>
          <p:cNvSpPr/>
          <p:nvPr/>
        </p:nvSpPr>
        <p:spPr>
          <a:xfrm>
            <a:off x="6227063" y="1737360"/>
            <a:ext cx="1627632" cy="1024128"/>
          </a:xfrm>
          <a:prstGeom prst="roundRect">
            <a:avLst>
              <a:gd name="adj" fmla="val 7142"/>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272783" y="1920240"/>
            <a:ext cx="1536192" cy="347472"/>
          </a:xfrm>
          <a:prstGeom prst="rect">
            <a:avLst/>
          </a:prstGeom>
          <a:noFill/>
        </p:spPr>
        <p:txBody>
          <a:bodyPr wrap="square" lIns="0" rIns="0" tIns="0" bIns="0" anchor="ctr">
            <a:spAutoFit/>
          </a:bodyPr>
          <a:lstStyle/>
          <a:p>
            <a:pPr algn="ctr"/>
            <a:r>
              <a:rPr sz="1400" b="1" i="0">
                <a:solidFill>
                  <a:schemeClr val="tx1"/>
                </a:solidFill>
              </a:rPr>
              <a:t>ddos_rule.py</a:t>
            </a:r>
          </a:p>
        </p:txBody>
      </p:sp>
      <p:sp>
        <p:nvSpPr>
          <p:cNvPr id="41" name="TextBox 40"/>
          <p:cNvSpPr txBox="1"/>
          <p:nvPr/>
        </p:nvSpPr>
        <p:spPr>
          <a:xfrm>
            <a:off x="6272783" y="2304288"/>
            <a:ext cx="1536192" cy="274320"/>
          </a:xfrm>
          <a:prstGeom prst="rect">
            <a:avLst/>
          </a:prstGeom>
          <a:noFill/>
        </p:spPr>
        <p:txBody>
          <a:bodyPr wrap="square" lIns="0" rIns="0" tIns="0" bIns="0" anchor="ctr">
            <a:spAutoFit/>
          </a:bodyPr>
          <a:lstStyle/>
          <a:p>
            <a:pPr algn="ctr"/>
            <a:r>
              <a:rPr sz="1200" b="0" i="0">
                <a:solidFill>
                  <a:schemeClr val="tx1"/>
                </a:solidFill>
              </a:rPr>
              <a:t>+ default rules</a:t>
            </a:r>
          </a:p>
        </p:txBody>
      </p:sp>
      <p:cxnSp>
        <p:nvCxnSpPr>
          <p:cNvPr id="42" name="Connector 41"/>
          <p:cNvCxnSpPr/>
          <p:nvPr/>
        </p:nvCxnSpPr>
        <p:spPr>
          <a:xfrm>
            <a:off x="7891271" y="2249424"/>
            <a:ext cx="192024" cy="0"/>
          </a:xfrm>
          <a:prstGeom prst="line">
            <a:avLst/>
          </a:prstGeom>
          <a:ln w="15875">
            <a:solidFill>
              <a:schemeClr val="bg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port_builder.py"/>
          <p:cNvSpPr/>
          <p:nvPr/>
        </p:nvSpPr>
        <p:spPr>
          <a:xfrm>
            <a:off x="8119871" y="1737360"/>
            <a:ext cx="1627632" cy="1024128"/>
          </a:xfrm>
          <a:prstGeom prst="roundRect">
            <a:avLst>
              <a:gd name="adj" fmla="val 7142"/>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65592" y="1920240"/>
            <a:ext cx="1536192" cy="347472"/>
          </a:xfrm>
          <a:prstGeom prst="rect">
            <a:avLst/>
          </a:prstGeom>
          <a:noFill/>
        </p:spPr>
        <p:txBody>
          <a:bodyPr wrap="square" lIns="0" rIns="0" tIns="0" bIns="0" anchor="ctr">
            <a:spAutoFit/>
          </a:bodyPr>
          <a:lstStyle/>
          <a:p>
            <a:pPr algn="ctr"/>
            <a:r>
              <a:rPr sz="1400" b="1" i="0">
                <a:solidFill>
                  <a:schemeClr val="tx1"/>
                </a:solidFill>
              </a:rPr>
              <a:t>report_builder.py</a:t>
            </a:r>
          </a:p>
        </p:txBody>
      </p:sp>
      <p:sp>
        <p:nvSpPr>
          <p:cNvPr id="45" name="TextBox 44"/>
          <p:cNvSpPr txBox="1"/>
          <p:nvPr/>
        </p:nvSpPr>
        <p:spPr>
          <a:xfrm>
            <a:off x="8165592" y="2304288"/>
            <a:ext cx="1536192" cy="274320"/>
          </a:xfrm>
          <a:prstGeom prst="rect">
            <a:avLst/>
          </a:prstGeom>
          <a:noFill/>
        </p:spPr>
        <p:txBody>
          <a:bodyPr wrap="square" lIns="0" rIns="0" tIns="0" bIns="0" anchor="ctr">
            <a:spAutoFit/>
          </a:bodyPr>
          <a:lstStyle/>
          <a:p>
            <a:pPr algn="ctr"/>
            <a:r>
              <a:rPr sz="1200" b="0" i="0">
                <a:solidFill>
                  <a:schemeClr val="tx1"/>
                </a:solidFill>
              </a:rPr>
              <a:t>structured findings</a:t>
            </a:r>
          </a:p>
        </p:txBody>
      </p:sp>
      <p:cxnSp>
        <p:nvCxnSpPr>
          <p:cNvPr id="46" name="Connector 45"/>
          <p:cNvCxnSpPr/>
          <p:nvPr/>
        </p:nvCxnSpPr>
        <p:spPr>
          <a:xfrm>
            <a:off x="9784079" y="2249424"/>
            <a:ext cx="192024" cy="0"/>
          </a:xfrm>
          <a:prstGeom prst="line">
            <a:avLst/>
          </a:prstGeom>
          <a:ln w="15875">
            <a:solidFill>
              <a:schemeClr val="bg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Web interface"/>
          <p:cNvSpPr/>
          <p:nvPr/>
        </p:nvSpPr>
        <p:spPr>
          <a:xfrm>
            <a:off x="10012680" y="1737360"/>
            <a:ext cx="1627632" cy="1024128"/>
          </a:xfrm>
          <a:prstGeom prst="roundRect">
            <a:avLst>
              <a:gd name="adj" fmla="val 7142"/>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058400" y="1920240"/>
            <a:ext cx="1536192" cy="347472"/>
          </a:xfrm>
          <a:prstGeom prst="rect">
            <a:avLst/>
          </a:prstGeom>
          <a:noFill/>
        </p:spPr>
        <p:txBody>
          <a:bodyPr wrap="square" lIns="0" rIns="0" tIns="0" bIns="0" anchor="ctr">
            <a:spAutoFit/>
          </a:bodyPr>
          <a:lstStyle/>
          <a:p>
            <a:pPr algn="ctr"/>
            <a:r>
              <a:rPr sz="1400" b="1" i="0">
                <a:solidFill>
                  <a:schemeClr val="tx1"/>
                </a:solidFill>
              </a:rPr>
              <a:t>Web interface</a:t>
            </a:r>
          </a:p>
        </p:txBody>
      </p:sp>
      <p:sp>
        <p:nvSpPr>
          <p:cNvPr id="49" name="TextBox 48"/>
          <p:cNvSpPr txBox="1"/>
          <p:nvPr/>
        </p:nvSpPr>
        <p:spPr>
          <a:xfrm>
            <a:off x="10058400" y="2304288"/>
            <a:ext cx="1536192" cy="274320"/>
          </a:xfrm>
          <a:prstGeom prst="rect">
            <a:avLst/>
          </a:prstGeom>
          <a:noFill/>
        </p:spPr>
        <p:txBody>
          <a:bodyPr wrap="square" lIns="0" rIns="0" tIns="0" bIns="0" anchor="ctr">
            <a:spAutoFit/>
          </a:bodyPr>
          <a:lstStyle/>
          <a:p>
            <a:pPr algn="ctr"/>
            <a:r>
              <a:rPr sz="1200" b="0" i="0">
                <a:solidFill>
                  <a:schemeClr val="tx1"/>
                </a:solidFill>
              </a:rPr>
              <a:t>analyst validates</a:t>
            </a:r>
          </a:p>
        </p:txBody>
      </p:sp>
      <p:sp>
        <p:nvSpPr>
          <p:cNvPr id="50" name="Rounded Rectangle 49"/>
          <p:cNvSpPr/>
          <p:nvPr/>
        </p:nvSpPr>
        <p:spPr>
          <a:xfrm>
            <a:off x="548640" y="2926080"/>
            <a:ext cx="201168" cy="201168"/>
          </a:xfrm>
          <a:prstGeom prst="roundRect">
            <a:avLst>
              <a:gd name="adj" fmla="val 18181"/>
            </a:avLst>
          </a:prstGeom>
          <a:solidFill>
            <a:schemeClr val="accent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41248" y="2898648"/>
            <a:ext cx="2194560" cy="256032"/>
          </a:xfrm>
          <a:prstGeom prst="rect">
            <a:avLst/>
          </a:prstGeom>
          <a:noFill/>
        </p:spPr>
        <p:txBody>
          <a:bodyPr wrap="square" lIns="0" rIns="0" tIns="0" bIns="0" anchor="ctr">
            <a:spAutoFit/>
          </a:bodyPr>
          <a:lstStyle/>
          <a:p>
            <a:r>
              <a:rPr sz="1200" b="0" i="0">
                <a:solidFill>
                  <a:schemeClr val="bg2"/>
                </a:solidFill>
              </a:rPr>
              <a:t>student task</a:t>
            </a:r>
          </a:p>
        </p:txBody>
      </p:sp>
      <p:sp>
        <p:nvSpPr>
          <p:cNvPr id="52" name="Rounded Rectangle 51"/>
          <p:cNvSpPr/>
          <p:nvPr/>
        </p:nvSpPr>
        <p:spPr>
          <a:xfrm>
            <a:off x="2103120" y="2926080"/>
            <a:ext cx="201168" cy="201168"/>
          </a:xfrm>
          <a:prstGeom prst="roundRect">
            <a:avLst>
              <a:gd name="adj" fmla="val 18181"/>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2395728" y="2926080"/>
            <a:ext cx="201168" cy="201168"/>
          </a:xfrm>
          <a:prstGeom prst="roundRect">
            <a:avLst>
              <a:gd name="adj" fmla="val 18181"/>
            </a:avLst>
          </a:prstGeom>
          <a:solidFill>
            <a:schemeClr val="accent2"/>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2688336" y="2898648"/>
            <a:ext cx="3200400" cy="256032"/>
          </a:xfrm>
          <a:prstGeom prst="rect">
            <a:avLst/>
          </a:prstGeom>
          <a:noFill/>
        </p:spPr>
        <p:txBody>
          <a:bodyPr wrap="square" lIns="0" rIns="0" tIns="0" bIns="0" anchor="ctr">
            <a:spAutoFit/>
          </a:bodyPr>
          <a:lstStyle/>
          <a:p>
            <a:r>
              <a:rPr sz="1200" b="0" i="0">
                <a:solidFill>
                  <a:schemeClr val="bg2"/>
                </a:solidFill>
              </a:rPr>
              <a:t>prebuilt (app.py connects them all)</a:t>
            </a:r>
          </a:p>
        </p:txBody>
      </p:sp>
      <p:sp>
        <p:nvSpPr>
          <p:cNvPr id="55" name="A good rule answers"/>
          <p:cNvSpPr/>
          <p:nvPr/>
        </p:nvSpPr>
        <p:spPr>
          <a:xfrm>
            <a:off x="548640" y="3383280"/>
            <a:ext cx="3514039" cy="2578608"/>
          </a:xfrm>
          <a:prstGeom prst="roundRect">
            <a:avLst>
              <a:gd name="adj" fmla="val 2127"/>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A good rule answers"/>
          <p:cNvPicPr>
            <a:picLocks noChangeAspect="1"/>
          </p:cNvPicPr>
          <p:nvPr/>
        </p:nvPicPr>
        <p:blipFill>
          <a:blip r:embed="rId2"/>
          <a:stretch>
            <a:fillRect/>
          </a:stretch>
        </p:blipFill>
        <p:spPr>
          <a:xfrm>
            <a:off x="804672" y="3611880"/>
            <a:ext cx="347472" cy="347472"/>
          </a:xfrm>
          <a:prstGeom prst="rect">
            <a:avLst/>
          </a:prstGeom>
        </p:spPr>
      </p:pic>
      <p:sp>
        <p:nvSpPr>
          <p:cNvPr id="57" name="TextBox 56"/>
          <p:cNvSpPr txBox="1"/>
          <p:nvPr/>
        </p:nvSpPr>
        <p:spPr>
          <a:xfrm>
            <a:off x="1280160" y="3584448"/>
            <a:ext cx="2651760" cy="402336"/>
          </a:xfrm>
          <a:prstGeom prst="rect">
            <a:avLst/>
          </a:prstGeom>
          <a:noFill/>
        </p:spPr>
        <p:txBody>
          <a:bodyPr wrap="square" lIns="0" rIns="0" tIns="0" bIns="0" anchor="ctr">
            <a:spAutoFit/>
          </a:bodyPr>
          <a:lstStyle/>
          <a:p>
            <a:r>
              <a:rPr sz="1600" b="1" i="0">
                <a:solidFill>
                  <a:schemeClr val="accent1"/>
                </a:solidFill>
              </a:rPr>
              <a:t>A good rule answers</a:t>
            </a:r>
          </a:p>
        </p:txBody>
      </p:sp>
      <p:sp>
        <p:nvSpPr>
          <p:cNvPr id="58" name="TextBox 57"/>
          <p:cNvSpPr txBox="1"/>
          <p:nvPr/>
        </p:nvSpPr>
        <p:spPr>
          <a:xfrm>
            <a:off x="804672" y="4160520"/>
            <a:ext cx="3063240" cy="1709928"/>
          </a:xfrm>
          <a:prstGeom prst="rect">
            <a:avLst/>
          </a:prstGeom>
          <a:noFill/>
        </p:spPr>
        <p:txBody>
          <a:bodyPr wrap="square" lIns="0" rIns="0" tIns="0" bIns="0" anchor="t">
            <a:spAutoFit/>
          </a:bodyPr>
          <a:lstStyle/>
          <a:p>
            <a:pPr marL="182880" indent="-182880">
              <a:spcAft>
                <a:spcPts val="500"/>
              </a:spcAft>
            </a:pPr>
            <a:r>
              <a:rPr sz="1350" b="1" i="0">
                <a:solidFill>
                  <a:schemeClr val="accent1"/>
                </a:solidFill>
              </a:rPr>
              <a:t>›	</a:t>
            </a:r>
            <a:r>
              <a:rPr sz="1350" b="0" i="0">
                <a:solidFill>
                  <a:schemeClr val="bg1"/>
                </a:solidFill>
              </a:rPr>
              <a:t>What pattern am I looking for?</a:t>
            </a:r>
          </a:p>
          <a:p>
            <a:pPr marL="182880" indent="-182880">
              <a:spcAft>
                <a:spcPts val="500"/>
              </a:spcAft>
            </a:pPr>
            <a:r>
              <a:rPr sz="1350" b="1" i="0">
                <a:solidFill>
                  <a:schemeClr val="accent1"/>
                </a:solidFill>
              </a:rPr>
              <a:t>›	</a:t>
            </a:r>
            <a:r>
              <a:rPr sz="1350" b="0" i="0">
                <a:solidFill>
                  <a:schemeClr val="bg1"/>
                </a:solidFill>
              </a:rPr>
              <a:t>What evidence supports it?</a:t>
            </a:r>
          </a:p>
          <a:p>
            <a:pPr marL="182880" indent="-182880">
              <a:spcAft>
                <a:spcPts val="500"/>
              </a:spcAft>
            </a:pPr>
            <a:r>
              <a:rPr sz="1350" b="1" i="0">
                <a:solidFill>
                  <a:schemeClr val="accent1"/>
                </a:solidFill>
              </a:rPr>
              <a:t>›	</a:t>
            </a:r>
            <a:r>
              <a:rPr sz="1350" b="0" i="0">
                <a:solidFill>
                  <a:schemeClr val="bg1"/>
                </a:solidFill>
              </a:rPr>
              <a:t>What threshold triggered it?</a:t>
            </a:r>
          </a:p>
          <a:p>
            <a:pPr marL="182880" indent="-182880">
              <a:spcAft>
                <a:spcPts val="500"/>
              </a:spcAft>
            </a:pPr>
            <a:r>
              <a:rPr sz="1350" b="1" i="0">
                <a:solidFill>
                  <a:schemeClr val="accent1"/>
                </a:solidFill>
              </a:rPr>
              <a:t>›	</a:t>
            </a:r>
            <a:r>
              <a:rPr sz="1350" b="0" i="0">
                <a:solidFill>
                  <a:schemeClr val="bg1"/>
                </a:solidFill>
              </a:rPr>
              <a:t>What could cause a false positive?</a:t>
            </a:r>
          </a:p>
          <a:p>
            <a:pPr marL="182880" indent="-182880">
              <a:spcAft>
                <a:spcPts val="500"/>
              </a:spcAft>
            </a:pPr>
            <a:r>
              <a:rPr sz="1350" b="1" i="0">
                <a:solidFill>
                  <a:schemeClr val="accent1"/>
                </a:solidFill>
              </a:rPr>
              <a:t>›	</a:t>
            </a:r>
            <a:r>
              <a:rPr sz="1350" b="0" i="0">
                <a:solidFill>
                  <a:schemeClr val="bg1"/>
                </a:solidFill>
              </a:rPr>
              <a:t>What should the analyst check next?</a:t>
            </a:r>
          </a:p>
        </p:txBody>
      </p:sp>
      <p:sp>
        <p:nvSpPr>
          <p:cNvPr id="59" name="Example: possible SYN flood"/>
          <p:cNvSpPr/>
          <p:nvPr/>
        </p:nvSpPr>
        <p:spPr>
          <a:xfrm>
            <a:off x="4336999" y="3383280"/>
            <a:ext cx="3514039" cy="2578608"/>
          </a:xfrm>
          <a:prstGeom prst="roundRect">
            <a:avLst>
              <a:gd name="adj" fmla="val 2127"/>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Example: possible SYN flood"/>
          <p:cNvPicPr>
            <a:picLocks noChangeAspect="1"/>
          </p:cNvPicPr>
          <p:nvPr/>
        </p:nvPicPr>
        <p:blipFill>
          <a:blip r:embed="rId3"/>
          <a:stretch>
            <a:fillRect/>
          </a:stretch>
        </p:blipFill>
        <p:spPr>
          <a:xfrm>
            <a:off x="4593031" y="3611880"/>
            <a:ext cx="347472" cy="347472"/>
          </a:xfrm>
          <a:prstGeom prst="rect">
            <a:avLst/>
          </a:prstGeom>
        </p:spPr>
      </p:pic>
      <p:sp>
        <p:nvSpPr>
          <p:cNvPr id="61" name="TextBox 60"/>
          <p:cNvSpPr txBox="1"/>
          <p:nvPr/>
        </p:nvSpPr>
        <p:spPr>
          <a:xfrm>
            <a:off x="5068519" y="3584448"/>
            <a:ext cx="2651760" cy="402336"/>
          </a:xfrm>
          <a:prstGeom prst="rect">
            <a:avLst/>
          </a:prstGeom>
          <a:noFill/>
        </p:spPr>
        <p:txBody>
          <a:bodyPr wrap="square" lIns="0" rIns="0" tIns="0" bIns="0" anchor="ctr">
            <a:spAutoFit/>
          </a:bodyPr>
          <a:lstStyle/>
          <a:p>
            <a:r>
              <a:rPr sz="1600" b="1" i="0">
                <a:solidFill>
                  <a:schemeClr val="accent4"/>
                </a:solidFill>
              </a:rPr>
              <a:t>Example: possible SYN flood</a:t>
            </a:r>
          </a:p>
        </p:txBody>
      </p:sp>
      <p:sp>
        <p:nvSpPr>
          <p:cNvPr id="62" name="TextBox 61"/>
          <p:cNvSpPr txBox="1"/>
          <p:nvPr/>
        </p:nvSpPr>
        <p:spPr>
          <a:xfrm>
            <a:off x="4593031" y="4160520"/>
            <a:ext cx="3063240" cy="1709928"/>
          </a:xfrm>
          <a:prstGeom prst="rect">
            <a:avLst/>
          </a:prstGeom>
          <a:noFill/>
        </p:spPr>
        <p:txBody>
          <a:bodyPr wrap="square" lIns="0" rIns="0" tIns="0" bIns="0" anchor="t">
            <a:spAutoFit/>
          </a:bodyPr>
          <a:lstStyle/>
          <a:p>
            <a:pPr marL="182880" indent="-182880">
              <a:spcAft>
                <a:spcPts val="500"/>
              </a:spcAft>
            </a:pPr>
            <a:r>
              <a:rPr sz="1350" b="1" i="0">
                <a:solidFill>
                  <a:schemeClr val="accent4"/>
                </a:solidFill>
              </a:rPr>
              <a:t>›	</a:t>
            </a:r>
            <a:r>
              <a:rPr sz="1350" b="0" i="0">
                <a:solidFill>
                  <a:schemeClr val="bg1"/>
                </a:solidFill>
              </a:rPr>
              <a:t>Count SYN packets (no ACK) per target in a time window</a:t>
            </a:r>
          </a:p>
          <a:p>
            <a:pPr marL="182880" indent="-182880">
              <a:spcAft>
                <a:spcPts val="500"/>
              </a:spcAft>
            </a:pPr>
            <a:r>
              <a:rPr sz="1350" b="1" i="0">
                <a:solidFill>
                  <a:schemeClr val="accent4"/>
                </a:solidFill>
              </a:rPr>
              <a:t>›	</a:t>
            </a:r>
            <a:r>
              <a:rPr sz="1350" b="0" i="0">
                <a:solidFill>
                  <a:schemeClr val="bg1"/>
                </a:solidFill>
              </a:rPr>
              <a:t>Compare with a configurable threshold</a:t>
            </a:r>
          </a:p>
          <a:p>
            <a:pPr marL="182880" indent="-182880">
              <a:spcAft>
                <a:spcPts val="500"/>
              </a:spcAft>
            </a:pPr>
            <a:r>
              <a:rPr sz="1350" b="1" i="0">
                <a:solidFill>
                  <a:schemeClr val="accent4"/>
                </a:solidFill>
              </a:rPr>
              <a:t>›	</a:t>
            </a:r>
            <a:r>
              <a:rPr sz="1350" b="0" i="0">
                <a:solidFill>
                  <a:schemeClr val="bg1"/>
                </a:solidFill>
              </a:rPr>
              <a:t>Report count, window, target and threshold</a:t>
            </a:r>
          </a:p>
          <a:p>
            <a:pPr marL="182880" indent="-182880">
              <a:spcAft>
                <a:spcPts val="500"/>
              </a:spcAft>
            </a:pPr>
            <a:r>
              <a:rPr sz="1350" b="1" i="0">
                <a:solidFill>
                  <a:schemeClr val="accent4"/>
                </a:solidFill>
              </a:rPr>
              <a:t>›	</a:t>
            </a:r>
            <a:r>
              <a:rPr sz="1350" b="0" i="0">
                <a:solidFill>
                  <a:schemeClr val="bg1"/>
                </a:solidFill>
              </a:rPr>
              <a:t>Say it may be a flood, not that it is</a:t>
            </a:r>
          </a:p>
        </p:txBody>
      </p:sp>
      <p:sp>
        <p:nvSpPr>
          <p:cNvPr id="63" name="Indicators, not proof"/>
          <p:cNvSpPr/>
          <p:nvPr/>
        </p:nvSpPr>
        <p:spPr>
          <a:xfrm>
            <a:off x="8125358" y="3383280"/>
            <a:ext cx="3514039" cy="2578608"/>
          </a:xfrm>
          <a:prstGeom prst="roundRect">
            <a:avLst>
              <a:gd name="adj" fmla="val 2127"/>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Indicators, not proof"/>
          <p:cNvPicPr>
            <a:picLocks noChangeAspect="1"/>
          </p:cNvPicPr>
          <p:nvPr/>
        </p:nvPicPr>
        <p:blipFill>
          <a:blip r:embed="rId4"/>
          <a:stretch>
            <a:fillRect/>
          </a:stretch>
        </p:blipFill>
        <p:spPr>
          <a:xfrm>
            <a:off x="8381390" y="3611880"/>
            <a:ext cx="347472" cy="347472"/>
          </a:xfrm>
          <a:prstGeom prst="rect">
            <a:avLst/>
          </a:prstGeom>
        </p:spPr>
      </p:pic>
      <p:sp>
        <p:nvSpPr>
          <p:cNvPr id="65" name="TextBox 64"/>
          <p:cNvSpPr txBox="1"/>
          <p:nvPr/>
        </p:nvSpPr>
        <p:spPr>
          <a:xfrm>
            <a:off x="8856878" y="3584448"/>
            <a:ext cx="2651760" cy="402336"/>
          </a:xfrm>
          <a:prstGeom prst="rect">
            <a:avLst/>
          </a:prstGeom>
          <a:noFill/>
        </p:spPr>
        <p:txBody>
          <a:bodyPr wrap="square" lIns="0" rIns="0" tIns="0" bIns="0" anchor="ctr">
            <a:spAutoFit/>
          </a:bodyPr>
          <a:lstStyle/>
          <a:p>
            <a:r>
              <a:rPr sz="1600" b="1" i="0">
                <a:solidFill>
                  <a:schemeClr val="accent4"/>
                </a:solidFill>
              </a:rPr>
              <a:t>Indicators, not proof</a:t>
            </a:r>
          </a:p>
        </p:txBody>
      </p:sp>
      <p:sp>
        <p:nvSpPr>
          <p:cNvPr id="66" name="TextBox 65"/>
          <p:cNvSpPr txBox="1"/>
          <p:nvPr/>
        </p:nvSpPr>
        <p:spPr>
          <a:xfrm>
            <a:off x="8381390" y="4160520"/>
            <a:ext cx="3063240" cy="1709928"/>
          </a:xfrm>
          <a:prstGeom prst="rect">
            <a:avLst/>
          </a:prstGeom>
          <a:noFill/>
        </p:spPr>
        <p:txBody>
          <a:bodyPr wrap="square" lIns="0" rIns="0" tIns="0" bIns="0" anchor="t">
            <a:spAutoFit/>
          </a:bodyPr>
          <a:lstStyle/>
          <a:p>
            <a:pPr marL="182880" indent="-182880">
              <a:spcAft>
                <a:spcPts val="500"/>
              </a:spcAft>
            </a:pPr>
            <a:r>
              <a:rPr sz="1350" b="1" i="0">
                <a:solidFill>
                  <a:schemeClr val="accent4"/>
                </a:solidFill>
              </a:rPr>
              <a:t>›	</a:t>
            </a:r>
            <a:r>
              <a:rPr sz="1350" b="0" i="0">
                <a:solidFill>
                  <a:schemeClr val="bg1"/>
                </a:solidFill>
              </a:rPr>
              <a:t>Busy servers get many SYNs</a:t>
            </a:r>
          </a:p>
          <a:p>
            <a:pPr marL="182880" indent="-182880">
              <a:spcAft>
                <a:spcPts val="500"/>
              </a:spcAft>
            </a:pPr>
            <a:r>
              <a:rPr sz="1350" b="1" i="0">
                <a:solidFill>
                  <a:schemeClr val="accent4"/>
                </a:solidFill>
              </a:rPr>
              <a:t>›	</a:t>
            </a:r>
            <a:r>
              <a:rPr sz="1350" b="0" i="0">
                <a:solidFill>
                  <a:schemeClr val="bg1"/>
                </a:solidFill>
              </a:rPr>
              <a:t>Vulnerability scanners resemble attackers</a:t>
            </a:r>
          </a:p>
          <a:p>
            <a:pPr marL="182880" indent="-182880">
              <a:spcAft>
                <a:spcPts val="500"/>
              </a:spcAft>
            </a:pPr>
            <a:r>
              <a:rPr sz="1350" b="1" i="0">
                <a:solidFill>
                  <a:schemeClr val="accent4"/>
                </a:solidFill>
              </a:rPr>
              <a:t>›	</a:t>
            </a:r>
            <a:r>
              <a:rPr sz="1350" b="0" i="0">
                <a:solidFill>
                  <a:schemeClr val="bg1"/>
                </a:solidFill>
              </a:rPr>
              <a:t>Encrypted traffic hides content</a:t>
            </a:r>
          </a:p>
          <a:p>
            <a:pPr marL="182880" indent="-182880">
              <a:spcAft>
                <a:spcPts val="500"/>
              </a:spcAft>
            </a:pPr>
            <a:r>
              <a:rPr sz="1350" b="1" i="0">
                <a:solidFill>
                  <a:schemeClr val="accent4"/>
                </a:solidFill>
              </a:rPr>
              <a:t>›	</a:t>
            </a:r>
            <a:r>
              <a:rPr sz="1350" b="0" i="0">
                <a:solidFill>
                  <a:schemeClr val="bg1"/>
                </a:solidFill>
              </a:rPr>
              <a:t>Captures can be incomplete</a:t>
            </a:r>
          </a:p>
          <a:p>
            <a:r>
              <a:rPr sz="1350" b="1" i="0">
                <a:solidFill>
                  <a:schemeClr val="accent2"/>
                </a:solidFill>
              </a:rPr>
              <a:t>The analyst validates in Wireshark.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1"/>
          <p:cNvSpPr/>
          <p:nvPr>
            <p:ph idx="102" type="title" hasCustomPrompt="1"/>
          </p:nvPr>
        </p:nvSpPr>
        <p:spPr>
          <a:xfrm>
            <a:off x="548640" y="658368"/>
            <a:ext cx="9418320" cy="685800"/>
          </a:xfrm>
          <a:prstGeom prst="rect">
            <a:avLst/>
          </a:prstGeom>
          <a:noFill/>
          <a:ln/>
        </p:spPr>
        <p:txBody>
          <a:bodyPr wrap="square" lIns="0" tIns="0" rIns="0" bIns="0" rtlCol="0" anchor="ctr"/>
          <a:lstStyle/>
          <a:p>
            <a:pPr algn="l" indent="0" marL="0">
              <a:buNone/>
            </a:pPr>
            <a:r>
              <a:rPr lang="en-US" sz="3400" b="1" dirty="0">
                <a:solidFill>
                  <a:schemeClr val="bg1"/>
                </a:solidFill>
                <a:latin typeface="Calibri" pitchFamily="34" charset="0"/>
                <a:ea typeface="Calibri" pitchFamily="34" charset="-122"/>
                <a:cs typeface="Calibri" pitchFamily="34" charset="-120"/>
              </a:rPr>
              <a:t>Two hours, one checkpoint at a time</a:t>
            </a: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2</a:t>
            </a:fld>
            <a:endParaRPr lang="en-US"/>
          </a:p>
        </p:txBody>
      </p:sp>
      <p:sp>
        <p:nvSpPr>
          <p:cNvPr id="26" name="Kicker"/>
          <p:cNvSpPr txBox="1"/>
          <p:nvPr/>
        </p:nvSpPr>
        <p:spPr>
          <a:xfrm>
            <a:off x="548640" y="347472"/>
            <a:ext cx="8229600" cy="292608"/>
          </a:xfrm>
          <a:prstGeom prst="rect">
            <a:avLst/>
          </a:prstGeom>
          <a:noFill/>
        </p:spPr>
        <p:txBody>
          <a:bodyPr wrap="square" lIns="0" rIns="0" tIns="0" bIns="0" anchor="ctr">
            <a:spAutoFit/>
          </a:bodyPr>
          <a:lstStyle/>
          <a:p>
            <a:r>
              <a:rPr sz="1300" b="1" i="0">
                <a:solidFill>
                  <a:schemeClr val="accent1"/>
                </a:solidFill>
                <a:latin typeface="Courier New"/>
              </a:rPr>
              <a:t>// 06  THE PLAN</a:t>
            </a:r>
          </a:p>
        </p:txBody>
      </p:sp>
      <p:sp>
        <p:nvSpPr>
          <p:cNvPr id="27" name="Plan 00–15"/>
          <p:cNvSpPr/>
          <p:nvPr/>
        </p:nvSpPr>
        <p:spPr>
          <a:xfrm>
            <a:off x="548640"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00–15 min</a:t>
            </a:r>
          </a:p>
        </p:txBody>
      </p:sp>
      <p:sp>
        <p:nvSpPr>
          <p:cNvPr id="29" name="TextBox 28"/>
          <p:cNvSpPr txBox="1"/>
          <p:nvPr/>
        </p:nvSpPr>
        <p:spPr>
          <a:xfrm>
            <a:off x="685800" y="2130552"/>
            <a:ext cx="1261872" cy="896112"/>
          </a:xfrm>
          <a:prstGeom prst="rect">
            <a:avLst/>
          </a:prstGeom>
          <a:noFill/>
        </p:spPr>
        <p:txBody>
          <a:bodyPr wrap="square" lIns="0" rIns="0" tIns="0" bIns="0" anchor="t">
            <a:spAutoFit/>
          </a:bodyPr>
          <a:lstStyle/>
          <a:p>
            <a:r>
              <a:rPr sz="1300" b="1" i="0">
                <a:solidFill>
                  <a:schemeClr val="bg1"/>
                </a:solidFill>
              </a:rPr>
              <a:t>Problem, PCAP basics and architecture</a:t>
            </a:r>
          </a:p>
        </p:txBody>
      </p:sp>
      <p:sp>
        <p:nvSpPr>
          <p:cNvPr id="30" name="Plan 15–30"/>
          <p:cNvSpPr/>
          <p:nvPr/>
        </p:nvSpPr>
        <p:spPr>
          <a:xfrm>
            <a:off x="2148840"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2860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15–30 min</a:t>
            </a:r>
          </a:p>
        </p:txBody>
      </p:sp>
      <p:sp>
        <p:nvSpPr>
          <p:cNvPr id="32" name="TextBox 31"/>
          <p:cNvSpPr txBox="1"/>
          <p:nvPr/>
        </p:nvSpPr>
        <p:spPr>
          <a:xfrm>
            <a:off x="2286000" y="2130552"/>
            <a:ext cx="1261872" cy="896112"/>
          </a:xfrm>
          <a:prstGeom prst="rect">
            <a:avLst/>
          </a:prstGeom>
          <a:noFill/>
        </p:spPr>
        <p:txBody>
          <a:bodyPr wrap="square" lIns="0" rIns="0" tIns="0" bIns="0" anchor="t">
            <a:spAutoFit/>
          </a:bodyPr>
          <a:lstStyle/>
          <a:p>
            <a:r>
              <a:rPr sz="1300" b="1" i="0">
                <a:solidFill>
                  <a:schemeClr val="bg1"/>
                </a:solidFill>
              </a:rPr>
              <a:t>Inspect the starter project and trace the data flow</a:t>
            </a:r>
          </a:p>
        </p:txBody>
      </p:sp>
      <p:sp>
        <p:nvSpPr>
          <p:cNvPr id="33" name="Plan 30–45"/>
          <p:cNvSpPr/>
          <p:nvPr/>
        </p:nvSpPr>
        <p:spPr>
          <a:xfrm>
            <a:off x="3749039"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8862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30–45 min</a:t>
            </a:r>
          </a:p>
        </p:txBody>
      </p:sp>
      <p:sp>
        <p:nvSpPr>
          <p:cNvPr id="35" name="TextBox 34"/>
          <p:cNvSpPr txBox="1"/>
          <p:nvPr/>
        </p:nvSpPr>
        <p:spPr>
          <a:xfrm>
            <a:off x="3886200" y="2130552"/>
            <a:ext cx="1261872" cy="896112"/>
          </a:xfrm>
          <a:prstGeom prst="rect">
            <a:avLst/>
          </a:prstGeom>
          <a:noFill/>
        </p:spPr>
        <p:txBody>
          <a:bodyPr wrap="square" lIns="0" rIns="0" tIns="0" bIns="0" anchor="t">
            <a:spAutoFit/>
          </a:bodyPr>
          <a:lstStyle/>
          <a:p>
            <a:r>
              <a:rPr sz="1300" b="1" i="0">
                <a:solidFill>
                  <a:schemeClr val="bg1"/>
                </a:solidFill>
              </a:rPr>
              <a:t>Build and test the PCAP reader</a:t>
            </a:r>
          </a:p>
        </p:txBody>
      </p:sp>
      <p:sp>
        <p:nvSpPr>
          <p:cNvPr id="36" name="Plan 45–65"/>
          <p:cNvSpPr/>
          <p:nvPr/>
        </p:nvSpPr>
        <p:spPr>
          <a:xfrm>
            <a:off x="5349240"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64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45–65 min</a:t>
            </a:r>
          </a:p>
        </p:txBody>
      </p:sp>
      <p:sp>
        <p:nvSpPr>
          <p:cNvPr id="38" name="TextBox 37"/>
          <p:cNvSpPr txBox="1"/>
          <p:nvPr/>
        </p:nvSpPr>
        <p:spPr>
          <a:xfrm>
            <a:off x="5486400" y="2130552"/>
            <a:ext cx="1261872" cy="896112"/>
          </a:xfrm>
          <a:prstGeom prst="rect">
            <a:avLst/>
          </a:prstGeom>
          <a:noFill/>
        </p:spPr>
        <p:txBody>
          <a:bodyPr wrap="square" lIns="0" rIns="0" tIns="0" bIns="0" anchor="t">
            <a:spAutoFit/>
          </a:bodyPr>
          <a:lstStyle/>
          <a:p>
            <a:r>
              <a:rPr sz="1300" b="1" i="0">
                <a:solidFill>
                  <a:schemeClr val="bg1"/>
                </a:solidFill>
              </a:rPr>
              <a:t>Traffic statistics and the report structure</a:t>
            </a:r>
          </a:p>
        </p:txBody>
      </p:sp>
      <p:sp>
        <p:nvSpPr>
          <p:cNvPr id="39" name="Plan 65–85"/>
          <p:cNvSpPr/>
          <p:nvPr/>
        </p:nvSpPr>
        <p:spPr>
          <a:xfrm>
            <a:off x="6949440"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0866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65–85 min</a:t>
            </a:r>
          </a:p>
        </p:txBody>
      </p:sp>
      <p:sp>
        <p:nvSpPr>
          <p:cNvPr id="41" name="TextBox 40"/>
          <p:cNvSpPr txBox="1"/>
          <p:nvPr/>
        </p:nvSpPr>
        <p:spPr>
          <a:xfrm>
            <a:off x="7086600" y="2130552"/>
            <a:ext cx="1261872" cy="896112"/>
          </a:xfrm>
          <a:prstGeom prst="rect">
            <a:avLst/>
          </a:prstGeom>
          <a:noFill/>
        </p:spPr>
        <p:txBody>
          <a:bodyPr wrap="square" lIns="0" rIns="0" tIns="0" bIns="0" anchor="t">
            <a:spAutoFit/>
          </a:bodyPr>
          <a:lstStyle/>
          <a:p>
            <a:r>
              <a:rPr sz="1300" b="1" i="0">
                <a:solidFill>
                  <a:schemeClr val="bg1"/>
                </a:solidFill>
              </a:rPr>
              <a:t>Implement the DDoS / flood rule</a:t>
            </a:r>
          </a:p>
        </p:txBody>
      </p:sp>
      <p:sp>
        <p:nvSpPr>
          <p:cNvPr id="42" name="Plan 85–105"/>
          <p:cNvSpPr/>
          <p:nvPr/>
        </p:nvSpPr>
        <p:spPr>
          <a:xfrm>
            <a:off x="8549640" y="1691640"/>
            <a:ext cx="1490472" cy="1371600"/>
          </a:xfrm>
          <a:prstGeom prst="roundRect">
            <a:avLst>
              <a:gd name="adj" fmla="val 4000"/>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86800" y="1810512"/>
            <a:ext cx="1261872" cy="274320"/>
          </a:xfrm>
          <a:prstGeom prst="rect">
            <a:avLst/>
          </a:prstGeom>
          <a:noFill/>
        </p:spPr>
        <p:txBody>
          <a:bodyPr wrap="square" lIns="0" rIns="0" tIns="0" bIns="0" anchor="t">
            <a:spAutoFit/>
          </a:bodyPr>
          <a:lstStyle/>
          <a:p>
            <a:r>
              <a:rPr sz="1150" b="1" i="0">
                <a:solidFill>
                  <a:schemeClr val="accent1"/>
                </a:solidFill>
                <a:latin typeface="Courier New"/>
              </a:rPr>
              <a:t>85–105 min</a:t>
            </a:r>
          </a:p>
        </p:txBody>
      </p:sp>
      <p:sp>
        <p:nvSpPr>
          <p:cNvPr id="44" name="TextBox 43"/>
          <p:cNvSpPr txBox="1"/>
          <p:nvPr/>
        </p:nvSpPr>
        <p:spPr>
          <a:xfrm>
            <a:off x="8686800" y="2130552"/>
            <a:ext cx="1261872" cy="896112"/>
          </a:xfrm>
          <a:prstGeom prst="rect">
            <a:avLst/>
          </a:prstGeom>
          <a:noFill/>
        </p:spPr>
        <p:txBody>
          <a:bodyPr wrap="square" lIns="0" rIns="0" tIns="0" bIns="0" anchor="t">
            <a:spAutoFit/>
          </a:bodyPr>
          <a:lstStyle/>
          <a:p>
            <a:r>
              <a:rPr sz="1300" b="1" i="0">
                <a:solidFill>
                  <a:schemeClr val="bg1"/>
                </a:solidFill>
              </a:rPr>
              <a:t>Run the app and investigate the captures</a:t>
            </a:r>
          </a:p>
        </p:txBody>
      </p:sp>
      <p:sp>
        <p:nvSpPr>
          <p:cNvPr id="45" name="Plan 105–120"/>
          <p:cNvSpPr/>
          <p:nvPr/>
        </p:nvSpPr>
        <p:spPr>
          <a:xfrm>
            <a:off x="10149840" y="1691640"/>
            <a:ext cx="1490472" cy="1371600"/>
          </a:xfrm>
          <a:prstGeom prst="roundRect">
            <a:avLst>
              <a:gd name="adj" fmla="val 4000"/>
            </a:avLst>
          </a:prstGeom>
          <a:solidFill>
            <a:schemeClr val="accent3"/>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287000" y="1810512"/>
            <a:ext cx="1261872" cy="274320"/>
          </a:xfrm>
          <a:prstGeom prst="rect">
            <a:avLst/>
          </a:prstGeom>
          <a:noFill/>
        </p:spPr>
        <p:txBody>
          <a:bodyPr wrap="square" lIns="0" rIns="0" tIns="0" bIns="0" anchor="t">
            <a:spAutoFit/>
          </a:bodyPr>
          <a:lstStyle/>
          <a:p>
            <a:r>
              <a:rPr sz="1150" b="1" i="0">
                <a:solidFill>
                  <a:schemeClr val="accent2"/>
                </a:solidFill>
                <a:latin typeface="Courier New"/>
              </a:rPr>
              <a:t>105–120 min</a:t>
            </a:r>
          </a:p>
        </p:txBody>
      </p:sp>
      <p:sp>
        <p:nvSpPr>
          <p:cNvPr id="47" name="TextBox 46"/>
          <p:cNvSpPr txBox="1"/>
          <p:nvPr/>
        </p:nvSpPr>
        <p:spPr>
          <a:xfrm>
            <a:off x="10287000" y="2130552"/>
            <a:ext cx="1261872" cy="896112"/>
          </a:xfrm>
          <a:prstGeom prst="rect">
            <a:avLst/>
          </a:prstGeom>
          <a:noFill/>
        </p:spPr>
        <p:txBody>
          <a:bodyPr wrap="square" lIns="0" rIns="0" tIns="0" bIns="0" anchor="t">
            <a:spAutoFit/>
          </a:bodyPr>
          <a:lstStyle/>
          <a:p>
            <a:r>
              <a:rPr sz="1300" b="1" i="0">
                <a:solidFill>
                  <a:schemeClr val="bg1"/>
                </a:solidFill>
              </a:rPr>
              <a:t>Review, commit and discuss</a:t>
            </a:r>
          </a:p>
        </p:txBody>
      </p:sp>
      <p:sp>
        <p:nvSpPr>
          <p:cNvPr id="48" name="Commit as you go"/>
          <p:cNvSpPr/>
          <p:nvPr/>
        </p:nvSpPr>
        <p:spPr>
          <a:xfrm>
            <a:off x="548640" y="3310128"/>
            <a:ext cx="3514039" cy="2724912"/>
          </a:xfrm>
          <a:prstGeom prst="roundRect">
            <a:avLst>
              <a:gd name="adj" fmla="val 2013"/>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Commit as you go"/>
          <p:cNvPicPr>
            <a:picLocks noChangeAspect="1"/>
          </p:cNvPicPr>
          <p:nvPr/>
        </p:nvPicPr>
        <p:blipFill>
          <a:blip r:embed="rId2"/>
          <a:stretch>
            <a:fillRect/>
          </a:stretch>
        </p:blipFill>
        <p:spPr>
          <a:xfrm>
            <a:off x="804672" y="3538728"/>
            <a:ext cx="347472" cy="347472"/>
          </a:xfrm>
          <a:prstGeom prst="rect">
            <a:avLst/>
          </a:prstGeom>
        </p:spPr>
      </p:pic>
      <p:sp>
        <p:nvSpPr>
          <p:cNvPr id="50" name="TextBox 49"/>
          <p:cNvSpPr txBox="1"/>
          <p:nvPr/>
        </p:nvSpPr>
        <p:spPr>
          <a:xfrm>
            <a:off x="1280160" y="3511296"/>
            <a:ext cx="2651760" cy="402336"/>
          </a:xfrm>
          <a:prstGeom prst="rect">
            <a:avLst/>
          </a:prstGeom>
          <a:noFill/>
        </p:spPr>
        <p:txBody>
          <a:bodyPr wrap="square" lIns="0" rIns="0" tIns="0" bIns="0" anchor="ctr">
            <a:spAutoFit/>
          </a:bodyPr>
          <a:lstStyle/>
          <a:p>
            <a:r>
              <a:rPr sz="1600" b="1" i="0">
                <a:solidFill>
                  <a:schemeClr val="accent1"/>
                </a:solidFill>
              </a:rPr>
              <a:t>Commit as you go</a:t>
            </a:r>
          </a:p>
        </p:txBody>
      </p:sp>
      <p:sp>
        <p:nvSpPr>
          <p:cNvPr id="51" name="TextBox 50"/>
          <p:cNvSpPr txBox="1"/>
          <p:nvPr/>
        </p:nvSpPr>
        <p:spPr>
          <a:xfrm>
            <a:off x="804672" y="4087368"/>
            <a:ext cx="3063240" cy="1856232"/>
          </a:xfrm>
          <a:prstGeom prst="rect">
            <a:avLst/>
          </a:prstGeom>
          <a:noFill/>
        </p:spPr>
        <p:txBody>
          <a:bodyPr wrap="square" lIns="0" rIns="0" tIns="0" bIns="0" anchor="t">
            <a:spAutoFit/>
          </a:bodyPr>
          <a:lstStyle/>
          <a:p>
            <a:pPr>
              <a:spcAft>
                <a:spcPts val="200"/>
              </a:spcAft>
            </a:pPr>
            <a:r>
              <a:rPr sz="1200" b="1" i="0">
                <a:solidFill>
                  <a:schemeClr val="accent2"/>
                </a:solidFill>
                <a:latin typeface="Courier New"/>
              </a:rPr>
              <a:t>git pull --no-edit</a:t>
            </a:r>
          </a:p>
          <a:p>
            <a:pPr>
              <a:spcAft>
                <a:spcPts val="200"/>
              </a:spcAft>
            </a:pPr>
            <a:r>
              <a:rPr sz="1200" b="1" i="0">
                <a:solidFill>
                  <a:schemeClr val="accent2"/>
                </a:solidFill>
                <a:latin typeface="Courier New"/>
              </a:rPr>
              <a:t>git add &lt;your file&gt;</a:t>
            </a:r>
          </a:p>
          <a:p>
            <a:pPr>
              <a:spcAft>
                <a:spcPts val="200"/>
              </a:spcAft>
            </a:pPr>
            <a:r>
              <a:rPr sz="1200" b="1" i="0">
                <a:solidFill>
                  <a:schemeClr val="accent2"/>
                </a:solidFill>
                <a:latin typeface="Courier New"/>
              </a:rPr>
              <a:t>git commit -m "…"</a:t>
            </a:r>
          </a:p>
          <a:p>
            <a:pPr>
              <a:spcAft>
                <a:spcPts val="1000"/>
              </a:spcAft>
            </a:pPr>
            <a:r>
              <a:rPr sz="1200" b="1" i="0">
                <a:solidFill>
                  <a:schemeClr val="accent2"/>
                </a:solidFill>
                <a:latin typeface="Courier New"/>
              </a:rPr>
              <a:t>git push</a:t>
            </a:r>
          </a:p>
          <a:p>
            <a:pPr>
              <a:spcAft>
                <a:spcPts val="300"/>
              </a:spcAft>
            </a:pPr>
            <a:r>
              <a:rPr sz="1300" b="0" i="0">
                <a:solidFill>
                  <a:schemeClr val="bg2"/>
                </a:solidFill>
              </a:rPr>
              <a:t>Good messages say what changed:</a:t>
            </a:r>
          </a:p>
          <a:p>
            <a:pPr>
              <a:spcAft>
                <a:spcPts val="200"/>
              </a:spcAft>
            </a:pPr>
            <a:r>
              <a:rPr sz="1300" b="0" i="1">
                <a:solidFill>
                  <a:schemeClr val="bg1"/>
                </a:solidFill>
              </a:rPr>
              <a:t>“Add reusable traffic statistics”</a:t>
            </a:r>
          </a:p>
          <a:p>
            <a:r>
              <a:rPr sz="1300" b="0" i="1">
                <a:solidFill>
                  <a:schemeClr val="bg1"/>
                </a:solidFill>
              </a:rPr>
              <a:t>“Add SYN flood heuristic and tests”</a:t>
            </a:r>
          </a:p>
        </p:txBody>
      </p:sp>
      <p:sp>
        <p:nvSpPr>
          <p:cNvPr id="52" name="Finished when"/>
          <p:cNvSpPr/>
          <p:nvPr/>
        </p:nvSpPr>
        <p:spPr>
          <a:xfrm>
            <a:off x="4336999" y="3310128"/>
            <a:ext cx="3514039" cy="2724912"/>
          </a:xfrm>
          <a:prstGeom prst="roundRect">
            <a:avLst>
              <a:gd name="adj" fmla="val 2013"/>
            </a:avLst>
          </a:prstGeom>
          <a:solidFill>
            <a:schemeClr val="accent3"/>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nished when"/>
          <p:cNvPicPr>
            <a:picLocks noChangeAspect="1"/>
          </p:cNvPicPr>
          <p:nvPr/>
        </p:nvPicPr>
        <p:blipFill>
          <a:blip r:embed="rId3"/>
          <a:stretch>
            <a:fillRect/>
          </a:stretch>
        </p:blipFill>
        <p:spPr>
          <a:xfrm>
            <a:off x="4593031" y="3538728"/>
            <a:ext cx="347472" cy="347472"/>
          </a:xfrm>
          <a:prstGeom prst="rect">
            <a:avLst/>
          </a:prstGeom>
        </p:spPr>
      </p:pic>
      <p:sp>
        <p:nvSpPr>
          <p:cNvPr id="54" name="TextBox 53"/>
          <p:cNvSpPr txBox="1"/>
          <p:nvPr/>
        </p:nvSpPr>
        <p:spPr>
          <a:xfrm>
            <a:off x="5068519" y="3511296"/>
            <a:ext cx="2651760" cy="402336"/>
          </a:xfrm>
          <a:prstGeom prst="rect">
            <a:avLst/>
          </a:prstGeom>
          <a:noFill/>
        </p:spPr>
        <p:txBody>
          <a:bodyPr wrap="square" lIns="0" rIns="0" tIns="0" bIns="0" anchor="ctr">
            <a:spAutoFit/>
          </a:bodyPr>
          <a:lstStyle/>
          <a:p>
            <a:r>
              <a:rPr sz="1600" b="1" i="0">
                <a:solidFill>
                  <a:schemeClr val="accent2"/>
                </a:solidFill>
              </a:rPr>
              <a:t>Finished when</a:t>
            </a:r>
          </a:p>
        </p:txBody>
      </p:sp>
      <p:sp>
        <p:nvSpPr>
          <p:cNvPr id="55" name="TextBox 54"/>
          <p:cNvSpPr txBox="1"/>
          <p:nvPr/>
        </p:nvSpPr>
        <p:spPr>
          <a:xfrm>
            <a:off x="4593031" y="4087368"/>
            <a:ext cx="3063240" cy="1856232"/>
          </a:xfrm>
          <a:prstGeom prst="rect">
            <a:avLst/>
          </a:prstGeom>
          <a:noFill/>
        </p:spPr>
        <p:txBody>
          <a:bodyPr wrap="square" lIns="0" rIns="0" tIns="0" bIns="0" anchor="t">
            <a:spAutoFit/>
          </a:bodyPr>
          <a:lstStyle/>
          <a:p>
            <a:pPr marL="182880" indent="-182880">
              <a:spcAft>
                <a:spcPts val="500"/>
              </a:spcAft>
            </a:pPr>
            <a:r>
              <a:rPr sz="1350" b="1" i="0">
                <a:solidFill>
                  <a:schemeClr val="accent2"/>
                </a:solidFill>
              </a:rPr>
              <a:t>›	</a:t>
            </a:r>
            <a:r>
              <a:rPr sz="1350" b="0" i="0">
                <a:solidFill>
                  <a:schemeClr val="bg1"/>
                </a:solidFill>
              </a:rPr>
              <a:t>The app starts with the supplied steps</a:t>
            </a:r>
          </a:p>
          <a:p>
            <a:pPr marL="182880" indent="-182880">
              <a:spcAft>
                <a:spcPts val="500"/>
              </a:spcAft>
            </a:pPr>
            <a:r>
              <a:rPr sz="1350" b="1" i="0">
                <a:solidFill>
                  <a:schemeClr val="accent2"/>
                </a:solidFill>
              </a:rPr>
              <a:t>›	</a:t>
            </a:r>
            <a:r>
              <a:rPr sz="1350" b="0" i="0">
                <a:solidFill>
                  <a:schemeClr val="bg1"/>
                </a:solidFill>
              </a:rPr>
              <a:t>All four student modules work</a:t>
            </a:r>
          </a:p>
          <a:p>
            <a:pPr marL="182880" indent="-182880">
              <a:spcAft>
                <a:spcPts val="500"/>
              </a:spcAft>
            </a:pPr>
            <a:r>
              <a:rPr sz="1350" b="1" i="0">
                <a:solidFill>
                  <a:schemeClr val="accent2"/>
                </a:solidFill>
              </a:rPr>
              <a:t>›	</a:t>
            </a:r>
            <a:r>
              <a:rPr sz="1350" b="0" i="0">
                <a:solidFill>
                  <a:schemeClr val="bg1"/>
                </a:solidFill>
              </a:rPr>
              <a:t>You can explain one finding's evidence</a:t>
            </a:r>
          </a:p>
          <a:p>
            <a:pPr marL="182880" indent="-182880">
              <a:spcAft>
                <a:spcPts val="500"/>
              </a:spcAft>
            </a:pPr>
            <a:r>
              <a:rPr sz="1350" b="1" i="0">
                <a:solidFill>
                  <a:schemeClr val="accent2"/>
                </a:solidFill>
              </a:rPr>
              <a:t>›	</a:t>
            </a:r>
            <a:r>
              <a:rPr sz="1350" b="0" i="0">
                <a:solidFill>
                  <a:schemeClr val="bg1"/>
                </a:solidFill>
              </a:rPr>
              <a:t>You tested a second capture, not just the sample</a:t>
            </a:r>
          </a:p>
          <a:p>
            <a:pPr marL="182880" indent="-182880">
              <a:spcAft>
                <a:spcPts val="500"/>
              </a:spcAft>
            </a:pPr>
            <a:r>
              <a:rPr sz="1350" b="1" i="0">
                <a:solidFill>
                  <a:schemeClr val="accent2"/>
                </a:solidFill>
              </a:rPr>
              <a:t>›	</a:t>
            </a:r>
            <a:r>
              <a:rPr sz="1350" b="0" i="0">
                <a:solidFill>
                  <a:schemeClr val="bg1"/>
                </a:solidFill>
              </a:rPr>
              <a:t>No secrets or sensitive captures in the repo</a:t>
            </a:r>
          </a:p>
        </p:txBody>
      </p:sp>
      <p:sp>
        <p:nvSpPr>
          <p:cNvPr id="56" name="Stay safe"/>
          <p:cNvSpPr/>
          <p:nvPr/>
        </p:nvSpPr>
        <p:spPr>
          <a:xfrm>
            <a:off x="8125358" y="3310128"/>
            <a:ext cx="3514039" cy="2724912"/>
          </a:xfrm>
          <a:prstGeom prst="roundRect">
            <a:avLst>
              <a:gd name="adj" fmla="val 2013"/>
            </a:avLst>
          </a:prstGeom>
          <a:solidFill>
            <a:schemeClr val="tx2"/>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Stay safe"/>
          <p:cNvPicPr>
            <a:picLocks noChangeAspect="1"/>
          </p:cNvPicPr>
          <p:nvPr/>
        </p:nvPicPr>
        <p:blipFill>
          <a:blip r:embed="rId4"/>
          <a:stretch>
            <a:fillRect/>
          </a:stretch>
        </p:blipFill>
        <p:spPr>
          <a:xfrm>
            <a:off x="8381390" y="3538728"/>
            <a:ext cx="347472" cy="347472"/>
          </a:xfrm>
          <a:prstGeom prst="rect">
            <a:avLst/>
          </a:prstGeom>
        </p:spPr>
      </p:pic>
      <p:sp>
        <p:nvSpPr>
          <p:cNvPr id="58" name="TextBox 57"/>
          <p:cNvSpPr txBox="1"/>
          <p:nvPr/>
        </p:nvSpPr>
        <p:spPr>
          <a:xfrm>
            <a:off x="8856878" y="3511296"/>
            <a:ext cx="2651760" cy="402336"/>
          </a:xfrm>
          <a:prstGeom prst="rect">
            <a:avLst/>
          </a:prstGeom>
          <a:noFill/>
        </p:spPr>
        <p:txBody>
          <a:bodyPr wrap="square" lIns="0" rIns="0" tIns="0" bIns="0" anchor="ctr">
            <a:spAutoFit/>
          </a:bodyPr>
          <a:lstStyle/>
          <a:p>
            <a:r>
              <a:rPr sz="1600" b="1" i="0">
                <a:solidFill>
                  <a:schemeClr val="accent2"/>
                </a:solidFill>
              </a:rPr>
              <a:t>Stay safe</a:t>
            </a:r>
          </a:p>
        </p:txBody>
      </p:sp>
      <p:sp>
        <p:nvSpPr>
          <p:cNvPr id="59" name="TextBox 58"/>
          <p:cNvSpPr txBox="1"/>
          <p:nvPr/>
        </p:nvSpPr>
        <p:spPr>
          <a:xfrm>
            <a:off x="8381390" y="4087368"/>
            <a:ext cx="3063240" cy="1856232"/>
          </a:xfrm>
          <a:prstGeom prst="rect">
            <a:avLst/>
          </a:prstGeom>
          <a:noFill/>
        </p:spPr>
        <p:txBody>
          <a:bodyPr wrap="square" lIns="0" rIns="0" tIns="0" bIns="0" anchor="t">
            <a:spAutoFit/>
          </a:bodyPr>
          <a:lstStyle/>
          <a:p>
            <a:pPr marL="182880" indent="-182880">
              <a:spcAft>
                <a:spcPts val="500"/>
              </a:spcAft>
            </a:pPr>
            <a:r>
              <a:rPr sz="1350" b="1" i="0">
                <a:solidFill>
                  <a:schemeClr val="accent2"/>
                </a:solidFill>
              </a:rPr>
              <a:t>›	</a:t>
            </a:r>
            <a:r>
              <a:rPr sz="1350" b="0" i="0">
                <a:solidFill>
                  <a:schemeClr val="bg1"/>
                </a:solidFill>
              </a:rPr>
              <a:t>Only analyse PCAPs you're authorised to use</a:t>
            </a:r>
          </a:p>
          <a:p>
            <a:pPr marL="182880" indent="-182880">
              <a:spcAft>
                <a:spcPts val="500"/>
              </a:spcAft>
            </a:pPr>
            <a:r>
              <a:rPr sz="1350" b="1" i="0">
                <a:solidFill>
                  <a:schemeClr val="accent2"/>
                </a:solidFill>
              </a:rPr>
              <a:t>›	</a:t>
            </a:r>
            <a:r>
              <a:rPr sz="1350" b="0" i="0">
                <a:solidFill>
                  <a:schemeClr val="bg1"/>
                </a:solidFill>
              </a:rPr>
              <a:t>Captures can hold credentials and personal data</a:t>
            </a:r>
          </a:p>
          <a:p>
            <a:pPr marL="182880" indent="-182880">
              <a:spcAft>
                <a:spcPts val="500"/>
              </a:spcAft>
            </a:pPr>
            <a:r>
              <a:rPr sz="1350" b="1" i="0">
                <a:solidFill>
                  <a:schemeClr val="accent2"/>
                </a:solidFill>
              </a:rPr>
              <a:t>›	</a:t>
            </a:r>
            <a:r>
              <a:rPr sz="1350" b="0" i="0">
                <a:solidFill>
                  <a:schemeClr val="bg1"/>
                </a:solidFill>
              </a:rPr>
              <a:t>Defensive analysis only: no attacking live systems</a:t>
            </a:r>
          </a:p>
          <a:p>
            <a:pPr marL="182880" indent="-182880">
              <a:spcAft>
                <a:spcPts val="500"/>
              </a:spcAft>
            </a:pPr>
            <a:r>
              <a:rPr sz="1350" b="1" i="0">
                <a:solidFill>
                  <a:schemeClr val="accent2"/>
                </a:solidFill>
              </a:rPr>
              <a:t>›	</a:t>
            </a:r>
            <a:r>
              <a:rPr sz="1350" b="0" i="0">
                <a:solidFill>
                  <a:schemeClr val="bg1"/>
                </a:solidFill>
              </a:rPr>
              <a:t>An alert is a lead, not proof</a:t>
            </a:r>
          </a:p>
        </p:txBody>
      </p:sp>
    </p:spTree>
  </p:cSld>
  <p:clrMapOvr>
    <a:masterClrMapping/>
  </p:clrMapOvr>
</p:sld>
</file>

<file path=ppt/theme/theme1.xml><?xml version="1.0" encoding="utf-8"?>
<a:theme xmlns:a="http://schemas.openxmlformats.org/drawingml/2006/main" name="BCUCompSoc Cyber">
  <a:themeElements>
    <a:clrScheme name="BCUCompSoc Cyber">
      <a:dk1>
        <a:srgbClr val="0A1222"/>
      </a:dk1>
      <a:lt1>
        <a:srgbClr val="FFFFFF"/>
      </a:lt1>
      <a:dk2>
        <a:srgbClr val="131F36"/>
      </a:dk2>
      <a:lt2>
        <a:srgbClr val="9AA8BF"/>
      </a:lt2>
      <a:accent1>
        <a:srgbClr val="22D3EE"/>
      </a:accent1>
      <a:accent2>
        <a:srgbClr val="2EE59D"/>
      </a:accent2>
      <a:accent3>
        <a:srgbClr val="1C2B48"/>
      </a:accent3>
      <a:accent4>
        <a:srgbClr val="FBBF24"/>
      </a:accent4>
      <a:accent5>
        <a:srgbClr val="4F7CFF"/>
      </a:accent5>
      <a:accent6>
        <a:srgbClr val="F87171"/>
      </a:accent6>
      <a:hlink>
        <a:srgbClr val="22D3EE"/>
      </a:hlink>
      <a:folHlink>
        <a:srgbClr val="2EE59D"/>
      </a:folHlink>
    </a:clrScheme>
    <a:fontScheme name="BCUCompSoc Cyb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BCU Computing Society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BCUCompSoc Cybersecurity Workshop 03: PCAP File Analysis</dc:title>
  <dc:subject>PptxGenJS Presentation</dc:subject>
  <dc:creator>Daeron W</dc:creator>
  <cp:lastModifiedBy>Daeron W</cp:lastModifiedBy>
  <cp:revision>1</cp:revision>
  <dcterms:created xsi:type="dcterms:W3CDTF">2026-10-23T13:49:05Z</dcterms:created>
  <dcterms:modified xsi:type="dcterms:W3CDTF">2026-10-23T13:49:05Z</dcterms:modified>
</cp:coreProperties>
</file>